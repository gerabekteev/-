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19"/>
  </p:notesMasterIdLst>
  <p:sldIdLst>
    <p:sldId id="257" r:id="rId2"/>
    <p:sldId id="682" r:id="rId3"/>
    <p:sldId id="864" r:id="rId4"/>
    <p:sldId id="850" r:id="rId5"/>
    <p:sldId id="851" r:id="rId6"/>
    <p:sldId id="852" r:id="rId7"/>
    <p:sldId id="853" r:id="rId8"/>
    <p:sldId id="854" r:id="rId9"/>
    <p:sldId id="855" r:id="rId10"/>
    <p:sldId id="856" r:id="rId11"/>
    <p:sldId id="857" r:id="rId12"/>
    <p:sldId id="858" r:id="rId13"/>
    <p:sldId id="859" r:id="rId14"/>
    <p:sldId id="860" r:id="rId15"/>
    <p:sldId id="861" r:id="rId16"/>
    <p:sldId id="862" r:id="rId17"/>
    <p:sldId id="863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96DA1C"/>
    <a:srgbClr val="5F9127"/>
    <a:srgbClr val="EF47DB"/>
    <a:srgbClr val="C44CB6"/>
    <a:srgbClr val="53D2FF"/>
    <a:srgbClr val="BDD7EE"/>
    <a:srgbClr val="B8E08C"/>
    <a:srgbClr val="0000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97E4-BF7D-49F3-BBA7-DD312E613FE2}" type="datetimeFigureOut">
              <a:rPr lang="ru-RU" smtClean="0"/>
              <a:pPr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81657-C423-44DD-B57D-12B88463DA5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7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81657-C423-44DD-B57D-12B88463DA5E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18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0" y="6134100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 userDrawn="1"/>
        </p:nvCxnSpPr>
        <p:spPr>
          <a:xfrm>
            <a:off x="5276680" y="464346"/>
            <a:ext cx="3881607" cy="2006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0803E8-8A28-42A3-8D0D-C2FFF6F367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22" b="52457"/>
          <a:stretch/>
        </p:blipFill>
        <p:spPr>
          <a:xfrm>
            <a:off x="-23586" y="6192972"/>
            <a:ext cx="9144000" cy="10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8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7E4138-E4D0-4D6D-B392-3A7C56D79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22" b="52067"/>
          <a:stretch/>
        </p:blipFill>
        <p:spPr>
          <a:xfrm>
            <a:off x="-24437" y="5901513"/>
            <a:ext cx="9144000" cy="1070783"/>
          </a:xfrm>
          <a:prstGeom prst="rect">
            <a:avLst/>
          </a:prstGeom>
        </p:spPr>
      </p:pic>
      <p:sp>
        <p:nvSpPr>
          <p:cNvPr id="18" name="Прямоугольник 17"/>
          <p:cNvSpPr/>
          <p:nvPr userDrawn="1"/>
        </p:nvSpPr>
        <p:spPr>
          <a:xfrm>
            <a:off x="0" y="484410"/>
            <a:ext cx="9130337" cy="57258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DB4EEC9-CA36-48D5-B614-3B43D70FAC5C}"/>
              </a:ext>
            </a:extLst>
          </p:cNvPr>
          <p:cNvCxnSpPr/>
          <p:nvPr userDrawn="1"/>
        </p:nvCxnSpPr>
        <p:spPr>
          <a:xfrm>
            <a:off x="0" y="6134100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C8F3B29-C2F5-421B-8EE4-39674BE5948E}"/>
              </a:ext>
            </a:extLst>
          </p:cNvPr>
          <p:cNvCxnSpPr/>
          <p:nvPr userDrawn="1"/>
        </p:nvCxnSpPr>
        <p:spPr>
          <a:xfrm>
            <a:off x="3024812" y="553349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12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05524" y="1022572"/>
            <a:ext cx="3032775" cy="58354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>
            <a:off x="5276680" y="464346"/>
            <a:ext cx="3881607" cy="2006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5A66FCC-0CBB-4AA5-9EE6-BCB27702E4B4}"/>
              </a:ext>
            </a:extLst>
          </p:cNvPr>
          <p:cNvCxnSpPr>
            <a:cxnSpLocks/>
          </p:cNvCxnSpPr>
          <p:nvPr userDrawn="1"/>
        </p:nvCxnSpPr>
        <p:spPr>
          <a:xfrm>
            <a:off x="3045430" y="6815913"/>
            <a:ext cx="612018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40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153890-F3C0-4007-83C9-A28CBED194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6" t="27122" r="22805" b="54289"/>
          <a:stretch/>
        </p:blipFill>
        <p:spPr>
          <a:xfrm>
            <a:off x="1" y="5901517"/>
            <a:ext cx="4291240" cy="95648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53348"/>
            <a:ext cx="4291240" cy="5656952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r"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5276680" y="464346"/>
            <a:ext cx="3881607" cy="2006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072F6FF-B862-4F7E-A42E-7B959858356B}"/>
              </a:ext>
            </a:extLst>
          </p:cNvPr>
          <p:cNvCxnSpPr/>
          <p:nvPr userDrawn="1"/>
        </p:nvCxnSpPr>
        <p:spPr>
          <a:xfrm>
            <a:off x="0" y="6134100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44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91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0" y="0"/>
            <a:ext cx="913033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40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93700"/>
            <a:ext cx="7886700" cy="129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6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4361541" y="1606760"/>
            <a:ext cx="4630053" cy="1375914"/>
          </a:xfrm>
        </p:spPr>
        <p:txBody>
          <a:bodyPr>
            <a:noAutofit/>
          </a:bodyPr>
          <a:lstStyle/>
          <a:p>
            <a:pPr algn="l"/>
            <a:r>
              <a:rPr lang="ru-RU" sz="3200" kern="0" spc="150" dirty="0">
                <a:latin typeface="Franklin Gothic Heavy" panose="020B0903020102020204" pitchFamily="34" charset="0"/>
              </a:rPr>
              <a:t>КОРПОРАТИВНЫЕ ИНФОРМАЦИОННЫЕ СИСТЕМЫ</a:t>
            </a:r>
            <a:br>
              <a:rPr lang="ru-RU" sz="3200" kern="0" spc="150" dirty="0">
                <a:latin typeface="Franklin Gothic Heavy" panose="020B0903020102020204" pitchFamily="34" charset="0"/>
              </a:rPr>
            </a:br>
            <a:endParaRPr lang="ru-RU" sz="3200" kern="0" spc="150" dirty="0">
              <a:latin typeface="Franklin Gothic Heavy" panose="020B0903020102020204" pitchFamily="34" charset="0"/>
            </a:endParaRPr>
          </a:p>
        </p:txBody>
      </p:sp>
      <p:sp>
        <p:nvSpPr>
          <p:cNvPr id="8" name="Заголовок 4"/>
          <p:cNvSpPr txBox="1">
            <a:spLocks/>
          </p:cNvSpPr>
          <p:nvPr/>
        </p:nvSpPr>
        <p:spPr>
          <a:xfrm>
            <a:off x="108854" y="2820469"/>
            <a:ext cx="3964215" cy="13759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b="0" kern="0" spc="150" dirty="0">
                <a:solidFill>
                  <a:schemeClr val="bg1"/>
                </a:solidFill>
              </a:rPr>
              <a:t>Кафедра Управления и информатики в технических системах ФГБОУ ВО МГТУ СТАНКИН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03198" y="2387607"/>
            <a:ext cx="38626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4"/>
          <p:cNvSpPr txBox="1">
            <a:spLocks/>
          </p:cNvSpPr>
          <p:nvPr/>
        </p:nvSpPr>
        <p:spPr>
          <a:xfrm>
            <a:off x="4933037" y="5994400"/>
            <a:ext cx="3964215" cy="667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2000" b="0" kern="0" spc="150" dirty="0"/>
              <a:t>семинары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7176509-AF3E-4B5B-9030-3B98592E46C6}"/>
              </a:ext>
            </a:extLst>
          </p:cNvPr>
          <p:cNvSpPr/>
          <p:nvPr/>
        </p:nvSpPr>
        <p:spPr>
          <a:xfrm>
            <a:off x="108854" y="1577097"/>
            <a:ext cx="24577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kern="0" spc="150" dirty="0">
                <a:solidFill>
                  <a:schemeClr val="bg1"/>
                </a:solidFill>
                <a:latin typeface="Franklin Gothic Book" panose="020B0503020102020204" pitchFamily="34" charset="0"/>
              </a:rPr>
              <a:t>Елисеева </a:t>
            </a:r>
            <a:r>
              <a:rPr lang="ru-RU" sz="1400" b="0" kern="0" spc="150" dirty="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</a:p>
          <a:p>
            <a:r>
              <a:rPr lang="ru-RU" sz="1400" b="0" kern="0" spc="150" dirty="0">
                <a:solidFill>
                  <a:schemeClr val="bg1"/>
                </a:solidFill>
                <a:latin typeface="Franklin Gothic Book" panose="020B0503020102020204" pitchFamily="34" charset="0"/>
              </a:rPr>
              <a:t>Наталья Владимировна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BC6A40-9D88-44E0-8A2D-D8F2D63AADB4}"/>
              </a:ext>
            </a:extLst>
          </p:cNvPr>
          <p:cNvSpPr txBox="1"/>
          <p:nvPr/>
        </p:nvSpPr>
        <p:spPr>
          <a:xfrm>
            <a:off x="210456" y="1991263"/>
            <a:ext cx="40640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ru-RU" sz="1200" b="0" kern="0" spc="150" dirty="0">
                <a:solidFill>
                  <a:schemeClr val="bg1"/>
                </a:solidFill>
              </a:rPr>
              <a:t>к.т.н., доцент</a:t>
            </a:r>
          </a:p>
        </p:txBody>
      </p:sp>
    </p:spTree>
    <p:extLst>
      <p:ext uri="{BB962C8B-B14F-4D97-AF65-F5344CB8AC3E}">
        <p14:creationId xmlns:p14="http://schemas.microsoft.com/office/powerpoint/2010/main" val="390313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ЗАДАНИЕ</a:t>
            </a:r>
          </a:p>
        </p:txBody>
      </p:sp>
    </p:spTree>
    <p:extLst>
      <p:ext uri="{BB962C8B-B14F-4D97-AF65-F5344CB8AC3E}">
        <p14:creationId xmlns:p14="http://schemas.microsoft.com/office/powerpoint/2010/main" val="420301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Мебельная компания «Артика»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занимается производством мебели по 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индивидуальным проектам.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606100"/>
            <a:ext cx="268322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90% заказов компания получала претензии от  клиентов.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Количество повторных заказов составляло 2 заказа в год.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Доля повторных заказов в обороте – до 10%.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85% ошибок происходило на стадии монтажа.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Оказалось, что наибольшее количество проблем возникают на стыке  работ между отделом продаж и производственным отделом.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515215" y="1188887"/>
            <a:ext cx="5089172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процедура заключения договора инициируется руководителем отдела продаж;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руководитель отдела продаж назначает менеджера отдела продаж, на которого возлагаются обязанности по подготовке проекта договора;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в компании договоры от имени организации вправе согласовывать, утверждать и подписывать генеральный директор, лицо, исполняющее его обязанности, или иные лица, уполномоченные доверенностью генерального директора;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после подписания договора менеджер отдела продаж передает договор в службу управления делами;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служба управления делами регистрирует договор в журнале регистрации заключенных договоров и в системе электронного документооборота; </a:t>
            </a:r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48993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Мебельная компания «Артика»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занимается производством мебели по 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индивидуальным проектам.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606100"/>
            <a:ext cx="268322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90% заказов компания получала претензии от  клиентов.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Количество повторных заказов составляло 2 заказа в год.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Доля повторных заказов в обороте – до 10%.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85% ошибок происходило на стадии монтажа.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Оказалось, что наибольшее количество проблем возникают на стыке  работ между отделом продаж и производственным отделом.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544712" y="1321444"/>
            <a:ext cx="508917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</a:t>
            </a:r>
          </a:p>
          <a:p>
            <a:pPr algn="just"/>
            <a:r>
              <a:rPr lang="ru-RU" sz="16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служба управления делами направляет контрагенту подписанный экземпляр договора;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менеджер отдела продаж осуществляет контроль за направлением контрагенту и возвратом подписанного договора;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менеджер отдела продаж одну копию подписанного договора оставляет себе, другую отправляет главному бухгалтеру.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обязанности по осуществлению контроля за исполнением договора возлагаются на менеджера отдела продаж, который организовывал подписание договора; </a:t>
            </a:r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9984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Мебельная компания «Артика»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занимается производством мебели по 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индивидуальным проектам.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606100"/>
            <a:ext cx="268322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90% заказов компания получала претензии от  клиентов.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Количество повторных заказов составляло 2 заказа в год.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Доля повторных заказов в обороте – до 10%.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85% ошибок происходило на стадии монтажа.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Оказалось, что наибольшее количество проблем возникают на стыке  работ между отделом продаж и производственным отделом.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544712" y="1321444"/>
            <a:ext cx="50891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dirty="0"/>
              <a:t>• руководители подразделений, ответственных за исполнение договора, обязаны своевременно готовить акты сдачи-приемки работ и иные документы, свидетельствующие об исполнении организацией своих обязанностей по договору. В компании документы от имени организации вправе согласовывать, утверждать и подписывать генеральный директор, лицо, исполняющее его обязанности, или иные лица, уполномоченные доверенностью генерального директора. 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dirty="0"/>
              <a:t>• руководители подразделений, ответственных за исполнение договора, обязаны своевременно предоставлять главному бухгалтеру акты сдачи-приемки работ, счета-фактуры и иные документы, свидетельствующие об исполнении организацией своих обязанностей по договору. </a:t>
            </a:r>
          </a:p>
          <a:p>
            <a:pPr algn="just"/>
            <a:endParaRPr lang="ru-RU" sz="1600" dirty="0"/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2441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Мебельная компания «Артика»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занимается производством мебели по </a:t>
            </a:r>
          </a:p>
          <a:p>
            <a:pPr algn="ctr"/>
            <a:r>
              <a:rPr lang="ru-RU" sz="1400" b="1" dirty="0">
                <a:solidFill>
                  <a:schemeClr val="bg1"/>
                </a:solidFill>
              </a:rPr>
              <a:t>индивидуальным проектам.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606100"/>
            <a:ext cx="268322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90% заказов компания получала претензии от  клиентов.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Количество повторных заказов составляло 2 заказа в год.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Доля повторных заказов в обороте – до 10%.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85% ошибок происходило на стадии монтажа.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Оказалось, что наибольшее количество проблем возникают на стыке  работ между отделом продаж и производственным отделом.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544712" y="1321444"/>
            <a:ext cx="508917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бухгалтерия обязана своевременно готовить бухгалтерские документы для получения финансовых средств по обязательствам по договору и передавать документы менеджеру отдела продаж для направления Заказчику.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обязанности по обеспечению учета и сохранности заключенных договоров возлагаются на службу управления делами.</a:t>
            </a:r>
          </a:p>
          <a:p>
            <a:pPr algn="just"/>
            <a:endParaRPr lang="ru-RU" sz="1600" dirty="0"/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8339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</a:t>
            </a:r>
            <a:r>
              <a:rPr lang="ru-RU" b="1" dirty="0" err="1">
                <a:solidFill>
                  <a:schemeClr val="bg1"/>
                </a:solidFill>
              </a:rPr>
              <a:t>Проммаш</a:t>
            </a:r>
            <a:r>
              <a:rPr lang="ru-RU" b="1" dirty="0">
                <a:solidFill>
                  <a:schemeClr val="bg1"/>
                </a:solidFill>
              </a:rPr>
              <a:t>» </a:t>
            </a:r>
            <a:r>
              <a:rPr lang="ru-RU" sz="1600" b="1" dirty="0">
                <a:solidFill>
                  <a:schemeClr val="bg1"/>
                </a:solidFill>
              </a:rPr>
              <a:t>занимается продажей и сервисным обслуживанием промышленных аккумуляторов.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968048"/>
            <a:ext cx="268322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компании наблюдаются ошибки и проблемы при оформлении командировок сотрудников.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544712" y="1321444"/>
            <a:ext cx="50891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Подготовка к командировке начинается с постановки задачи и формирования служебного задания на сервисное обслуживание промышленных аккумуляторов по заявкам клиентов. При этом определяется тип обслуживания: гарантийное/плановое/по заявке. </a:t>
            </a: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Для передачи информации о планируемой командировке сотрудник должен заранее создать задачу. Название задачи должно соответствовать шаблону «Командировка-даты-кто-куда».</a:t>
            </a:r>
          </a:p>
          <a:p>
            <a:pPr marL="265113" algn="just"/>
            <a:r>
              <a:rPr lang="ru-RU" sz="1600" dirty="0"/>
              <a:t>В самой задаче нужно указать информацию по всем необходимым</a:t>
            </a:r>
            <a:r>
              <a:rPr lang="en-US" sz="1600" dirty="0"/>
              <a:t> </a:t>
            </a:r>
            <a:r>
              <a:rPr lang="ru-RU" sz="1600" dirty="0"/>
              <a:t>пунктам: кто едет, даты командировки, пункт назначения, транспорт (авиа,</a:t>
            </a:r>
            <a:r>
              <a:rPr lang="en-US" sz="1600" dirty="0"/>
              <a:t> </a:t>
            </a:r>
            <a:r>
              <a:rPr lang="ru-RU" sz="1600" dirty="0"/>
              <a:t>ж/д, личный транспорт), нужно ли бронировать отель, дата заезда, дата выезда, командировочные расходы и т.п.</a:t>
            </a:r>
          </a:p>
          <a:p>
            <a:pPr algn="just"/>
            <a:endParaRPr lang="ru-RU" sz="1600" dirty="0"/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4731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</a:t>
            </a:r>
            <a:r>
              <a:rPr lang="ru-RU" b="1" dirty="0" err="1">
                <a:solidFill>
                  <a:schemeClr val="bg1"/>
                </a:solidFill>
              </a:rPr>
              <a:t>Проммаш</a:t>
            </a:r>
            <a:r>
              <a:rPr lang="ru-RU" b="1" dirty="0">
                <a:solidFill>
                  <a:schemeClr val="bg1"/>
                </a:solidFill>
              </a:rPr>
              <a:t>» </a:t>
            </a:r>
            <a:r>
              <a:rPr lang="ru-RU" sz="1600" b="1" dirty="0">
                <a:solidFill>
                  <a:schemeClr val="bg1"/>
                </a:solidFill>
              </a:rPr>
              <a:t>занимается продажей и сервисным обслуживанием промышленных аккумуляторов.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968048"/>
            <a:ext cx="268322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компании наблюдаются ошибки и проблемы при оформлении командировок сотрудников.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355599" y="1321444"/>
            <a:ext cx="527828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Офис-менеджер знакомится с указанной информацией в задаче по</a:t>
            </a:r>
            <a:r>
              <a:rPr lang="en-US" sz="1600" dirty="0"/>
              <a:t> </a:t>
            </a:r>
            <a:r>
              <a:rPr lang="ru-RU" sz="1600" dirty="0"/>
              <a:t>планируемой командировке. Пишет менеджеру комментарий. Пример: «по</a:t>
            </a:r>
            <a:r>
              <a:rPr lang="en-US" sz="1600" dirty="0"/>
              <a:t> </a:t>
            </a:r>
            <a:r>
              <a:rPr lang="ru-RU" sz="1600" dirty="0"/>
              <a:t>поездке информации достаточно». Если есть недочеты, то комментарий будет </a:t>
            </a:r>
            <a:r>
              <a:rPr lang="en-US" sz="1600" dirty="0"/>
              <a:t> </a:t>
            </a:r>
            <a:r>
              <a:rPr lang="ru-RU" sz="1600" dirty="0"/>
              <a:t>таким: «Данных недостаточно по таким пунктам...». Только после</a:t>
            </a:r>
            <a:r>
              <a:rPr lang="en-US" sz="1600" dirty="0"/>
              <a:t> </a:t>
            </a:r>
            <a:r>
              <a:rPr lang="ru-RU" sz="1600" dirty="0"/>
              <a:t>предоставления полной информации по командировке офис-менеджер пишет комментарий руководителю отдела: «Прошу согласовать командировку». </a:t>
            </a:r>
            <a:r>
              <a:rPr lang="en-US" sz="1600" dirty="0"/>
              <a:t> </a:t>
            </a:r>
            <a:r>
              <a:rPr lang="ru-RU" sz="1600" dirty="0"/>
              <a:t>Руководитель отдела пишет «Согласовано» либо «Не согласовано».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Сотрудник пишет заявление на перечисление авансовых средств, чтобы он мог купить билеты и забронировать гостиницу. Сумма рассчитывается исходя из примерной стоимости аренды жилья и транспортных расходов. Кроме того, в авансовый платеж включаются суточные. Заявление передается в бухгалтерию. </a:t>
            </a:r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80228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</a:t>
            </a:r>
            <a:r>
              <a:rPr lang="ru-RU" b="1" dirty="0" err="1">
                <a:solidFill>
                  <a:schemeClr val="bg1"/>
                </a:solidFill>
              </a:rPr>
              <a:t>Проммаш</a:t>
            </a:r>
            <a:r>
              <a:rPr lang="ru-RU" b="1" dirty="0">
                <a:solidFill>
                  <a:schemeClr val="bg1"/>
                </a:solidFill>
              </a:rPr>
              <a:t>» </a:t>
            </a:r>
            <a:r>
              <a:rPr lang="ru-RU" sz="1600" b="1" dirty="0">
                <a:solidFill>
                  <a:schemeClr val="bg1"/>
                </a:solidFill>
              </a:rPr>
              <a:t>занимается продажей и сервисным обслуживанием промышленных аккумуляторов.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968048"/>
            <a:ext cx="268322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компании наблюдаются ошибки и проблемы при оформлении командировок сотрудников.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321444"/>
            <a:ext cx="538234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Отдел кадров оформляет приказ на командировку сотрудника, а также формирует приказ на замещение его должности на время отсутствия. Приказ визирует руководитель подразделения, в котором работает сотрудник, и направляется на подпись директору. В компании приказы вправе подписывать генеральный директор, лицо, исполняющее его обязанности, или иные лица, уполномоченные доверенностью генерального директора.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После подписания приказа офис-менеджер осуществляет бронирование билетов и отеля, трансфера. Бронирование осуществляется в рамках установленных лимитов и согласуется с бухгалтерией. Также допускается самостоятельное бронирование сотрудником. Перед поездкой менеджер должен обсудить с офис-менеджером вопрос о необходимости подключения роуминга и мобильного интернета.</a:t>
            </a:r>
          </a:p>
        </p:txBody>
      </p:sp>
    </p:spTree>
    <p:extLst>
      <p:ext uri="{BB962C8B-B14F-4D97-AF65-F5344CB8AC3E}">
        <p14:creationId xmlns:p14="http://schemas.microsoft.com/office/powerpoint/2010/main" val="269159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</a:t>
            </a:r>
            <a:r>
              <a:rPr lang="ru-RU" b="1" dirty="0" err="1">
                <a:solidFill>
                  <a:schemeClr val="bg1"/>
                </a:solidFill>
              </a:rPr>
              <a:t>Проммаш</a:t>
            </a:r>
            <a:r>
              <a:rPr lang="ru-RU" b="1" dirty="0">
                <a:solidFill>
                  <a:schemeClr val="bg1"/>
                </a:solidFill>
              </a:rPr>
              <a:t>» </a:t>
            </a:r>
            <a:r>
              <a:rPr lang="ru-RU" sz="1600" b="1" dirty="0">
                <a:solidFill>
                  <a:schemeClr val="bg1"/>
                </a:solidFill>
              </a:rPr>
              <a:t>занимается продажей и сервисным обслуживанием промышленных аккумуляторов.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2968048"/>
            <a:ext cx="268322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В компании наблюдаются ошибки и проблемы при оформлении командировок сотрудников.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188887"/>
            <a:ext cx="561831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Бухгалтерия выплачивает сотруднику суточные. Суточные должны быть выплачены за 3 дня до командировки. Эти деньги предназначены для оплаты дополнительных расходов, связанных с командировкой. В командировке сотрудник выполняет служебное задание, согласованное с руководителем подразделения или с директором. Если для выполнения служебного задания, сотруднику необходимо пройти дополнительное обучение или получить допуск, отделом кадров организуются соответствующие мероприятия. В рамках задачи по командировке офис-менеджер создает подзадачи на оплату счетов. Таким образом, в рамках одной задачи можно увидеть всю информацию о поездке. </a:t>
            </a: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После возвращения из командировки сотрудники должны передать офис-менеджеру отрывные талоны от билетов (на поезд/авиа-). Чеки и прочие документы, подтверждающие прочие денежные расходы, передаются финансовому директору. Если документы утеряны, офис-менеджер запрашивает копии документов у компаний-поставщиков услуг (гостиница, авиакомпания и пр.).</a:t>
            </a:r>
          </a:p>
        </p:txBody>
      </p:sp>
    </p:spTree>
    <p:extLst>
      <p:ext uri="{BB962C8B-B14F-4D97-AF65-F5344CB8AC3E}">
        <p14:creationId xmlns:p14="http://schemas.microsoft.com/office/powerpoint/2010/main" val="303031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Компания «</a:t>
            </a:r>
            <a:r>
              <a:rPr lang="ru-RU" b="1" dirty="0" err="1">
                <a:solidFill>
                  <a:schemeClr val="bg1"/>
                </a:solidFill>
              </a:rPr>
              <a:t>АвтоСтройТех</a:t>
            </a:r>
            <a:r>
              <a:rPr lang="ru-RU" b="1" dirty="0">
                <a:solidFill>
                  <a:schemeClr val="bg1"/>
                </a:solidFill>
              </a:rPr>
              <a:t>»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планируется расширение цеха, для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которого нужны квалифицированные сотрудники.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3303181"/>
            <a:ext cx="268322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Задача компании – найти сотрудников, способных максимально эффективно решать текущие задачи компании в рамках ее технологического стека.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Действующий бизнес-процесс по работе с персоналом состоит из небольшого количества этапов, но при этом занимает довольно большое количество времени.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056155"/>
            <a:ext cx="5618317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Отделу кадров поступает информация о том, что у компании появилась потребность в поиске кандидатов на вакантную должность. Отдел кадров работает как по заявкам, так и самостоятельно осуществляет внутренний мониторинг потребности в кадрах на предприятии для формирования базы потенциальных кандидатов.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После выявления этой потребности и получения распоряжений от генерального директора специалисты отдела кадров размещают объявления о наборе сотрудников на своем официальном сайте и сторонних ресурсах, предлагающих помощь в поиске работы. При этом сотрудники отдела кадров прикрепляют к объявлению анкету на должность соискателя.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Затем на официальную почту организации начинают поступать анкеты, заполненные потенциальными кандидатами на вакантную должность. Сотрудникам отдела кадров необходимо рассмотреть эти анкеты и осуществить первичную выборку по различными критериями</a:t>
            </a:r>
          </a:p>
        </p:txBody>
      </p:sp>
    </p:spTree>
    <p:extLst>
      <p:ext uri="{BB962C8B-B14F-4D97-AF65-F5344CB8AC3E}">
        <p14:creationId xmlns:p14="http://schemas.microsoft.com/office/powerpoint/2010/main" val="177961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Компания «</a:t>
            </a:r>
            <a:r>
              <a:rPr lang="ru-RU" b="1" dirty="0" err="1">
                <a:solidFill>
                  <a:schemeClr val="bg1"/>
                </a:solidFill>
              </a:rPr>
              <a:t>АвтоСтройТех</a:t>
            </a:r>
            <a:r>
              <a:rPr lang="ru-RU" b="1" dirty="0">
                <a:solidFill>
                  <a:schemeClr val="bg1"/>
                </a:solidFill>
              </a:rPr>
              <a:t>»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планируется расширение цеха, для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которого нужны квалифицированные сотрудники.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3303181"/>
            <a:ext cx="268322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Задача компании – найти сотрудников, способных максимально эффективно решать текущие задачи компании в рамках ее технологического стека.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Действующий бизнес-процесс по работе с персоналом состоит из небольшого количества этапов, но при этом занимает довольно большое количество времени.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056155"/>
            <a:ext cx="561831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После отбора анкет, подошедших по всем критериям, работники отдела кадров должны проинформировать всех прошедших первоначальный отбор кандидатов о том, что они приглашены на собеседование. Часть кандидатов может отказаться по причине того, что за время, которое было потрачено на рассмотрение и отбор анкет, они могли найти работу или потерять интерес к выбранной вакансии.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Собеседование состоит из трех этапов. Первый этап представляет собой онлайн-собеседование на базе платформы видеоконференцсвязи. Во время этого собеседования сотрудник кадрового отдела должен решить, соответствуют ли профессиональные и </a:t>
            </a:r>
            <a:r>
              <a:rPr lang="ru-RU" sz="1600" dirty="0" err="1"/>
              <a:t>надпрофессиональные</a:t>
            </a:r>
            <a:r>
              <a:rPr lang="ru-RU" sz="1600" dirty="0"/>
              <a:t> компетенции кандидата должности, на которую он претендует. Тем самым специалист отдела кадров проводит вторичный отбор и вновь отсеивает часть кандидатов. </a:t>
            </a:r>
          </a:p>
        </p:txBody>
      </p:sp>
    </p:spTree>
    <p:extLst>
      <p:ext uri="{BB962C8B-B14F-4D97-AF65-F5344CB8AC3E}">
        <p14:creationId xmlns:p14="http://schemas.microsoft.com/office/powerpoint/2010/main" val="37351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Компания «</a:t>
            </a:r>
            <a:r>
              <a:rPr lang="ru-RU" b="1" dirty="0" err="1">
                <a:solidFill>
                  <a:schemeClr val="bg1"/>
                </a:solidFill>
              </a:rPr>
              <a:t>АвтоСтройТех</a:t>
            </a:r>
            <a:r>
              <a:rPr lang="ru-RU" b="1" dirty="0">
                <a:solidFill>
                  <a:schemeClr val="bg1"/>
                </a:solidFill>
              </a:rPr>
              <a:t>»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планируется расширение цеха, для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которого нужны квалифицированные сотрудники.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3303181"/>
            <a:ext cx="268322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Задача компании – найти сотрудников, способных максимально эффективно решать текущие задачи компании в рамках ее технологического стека.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Действующий бизнес-процесс по работе с персоналом состоит из небольшого количества этапов, но при этом занимает довольно большое количество времени.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056155"/>
            <a:ext cx="561831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Вторым этапом является личное собеседование, на которое будут приглашены кандидаты, прошедшие вторичный отбор. На собеседовании помимо работников отдела кадров, присутствует руководитель подразделения, который принимает окончательное решение о трудоустройстве. Допускается проверка знаний и навыков сотрудников на рабочем месте в цеху на тестовом задании. Третьим этапом является собеседование с управляющим директором компании для принятия окончательного решения.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Следует отметить, что часть менеджеров по подбору персонала работает в удаленном режиме, поэтому контроль их деятельности осуществляется начальником отдела кадров и директором.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После выбора нужного количества сотрудников кандидаты, прошедшие все этапы отбора, подписывают все необходимые документы и оформляется трудовой договор. В результате в компании появились новые сотрудники, которые готовы приступить к выполнению своих обязанностей. </a:t>
            </a:r>
          </a:p>
        </p:txBody>
      </p:sp>
    </p:spTree>
    <p:extLst>
      <p:ext uri="{BB962C8B-B14F-4D97-AF65-F5344CB8AC3E}">
        <p14:creationId xmlns:p14="http://schemas.microsoft.com/office/powerpoint/2010/main" val="64470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Компания «</a:t>
            </a:r>
            <a:r>
              <a:rPr lang="ru-RU" b="1" dirty="0" err="1">
                <a:solidFill>
                  <a:schemeClr val="bg1"/>
                </a:solidFill>
              </a:rPr>
              <a:t>АвтоСтройТех</a:t>
            </a:r>
            <a:r>
              <a:rPr lang="ru-RU" b="1" dirty="0">
                <a:solidFill>
                  <a:schemeClr val="bg1"/>
                </a:solidFill>
              </a:rPr>
              <a:t>»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планируется расширение цеха, для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которого нужны квалифицированные сотрудники.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231" y="3303181"/>
            <a:ext cx="268322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Задача компании – найти сотрудников, способных максимально эффективно решать текущие задачи компании в рамках ее технологического стека.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Действующий бизнес-процесс по работе с персоналом состоит из небольшого количества этапов, но при этом занимает довольно большое количество времени.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174139"/>
            <a:ext cx="561831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Правовое регулирование трудовых отношений, защита прав и интересов работников и работодателей обеспечивается Трудовым кодексом Российской Федерации.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Если в стандартный трудовой договор необходимо внести дополнительные условия и положения, договор направляется на согласование в правовой отдел.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Трудовой договор подписывает генеральный директор, хранение договора осуществляется в отделе кадров. На основании договора формируется приказ о приеме на работу, данный приказ направляется в бухгалтерию для расчета и начисления заработной платы.</a:t>
            </a:r>
          </a:p>
        </p:txBody>
      </p:sp>
    </p:spTree>
    <p:extLst>
      <p:ext uri="{BB962C8B-B14F-4D97-AF65-F5344CB8AC3E}">
        <p14:creationId xmlns:p14="http://schemas.microsoft.com/office/powerpoint/2010/main" val="273670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№4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«СИЛА»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занимается автоматизацией процессов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производства.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071" y="2667655"/>
            <a:ext cx="2787446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Процесс занимает довольно длительное время – от нескольких дней до 2-3 недель – и оказывает значительное влияние на доход компании. Некоторые клиенты устают ждать данного «подготовительного»  этапа и находят другую компанию для выполнения заказа.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 Другие же остаются недовольны конечной стоимостью проекта или планом его реализации и отказываются от услуг компании.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251541" y="1174139"/>
            <a:ext cx="561831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Перед тем как приступить к выполнению проекта, компания собирает все документы по проекту, включая технико-коммерческое предложение (ТКП) и отчет. Документы по проекту формируются на основе анализа текущей деятельности Заказчика, выявления проблем и понимания объема работ по автоматизации процессов производства. Данный пакет документов содержит в себе стоимость проекта, этапы его выполнения и его техническую составляющую.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Лишь после отправки этих документов заказчику принимается решение о том, будет ли реализовываться проект компанией (клиент может отказаться).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Если принимается положительное решение и заказчик готов воспользоваться услугами организации, сформированный отчет загружается в информационную базу компании и подшивается в соответствующее дело</a:t>
            </a:r>
          </a:p>
        </p:txBody>
      </p:sp>
    </p:spTree>
    <p:extLst>
      <p:ext uri="{BB962C8B-B14F-4D97-AF65-F5344CB8AC3E}">
        <p14:creationId xmlns:p14="http://schemas.microsoft.com/office/powerpoint/2010/main" val="341173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№4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«СИЛА»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занимается автоматизацией процессов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производства.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071" y="2667655"/>
            <a:ext cx="2787446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Процесс занимает довольно длительное время – от нескольких дней до 2-3 недель – и оказывает значительное влияние на доход компании. Некоторые клиенты устают ждать данного «подготовительного»  этапа и находят другую компанию для выполнения заказа.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bg1"/>
                </a:solidFill>
              </a:rPr>
              <a:t> Другие же остаются недовольны конечной стоимостью проекта или планом его реализации и отказываются от услуг компании.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147483" y="1174139"/>
            <a:ext cx="572237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Отделами организации, которые занимаются формированием отчетности по проекту, выступают финансовый отдел, представленный бухгалтером, и отдел заказов. Для составления отчетов используются такие программные продукты, как «1C: Предприятие» и MS </a:t>
            </a:r>
            <a:r>
              <a:rPr lang="ru-RU" sz="1600" dirty="0" err="1"/>
              <a:t>Excel</a:t>
            </a:r>
            <a:r>
              <a:rPr lang="ru-RU" sz="16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Для формирования отчетности разрабатывается план проекта и технико-коммерческое предложение, сам отчет и данные передаются бухгалтеру.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Данные и отчет в среде 1C нужны самой компании для мониторинга проекта и внесения его в базу данных организации.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Заказчику же  отправляются 2 документа: сформированное ТКП в формате .</a:t>
            </a:r>
            <a:r>
              <a:rPr lang="ru-RU" sz="1600" dirty="0" err="1"/>
              <a:t>docx</a:t>
            </a:r>
            <a:r>
              <a:rPr lang="ru-RU" sz="1600" dirty="0"/>
              <a:t> и отчёт по проекту в формате .</a:t>
            </a:r>
            <a:r>
              <a:rPr lang="ru-RU" sz="1600" dirty="0" err="1"/>
              <a:t>xlsx</a:t>
            </a:r>
            <a:r>
              <a:rPr lang="ru-RU" sz="1600" dirty="0"/>
              <a:t>. Внесение данных в 1C и формирование в нем же отчёта происходит посредством копирования данных из </a:t>
            </a:r>
            <a:r>
              <a:rPr lang="ru-RU" sz="1600" dirty="0" err="1"/>
              <a:t>Excel</a:t>
            </a:r>
            <a:r>
              <a:rPr lang="ru-RU" sz="1600" dirty="0"/>
              <a:t> в 1C.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Внесение всех данных, формирование отчетов в </a:t>
            </a:r>
            <a:r>
              <a:rPr lang="ru-RU" sz="1600" dirty="0" err="1"/>
              <a:t>Excel</a:t>
            </a:r>
            <a:r>
              <a:rPr lang="ru-RU" sz="1600" dirty="0"/>
              <a:t> и создание ТКП происходит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344101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ВАРИАНТ №5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E9C7D-EFAB-4DF2-8CCE-22AEC14830DF}"/>
              </a:ext>
            </a:extLst>
          </p:cNvPr>
          <p:cNvSpPr/>
          <p:nvPr/>
        </p:nvSpPr>
        <p:spPr>
          <a:xfrm>
            <a:off x="6313289" y="1188887"/>
            <a:ext cx="247511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ООО «Серпантин» </a:t>
            </a:r>
            <a:r>
              <a:rPr lang="ru-RU" sz="1600" b="1" dirty="0">
                <a:solidFill>
                  <a:schemeClr val="bg1"/>
                </a:solidFill>
              </a:rPr>
              <a:t>занимается необычным бизнесом -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производит и устанавливает искусственные новогодние елки.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1DCB89-DA15-49F5-BDD4-BE3FE8A18634}"/>
              </a:ext>
            </a:extLst>
          </p:cNvPr>
          <p:cNvSpPr/>
          <p:nvPr/>
        </p:nvSpPr>
        <p:spPr>
          <a:xfrm>
            <a:off x="6209071" y="3035546"/>
            <a:ext cx="2787446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Приезжает представитель заказчика и сообщает о том, что конструкция установлена не в том месте, а работу нужно переделать.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В предновогодней суете приходится возвращать бригаду, осуществлять демонтаж и повторную установку елки, откладывая выполнение других заказов.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Компания теряет заказы, срываясь на непредвиденные выезды.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Также большой проблемой является контроль качества поставляемых елок и комплектация заказа необходимыми аксессуарами, которые заказываются у сторонних поставщиков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45C9F1-9FAA-4905-B54D-5BAE05E2732D}"/>
              </a:ext>
            </a:extLst>
          </p:cNvPr>
          <p:cNvSpPr/>
          <p:nvPr/>
        </p:nvSpPr>
        <p:spPr>
          <a:xfrm>
            <a:off x="355599" y="1174139"/>
            <a:ext cx="551425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Технология работы в компании: </a:t>
            </a:r>
          </a:p>
          <a:p>
            <a:pPr algn="just"/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Елки обычно размещаются на площадях городов, во дворах жилых комплексов, используются на корпоративных праздниках.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В офис компании поступает звонок из ТСЖ, и происходит оформление заказа на покупку и установку елки во дворе жилого комплекса.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Заключается договор, происходит оплата. Клиент объясняет по телефону, куда ее надо  установить, называет адрес. Компания направляет сотрудников в точку, указанную в заказе, и монтирует конструкцию высотой до 50 метров в высоту, также осуществляется ее украшение, крепеж гирлянды.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Работы осуществляются в часы, когда пробки на дорогах минимальны.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ru-RU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600" dirty="0"/>
              <a:t>На следующий день осуществляется прием работы сотрудниками ТСЖ. </a:t>
            </a:r>
          </a:p>
        </p:txBody>
      </p:sp>
    </p:spTree>
    <p:extLst>
      <p:ext uri="{BB962C8B-B14F-4D97-AF65-F5344CB8AC3E}">
        <p14:creationId xmlns:p14="http://schemas.microsoft.com/office/powerpoint/2010/main" val="256521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11435</TotalTime>
  <Words>2423</Words>
  <Application>Microsoft Office PowerPoint</Application>
  <PresentationFormat>Экран (4:3)</PresentationFormat>
  <Paragraphs>199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Franklin Gothic Book</vt:lpstr>
      <vt:lpstr>Franklin Gothic Heavy</vt:lpstr>
      <vt:lpstr>Wingdings</vt:lpstr>
      <vt:lpstr>Office Theme</vt:lpstr>
      <vt:lpstr>КОРПОРАТИВНЫЕ ИНФОРМАЦИОННЫЕ СИСТЕМЫ </vt:lpstr>
      <vt:lpstr>ЗАДАНИЕ</vt:lpstr>
      <vt:lpstr>ВАРИАНТ №1</vt:lpstr>
      <vt:lpstr>ВАРИАНТ №1</vt:lpstr>
      <vt:lpstr>ВАРИАНТ №1</vt:lpstr>
      <vt:lpstr>ВАРИАНТ №1</vt:lpstr>
      <vt:lpstr>ВАРИАНТ №2</vt:lpstr>
      <vt:lpstr>ВАРИАНТ №2</vt:lpstr>
      <vt:lpstr>ВАРИАНТ №2</vt:lpstr>
      <vt:lpstr>ВАРИАНТ №2</vt:lpstr>
      <vt:lpstr>ВАРИАНТ №3</vt:lpstr>
      <vt:lpstr>ВАРИАНТ №3</vt:lpstr>
      <vt:lpstr>ВАРИАНТ №3</vt:lpstr>
      <vt:lpstr>ВАРИАНТ №3</vt:lpstr>
      <vt:lpstr>ВАРИАНТ №4</vt:lpstr>
      <vt:lpstr>ВАРИАНТ №4</vt:lpstr>
      <vt:lpstr>ВАРИАНТ №5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GXgroup</dc:creator>
  <cp:lastModifiedBy>User</cp:lastModifiedBy>
  <cp:revision>683</cp:revision>
  <dcterms:created xsi:type="dcterms:W3CDTF">2018-09-11T06:35:09Z</dcterms:created>
  <dcterms:modified xsi:type="dcterms:W3CDTF">2026-09-14T05:40:47Z</dcterms:modified>
</cp:coreProperties>
</file>
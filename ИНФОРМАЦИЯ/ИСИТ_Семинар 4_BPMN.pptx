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notesMasterIdLst>
    <p:notesMasterId r:id="rId39"/>
  </p:notesMasterIdLst>
  <p:sldIdLst>
    <p:sldId id="257" r:id="rId2"/>
    <p:sldId id="802" r:id="rId3"/>
    <p:sldId id="803" r:id="rId4"/>
    <p:sldId id="804" r:id="rId5"/>
    <p:sldId id="800" r:id="rId6"/>
    <p:sldId id="761" r:id="rId7"/>
    <p:sldId id="766" r:id="rId8"/>
    <p:sldId id="812" r:id="rId9"/>
    <p:sldId id="841" r:id="rId10"/>
    <p:sldId id="838" r:id="rId11"/>
    <p:sldId id="837" r:id="rId12"/>
    <p:sldId id="777" r:id="rId13"/>
    <p:sldId id="778" r:id="rId14"/>
    <p:sldId id="815" r:id="rId15"/>
    <p:sldId id="835" r:id="rId16"/>
    <p:sldId id="769" r:id="rId17"/>
    <p:sldId id="810" r:id="rId18"/>
    <p:sldId id="811" r:id="rId19"/>
    <p:sldId id="809" r:id="rId20"/>
    <p:sldId id="834" r:id="rId21"/>
    <p:sldId id="821" r:id="rId22"/>
    <p:sldId id="822" r:id="rId23"/>
    <p:sldId id="823" r:id="rId24"/>
    <p:sldId id="865" r:id="rId25"/>
    <p:sldId id="868" r:id="rId26"/>
    <p:sldId id="866" r:id="rId27"/>
    <p:sldId id="867" r:id="rId28"/>
    <p:sldId id="845" r:id="rId29"/>
    <p:sldId id="849" r:id="rId30"/>
    <p:sldId id="770" r:id="rId31"/>
    <p:sldId id="826" r:id="rId32"/>
    <p:sldId id="827" r:id="rId33"/>
    <p:sldId id="839" r:id="rId34"/>
    <p:sldId id="825" r:id="rId35"/>
    <p:sldId id="828" r:id="rId36"/>
    <p:sldId id="840" r:id="rId37"/>
    <p:sldId id="846" r:id="rId3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96DA1C"/>
    <a:srgbClr val="5F9127"/>
    <a:srgbClr val="EF47DB"/>
    <a:srgbClr val="C44CB6"/>
    <a:srgbClr val="53D2FF"/>
    <a:srgbClr val="BDD7EE"/>
    <a:srgbClr val="B8E08C"/>
    <a:srgbClr val="000000"/>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Средний стиль 1 — акцент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Средний стиль 3 — акцент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Стиль из темы 1 - акцент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Светлый стиль 1 — акцент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Светлый стиль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1897" autoAdjust="0"/>
  </p:normalViewPr>
  <p:slideViewPr>
    <p:cSldViewPr snapToGrid="0">
      <p:cViewPr varScale="1">
        <p:scale>
          <a:sx n="69" d="100"/>
          <a:sy n="69" d="100"/>
        </p:scale>
        <p:origin x="1296" y="48"/>
      </p:cViewPr>
      <p:guideLst>
        <p:guide orient="horz" pos="2160"/>
        <p:guide pos="2880"/>
      </p:guideLst>
    </p:cSldViewPr>
  </p:slideViewPr>
  <p:notesTextViewPr>
    <p:cViewPr>
      <p:scale>
        <a:sx n="1" d="1"/>
        <a:sy n="1" d="1"/>
      </p:scale>
      <p:origin x="0" y="0"/>
    </p:cViewPr>
  </p:notesTextViewPr>
  <p:notesViewPr>
    <p:cSldViewPr snapToGrid="0">
      <p:cViewPr varScale="1">
        <p:scale>
          <a:sx n="53" d="100"/>
          <a:sy n="53" d="100"/>
        </p:scale>
        <p:origin x="2844"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EF97E4-BF7D-49F3-BBA7-DD312E613FE2}" type="datetimeFigureOut">
              <a:rPr lang="ru-RU" smtClean="0"/>
              <a:pPr/>
              <a:t>18.09.2026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5A81657-C423-44DD-B57D-12B88463DA5E}" type="slidenum">
              <a:rPr lang="ru-RU" smtClean="0"/>
              <a:pPr/>
              <a:t>‹#›</a:t>
            </a:fld>
            <a:endParaRPr lang="ru-RU"/>
          </a:p>
        </p:txBody>
      </p:sp>
    </p:spTree>
    <p:extLst>
      <p:ext uri="{BB962C8B-B14F-4D97-AF65-F5344CB8AC3E}">
        <p14:creationId xmlns:p14="http://schemas.microsoft.com/office/powerpoint/2010/main" val="401774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a:p>
        </p:txBody>
      </p:sp>
      <p:sp>
        <p:nvSpPr>
          <p:cNvPr id="4" name="Номер слайда 3"/>
          <p:cNvSpPr>
            <a:spLocks noGrp="1"/>
          </p:cNvSpPr>
          <p:nvPr>
            <p:ph type="sldNum" sz="quarter" idx="10"/>
          </p:nvPr>
        </p:nvSpPr>
        <p:spPr/>
        <p:txBody>
          <a:bodyPr/>
          <a:lstStyle/>
          <a:p>
            <a:fld id="{15A81657-C423-44DD-B57D-12B88463DA5E}" type="slidenum">
              <a:rPr lang="ru-RU" smtClean="0"/>
              <a:pPr/>
              <a:t>1</a:t>
            </a:fld>
            <a:endParaRPr lang="ru-RU"/>
          </a:p>
        </p:txBody>
      </p:sp>
    </p:spTree>
    <p:extLst>
      <p:ext uri="{BB962C8B-B14F-4D97-AF65-F5344CB8AC3E}">
        <p14:creationId xmlns:p14="http://schemas.microsoft.com/office/powerpoint/2010/main" val="3302188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10000"/>
          </a:bodyPr>
          <a:lstStyle/>
          <a:p>
            <a:r>
              <a:rPr lang="ru-RU" sz="1200" b="0" i="0" kern="1200" dirty="0">
                <a:solidFill>
                  <a:schemeClr val="tx1"/>
                </a:solidFill>
                <a:effectLst/>
                <a:latin typeface="+mn-lt"/>
                <a:ea typeface="+mn-ea"/>
                <a:cs typeface="+mn-cs"/>
              </a:rPr>
              <a:t>Рассмотрим </a:t>
            </a:r>
            <a:r>
              <a:rPr lang="ru-RU" sz="1200" b="1" i="0" kern="1200" dirty="0">
                <a:solidFill>
                  <a:schemeClr val="tx1"/>
                </a:solidFill>
                <a:effectLst/>
                <a:latin typeface="+mn-lt"/>
                <a:ea typeface="+mn-ea"/>
                <a:cs typeface="+mn-cs"/>
              </a:rPr>
              <a:t>бизнес-процесс BPMN</a:t>
            </a:r>
            <a:r>
              <a:rPr lang="ru-RU" sz="1200" b="0" i="0" kern="1200" dirty="0">
                <a:solidFill>
                  <a:schemeClr val="tx1"/>
                </a:solidFill>
                <a:effectLst/>
                <a:latin typeface="+mn-lt"/>
                <a:ea typeface="+mn-ea"/>
                <a:cs typeface="+mn-cs"/>
              </a:rPr>
              <a:t> Менеджера по работе с клиентами. Процесс инициируется стартовым событием, которое срабатывает при поступлении сообщения от Клиента. Далее Менеджер выполняет задачу «Получить описание проблемы». При этом он «отправляет» в сторону Клиента уточняющие вопросы, а в ответ получает более детальное описание проблемы. Затем Менеджер принимает решение, может ли он самостоятельно справиться с проблемой клиента? Если да, то он объясняет решение Клиенту и процесс завершается.</a:t>
            </a:r>
          </a:p>
          <a:p>
            <a:r>
              <a:rPr lang="ru-RU" sz="1200" b="0" i="0" kern="1200" dirty="0">
                <a:solidFill>
                  <a:schemeClr val="tx1"/>
                </a:solidFill>
                <a:effectLst/>
                <a:latin typeface="+mn-lt"/>
                <a:ea typeface="+mn-ea"/>
                <a:cs typeface="+mn-cs"/>
              </a:rPr>
              <a:t>Если нет, то Менеджер отправляет запрос на первую линию техподдержки и его процесс приостанавливается, пока не будет получен ответ. Это показано на диаграмме в виде промежуточного события-обработчика «Ответ получен» с типом «Сообщение». В момент получения ответа от первой линии техподдержки указанное событие срабатывает, Менеджер передает полученное решение Клиенту и процесс Менеджера завершается.</a:t>
            </a:r>
          </a:p>
          <a:p>
            <a:r>
              <a:rPr lang="ru-RU" sz="1200" b="0" i="0" kern="1200" dirty="0">
                <a:solidFill>
                  <a:schemeClr val="tx1"/>
                </a:solidFill>
                <a:effectLst/>
                <a:latin typeface="+mn-lt"/>
                <a:ea typeface="+mn-ea"/>
                <a:cs typeface="+mn-cs"/>
              </a:rPr>
              <a:t>Перейдем к рассмотрению процесса Агента 1 линии техподдержки. Его процесс начинается в том случае, если поступил запрос от Менеджера по работе с клиентами. Тогда Агент 1 линии пытается решить поступивший вопрос и принимает решение, потребуется ли ему помощь Агента 2 линии техподдержки? Если нет, то решение проблемы сообщается Менеджеру и процесс завершается. Если да, то Агент 1 линии отправляет запрос на вторую линию техподдержки и процесс приостанавливается до получения ответа. После получения ответа решение сообщается Менеджеру и процесс Агента 1 линии завершается.</a:t>
            </a:r>
          </a:p>
          <a:p>
            <a:r>
              <a:rPr lang="ru-RU" sz="1200" b="0" i="0" kern="1200" dirty="0">
                <a:solidFill>
                  <a:schemeClr val="tx1"/>
                </a:solidFill>
                <a:effectLst/>
                <a:latin typeface="+mn-lt"/>
                <a:ea typeface="+mn-ea"/>
                <a:cs typeface="+mn-cs"/>
              </a:rPr>
              <a:t>Процесс Агента 2 линии техподдержки похож на процесс Агента 1 линии техподдержки. Если Агенту 2 линии требуется помощь Разработчика ПО, то он обращается к нему. Если проблема по-прежнему не решена, то она включается в план разработки на будущее, Агент 2 линии сообщает об этом Агенту 1 линии техподдержки. Агент 1 линии передает эту информацию Менеджеру, а тот в свою очередь – Клиенту.</a:t>
            </a:r>
          </a:p>
          <a:p>
            <a:endParaRPr lang="ru-RU" dirty="0"/>
          </a:p>
        </p:txBody>
      </p:sp>
      <p:sp>
        <p:nvSpPr>
          <p:cNvPr id="4" name="Номер слайда 3"/>
          <p:cNvSpPr>
            <a:spLocks noGrp="1"/>
          </p:cNvSpPr>
          <p:nvPr>
            <p:ph type="sldNum" sz="quarter" idx="5"/>
          </p:nvPr>
        </p:nvSpPr>
        <p:spPr/>
        <p:txBody>
          <a:bodyPr/>
          <a:lstStyle/>
          <a:p>
            <a:fld id="{15A81657-C423-44DD-B57D-12B88463DA5E}" type="slidenum">
              <a:rPr lang="ru-RU" smtClean="0"/>
              <a:pPr/>
              <a:t>5</a:t>
            </a:fld>
            <a:endParaRPr lang="ru-RU"/>
          </a:p>
        </p:txBody>
      </p:sp>
    </p:spTree>
    <p:extLst>
      <p:ext uri="{BB962C8B-B14F-4D97-AF65-F5344CB8AC3E}">
        <p14:creationId xmlns:p14="http://schemas.microsoft.com/office/powerpoint/2010/main" val="2149643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85000" lnSpcReduction="10000"/>
          </a:bodyPr>
          <a:lstStyle/>
          <a:p>
            <a:r>
              <a:rPr lang="ru-RU" sz="1200" b="1" i="0" u="none" strike="noStrike" kern="1200" baseline="0" dirty="0">
                <a:solidFill>
                  <a:schemeClr val="tx1"/>
                </a:solidFill>
                <a:latin typeface="+mn-lt"/>
                <a:ea typeface="+mn-ea"/>
                <a:cs typeface="+mn-cs"/>
              </a:rPr>
              <a:t>Задачи </a:t>
            </a:r>
            <a:r>
              <a:rPr lang="ru-RU" sz="1200" b="0" i="0" u="none" strike="noStrike" kern="1200" baseline="0" dirty="0">
                <a:solidFill>
                  <a:schemeClr val="tx1"/>
                </a:solidFill>
                <a:latin typeface="+mn-lt"/>
                <a:ea typeface="+mn-ea"/>
                <a:cs typeface="+mn-cs"/>
              </a:rPr>
              <a:t>бывают нескольких видов:</a:t>
            </a:r>
          </a:p>
          <a:p>
            <a:r>
              <a:rPr lang="ru-RU" sz="1200" b="0" i="0" u="none" strike="noStrike" kern="1200" baseline="0" dirty="0">
                <a:solidFill>
                  <a:schemeClr val="tx1"/>
                </a:solidFill>
                <a:latin typeface="+mn-lt"/>
                <a:ea typeface="+mn-ea"/>
                <a:cs typeface="+mn-cs"/>
              </a:rPr>
              <a:t> </a:t>
            </a:r>
            <a:r>
              <a:rPr lang="ru-RU" sz="1200" b="1" i="0" u="none" strike="noStrike" kern="1200" baseline="0" dirty="0">
                <a:solidFill>
                  <a:schemeClr val="tx1"/>
                </a:solidFill>
                <a:latin typeface="+mn-lt"/>
                <a:ea typeface="+mn-ea"/>
                <a:cs typeface="+mn-cs"/>
              </a:rPr>
              <a:t>Пользовательская задача </a:t>
            </a:r>
            <a:r>
              <a:rPr lang="ru-RU" sz="1200" b="0" i="0" u="none" strike="noStrike" kern="1200" baseline="0" dirty="0">
                <a:solidFill>
                  <a:schemeClr val="tx1"/>
                </a:solidFill>
                <a:latin typeface="+mn-lt"/>
                <a:ea typeface="+mn-ea"/>
                <a:cs typeface="+mn-cs"/>
              </a:rPr>
              <a:t>- самая распространённая Задача, где человек участвует в качестве</a:t>
            </a:r>
          </a:p>
          <a:p>
            <a:r>
              <a:rPr lang="ru-RU" sz="1200" b="0" i="0" u="none" strike="noStrike" kern="1200" baseline="0" dirty="0">
                <a:solidFill>
                  <a:schemeClr val="tx1"/>
                </a:solidFill>
                <a:latin typeface="+mn-lt"/>
                <a:ea typeface="+mn-ea"/>
                <a:cs typeface="+mn-cs"/>
              </a:rPr>
              <a:t>исполнителя</a:t>
            </a:r>
          </a:p>
          <a:p>
            <a:r>
              <a:rPr lang="ru-RU" sz="1200" b="0" i="0" u="none" strike="noStrike" kern="1200" baseline="0" dirty="0">
                <a:solidFill>
                  <a:schemeClr val="tx1"/>
                </a:solidFill>
                <a:latin typeface="+mn-lt"/>
                <a:ea typeface="+mn-ea"/>
                <a:cs typeface="+mn-cs"/>
              </a:rPr>
              <a:t> </a:t>
            </a:r>
            <a:r>
              <a:rPr lang="ru-RU" sz="1200" b="1" i="0" u="none" strike="noStrike" kern="1200" baseline="0" dirty="0">
                <a:solidFill>
                  <a:schemeClr val="tx1"/>
                </a:solidFill>
                <a:latin typeface="+mn-lt"/>
                <a:ea typeface="+mn-ea"/>
                <a:cs typeface="+mn-cs"/>
              </a:rPr>
              <a:t>Ручное выполнение </a:t>
            </a:r>
            <a:r>
              <a:rPr lang="ru-RU" sz="1200" b="0" i="0" u="none" strike="noStrike" kern="1200" baseline="0" dirty="0">
                <a:solidFill>
                  <a:schemeClr val="tx1"/>
                </a:solidFill>
                <a:latin typeface="+mn-lt"/>
                <a:ea typeface="+mn-ea"/>
                <a:cs typeface="+mn-cs"/>
              </a:rPr>
              <a:t>- представляет собой Задачу, выполнение которой подразумевает</a:t>
            </a:r>
          </a:p>
          <a:p>
            <a:r>
              <a:rPr lang="ru-RU" sz="1200" b="0" i="0" u="none" strike="noStrike" kern="1200" baseline="0" dirty="0">
                <a:solidFill>
                  <a:schemeClr val="tx1"/>
                </a:solidFill>
                <a:latin typeface="+mn-lt"/>
                <a:ea typeface="+mn-ea"/>
                <a:cs typeface="+mn-cs"/>
              </a:rPr>
              <a:t>действия человека и исключает использование каких-либо автоматизированных механизмов</a:t>
            </a:r>
          </a:p>
          <a:p>
            <a:r>
              <a:rPr lang="ru-RU" sz="1200" b="0" i="0" u="none" strike="noStrike" kern="1200" baseline="0" dirty="0">
                <a:solidFill>
                  <a:schemeClr val="tx1"/>
                </a:solidFill>
                <a:latin typeface="+mn-lt"/>
                <a:ea typeface="+mn-ea"/>
                <a:cs typeface="+mn-cs"/>
              </a:rPr>
              <a:t>исполнения или приложений. Ручное выполнение не поддается управлению никаким</a:t>
            </a:r>
          </a:p>
          <a:p>
            <a:r>
              <a:rPr lang="ru-RU" sz="1200" b="0" i="0" u="none" strike="noStrike" kern="1200" baseline="0" dirty="0">
                <a:solidFill>
                  <a:schemeClr val="tx1"/>
                </a:solidFill>
                <a:latin typeface="+mn-lt"/>
                <a:ea typeface="+mn-ea"/>
                <a:cs typeface="+mn-cs"/>
              </a:rPr>
              <a:t>механизмом выполнения бизнес-процесса. Такой тип Задач можно отнести к неуправляемым,</a:t>
            </a:r>
          </a:p>
          <a:p>
            <a:r>
              <a:rPr lang="ru-RU" sz="1200" b="0" i="0" u="none" strike="noStrike" kern="1200" baseline="0" dirty="0">
                <a:solidFill>
                  <a:schemeClr val="tx1"/>
                </a:solidFill>
                <a:latin typeface="+mn-lt"/>
                <a:ea typeface="+mn-ea"/>
                <a:cs typeface="+mn-cs"/>
              </a:rPr>
              <a:t>т.е. к Задачам, начало и завершение выполнения которых не отслеживается механизмами</a:t>
            </a:r>
          </a:p>
          <a:p>
            <a:r>
              <a:rPr lang="ru-RU" sz="1200" b="0" i="0" u="none" strike="noStrike" kern="1200" baseline="0" dirty="0">
                <a:solidFill>
                  <a:schemeClr val="tx1"/>
                </a:solidFill>
                <a:latin typeface="+mn-lt"/>
                <a:ea typeface="+mn-ea"/>
                <a:cs typeface="+mn-cs"/>
              </a:rPr>
              <a:t>выполнения бизнес-процесса. В случае BPMS-систем (систем управления бизнес-процессами),</a:t>
            </a:r>
          </a:p>
          <a:p>
            <a:r>
              <a:rPr lang="ru-RU" sz="1200" b="0" i="0" u="none" strike="noStrike" kern="1200" baseline="0" dirty="0">
                <a:solidFill>
                  <a:schemeClr val="tx1"/>
                </a:solidFill>
                <a:latin typeface="+mn-lt"/>
                <a:ea typeface="+mn-ea"/>
                <a:cs typeface="+mn-cs"/>
              </a:rPr>
              <a:t>это предполагает собой некоторое действие, которое исполнитель выполняет за рамками</a:t>
            </a:r>
          </a:p>
          <a:p>
            <a:r>
              <a:rPr lang="ru-RU" sz="1200" b="0" i="0" u="none" strike="noStrike" kern="1200" baseline="0" dirty="0">
                <a:solidFill>
                  <a:schemeClr val="tx1"/>
                </a:solidFill>
                <a:latin typeface="+mn-lt"/>
                <a:ea typeface="+mn-ea"/>
                <a:cs typeface="+mn-cs"/>
              </a:rPr>
              <a:t>системы. Примером такого типа Задач может служить установка телефонного аппарата на</a:t>
            </a:r>
          </a:p>
          <a:p>
            <a:r>
              <a:rPr lang="ru-RU" sz="1200" b="0" i="0" u="none" strike="noStrike" kern="1200" baseline="0" dirty="0">
                <a:solidFill>
                  <a:schemeClr val="tx1"/>
                </a:solidFill>
                <a:latin typeface="+mn-lt"/>
                <a:ea typeface="+mn-ea"/>
                <a:cs typeface="+mn-cs"/>
              </a:rPr>
              <a:t>территории заказчика специалистом по обслуживанию телефонов или проведение совещания.</a:t>
            </a:r>
          </a:p>
          <a:p>
            <a:r>
              <a:rPr lang="ru-RU" sz="1200" b="0" i="0" u="none" strike="noStrike" kern="1200" baseline="0" dirty="0">
                <a:solidFill>
                  <a:schemeClr val="tx1"/>
                </a:solidFill>
                <a:latin typeface="+mn-lt"/>
                <a:ea typeface="+mn-ea"/>
                <a:cs typeface="+mn-cs"/>
              </a:rPr>
              <a:t> </a:t>
            </a:r>
            <a:r>
              <a:rPr lang="ru-RU" sz="1200" b="1" i="0" u="none" strike="noStrike" kern="1200" baseline="0" dirty="0">
                <a:solidFill>
                  <a:schemeClr val="tx1"/>
                </a:solidFill>
                <a:latin typeface="+mn-lt"/>
                <a:ea typeface="+mn-ea"/>
                <a:cs typeface="+mn-cs"/>
              </a:rPr>
              <a:t>Задача-сценарий - </a:t>
            </a:r>
            <a:r>
              <a:rPr lang="ru-RU" sz="1200" b="0" i="0" u="none" strike="noStrike" kern="1200" baseline="0" dirty="0">
                <a:solidFill>
                  <a:schemeClr val="tx1"/>
                </a:solidFill>
                <a:latin typeface="+mn-lt"/>
                <a:ea typeface="+mn-ea"/>
                <a:cs typeface="+mn-cs"/>
              </a:rPr>
              <a:t>тип Задачи, которые выполняются без участия человека, обозначающее</a:t>
            </a:r>
          </a:p>
          <a:p>
            <a:r>
              <a:rPr lang="ru-RU" sz="1200" b="0" i="0" u="none" strike="noStrike" kern="1200" baseline="0" dirty="0">
                <a:solidFill>
                  <a:schemeClr val="tx1"/>
                </a:solidFill>
                <a:latin typeface="+mn-lt"/>
                <a:ea typeface="+mn-ea"/>
                <a:cs typeface="+mn-cs"/>
              </a:rPr>
              <a:t>выполнение в процессе некоторого автоматизированного действия. То есть оно выполняется</a:t>
            </a:r>
          </a:p>
          <a:p>
            <a:r>
              <a:rPr lang="ru-RU" sz="1200" b="0" i="0" u="none" strike="noStrike" kern="1200" baseline="0" dirty="0">
                <a:solidFill>
                  <a:schemeClr val="tx1"/>
                </a:solidFill>
                <a:latin typeface="+mn-lt"/>
                <a:ea typeface="+mn-ea"/>
                <a:cs typeface="+mn-cs"/>
              </a:rPr>
              <a:t>без конкретного исполнителя средствами самой BPMS-системы. Например, это может быть</a:t>
            </a:r>
          </a:p>
          <a:p>
            <a:r>
              <a:rPr lang="ru-RU" sz="1200" b="0" i="0" u="none" strike="noStrike" kern="1200" baseline="0" dirty="0">
                <a:solidFill>
                  <a:schemeClr val="tx1"/>
                </a:solidFill>
                <a:latin typeface="+mn-lt"/>
                <a:ea typeface="+mn-ea"/>
                <a:cs typeface="+mn-cs"/>
              </a:rPr>
              <a:t>подсчет каких-либо данных - подсчет сумм, введенных пользователем. Такая работа прекрасно</a:t>
            </a:r>
          </a:p>
          <a:p>
            <a:r>
              <a:rPr lang="ru-RU" sz="1200" b="0" i="0" u="none" strike="noStrike" kern="1200" baseline="0" dirty="0">
                <a:solidFill>
                  <a:schemeClr val="tx1"/>
                </a:solidFill>
                <a:latin typeface="+mn-lt"/>
                <a:ea typeface="+mn-ea"/>
                <a:cs typeface="+mn-cs"/>
              </a:rPr>
              <a:t>выполняется компьютером без участия человека. BPMS-система не только делает это быстрее,</a:t>
            </a:r>
          </a:p>
          <a:p>
            <a:r>
              <a:rPr lang="ru-RU" sz="1200" b="0" i="0" u="none" strike="noStrike" kern="1200" baseline="0" dirty="0">
                <a:solidFill>
                  <a:schemeClr val="tx1"/>
                </a:solidFill>
                <a:latin typeface="+mn-lt"/>
                <a:ea typeface="+mn-ea"/>
                <a:cs typeface="+mn-cs"/>
              </a:rPr>
              <a:t>но еще и никогда не ошибается в расчетах.</a:t>
            </a:r>
            <a:endParaRPr lang="ru-RU" dirty="0"/>
          </a:p>
        </p:txBody>
      </p:sp>
      <p:sp>
        <p:nvSpPr>
          <p:cNvPr id="4" name="Номер слайда 3"/>
          <p:cNvSpPr>
            <a:spLocks noGrp="1"/>
          </p:cNvSpPr>
          <p:nvPr>
            <p:ph type="sldNum" sz="quarter" idx="10"/>
          </p:nvPr>
        </p:nvSpPr>
        <p:spPr/>
        <p:txBody>
          <a:bodyPr/>
          <a:lstStyle/>
          <a:p>
            <a:fld id="{15A81657-C423-44DD-B57D-12B88463DA5E}" type="slidenum">
              <a:rPr lang="ru-RU" smtClean="0"/>
              <a:pPr/>
              <a:t>7</a:t>
            </a:fld>
            <a:endParaRPr lang="ru-RU"/>
          </a:p>
        </p:txBody>
      </p:sp>
    </p:spTree>
    <p:extLst>
      <p:ext uri="{BB962C8B-B14F-4D97-AF65-F5344CB8AC3E}">
        <p14:creationId xmlns:p14="http://schemas.microsoft.com/office/powerpoint/2010/main" val="3755835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15A81657-C423-44DD-B57D-12B88463DA5E}" type="slidenum">
              <a:rPr lang="ru-RU" smtClean="0"/>
              <a:pPr/>
              <a:t>24</a:t>
            </a:fld>
            <a:endParaRPr lang="ru-RU"/>
          </a:p>
        </p:txBody>
      </p:sp>
    </p:spTree>
    <p:extLst>
      <p:ext uri="{BB962C8B-B14F-4D97-AF65-F5344CB8AC3E}">
        <p14:creationId xmlns:p14="http://schemas.microsoft.com/office/powerpoint/2010/main" val="206207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15A81657-C423-44DD-B57D-12B88463DA5E}" type="slidenum">
              <a:rPr lang="ru-RU" smtClean="0"/>
              <a:pPr/>
              <a:t>25</a:t>
            </a:fld>
            <a:endParaRPr lang="ru-RU"/>
          </a:p>
        </p:txBody>
      </p:sp>
    </p:spTree>
    <p:extLst>
      <p:ext uri="{BB962C8B-B14F-4D97-AF65-F5344CB8AC3E}">
        <p14:creationId xmlns:p14="http://schemas.microsoft.com/office/powerpoint/2010/main" val="34591752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332014" y="969957"/>
            <a:ext cx="8432800" cy="477837"/>
          </a:xfrm>
        </p:spPr>
        <p:txBody>
          <a:bodyPr anchor="b">
            <a:normAutofit/>
          </a:bodyPr>
          <a:lstStyle>
            <a:lvl1pPr algn="l">
              <a:defRPr sz="2400">
                <a:solidFill>
                  <a:schemeClr val="tx1">
                    <a:lumMod val="65000"/>
                    <a:lumOff val="35000"/>
                  </a:schemeClr>
                </a:solidFill>
              </a:defRPr>
            </a:lvl1pPr>
          </a:lstStyle>
          <a:p>
            <a:r>
              <a:rPr lang="ru-RU" dirty="0"/>
              <a:t>Образец заголовка</a:t>
            </a:r>
            <a:endParaRPr lang="en-US" dirty="0"/>
          </a:p>
        </p:txBody>
      </p:sp>
      <p:sp>
        <p:nvSpPr>
          <p:cNvPr id="3" name="Subtitle 2"/>
          <p:cNvSpPr>
            <a:spLocks noGrp="1"/>
          </p:cNvSpPr>
          <p:nvPr>
            <p:ph type="subTitle" idx="1"/>
          </p:nvPr>
        </p:nvSpPr>
        <p:spPr>
          <a:xfrm>
            <a:off x="1600200" y="553349"/>
            <a:ext cx="7151914" cy="469223"/>
          </a:xfrm>
        </p:spPr>
        <p:txBody>
          <a:bodyPr>
            <a:normAutofit/>
          </a:bodyPr>
          <a:lstStyle>
            <a:lvl1pPr marL="0" indent="0" algn="r">
              <a:spcBef>
                <a:spcPts val="0"/>
              </a:spcBef>
              <a:buNone/>
              <a:defRPr sz="2000">
                <a:solidFill>
                  <a:schemeClr val="tx1">
                    <a:lumMod val="75000"/>
                    <a:lumOff val="25000"/>
                  </a:schemeClr>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endParaRPr lang="en-US" dirty="0"/>
          </a:p>
        </p:txBody>
      </p:sp>
      <p:cxnSp>
        <p:nvCxnSpPr>
          <p:cNvPr id="28" name="Прямая соединительная линия 27"/>
          <p:cNvCxnSpPr/>
          <p:nvPr userDrawn="1"/>
        </p:nvCxnSpPr>
        <p:spPr>
          <a:xfrm>
            <a:off x="0" y="6134100"/>
            <a:ext cx="6105525"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p:cNvCxnSpPr/>
          <p:nvPr userDrawn="1"/>
        </p:nvCxnSpPr>
        <p:spPr>
          <a:xfrm>
            <a:off x="5276680" y="464346"/>
            <a:ext cx="3881607" cy="20065"/>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5" name="Прямоугольник 14">
            <a:extLst>
              <a:ext uri="{FF2B5EF4-FFF2-40B4-BE49-F238E27FC236}">
                <a16:creationId xmlns:a16="http://schemas.microsoft.com/office/drawing/2014/main" id="{A7AD7B9B-199B-4021-B891-54CE0B85E78F}"/>
              </a:ext>
            </a:extLst>
          </p:cNvPr>
          <p:cNvSpPr/>
          <p:nvPr userDrawn="1"/>
        </p:nvSpPr>
        <p:spPr>
          <a:xfrm>
            <a:off x="2622" y="41141"/>
            <a:ext cx="3302178" cy="276999"/>
          </a:xfrm>
          <a:prstGeom prst="rect">
            <a:avLst/>
          </a:prstGeom>
          <a:noFill/>
        </p:spPr>
        <p:txBody>
          <a:bodyPr wrap="square" lIns="91440" tIns="45720" rIns="91440" bIns="45720">
            <a:spAutoFit/>
          </a:bodyPr>
          <a:lstStyle/>
          <a:p>
            <a:pPr lvl="0"/>
            <a:r>
              <a:rPr lang="ru-RU" sz="1200" b="0" cap="none" spc="0" dirty="0" err="1">
                <a:ln w="0"/>
                <a:solidFill>
                  <a:schemeClr val="accent1"/>
                </a:solidFill>
                <a:effectLst>
                  <a:outerShdw blurRad="38100" dist="25400" dir="5400000" algn="ctr" rotWithShape="0">
                    <a:srgbClr val="6E747A">
                      <a:alpha val="43000"/>
                    </a:srgbClr>
                  </a:outerShdw>
                </a:effectLst>
                <a:latin typeface="Franklin Gothic Book" panose="020B0503020102020204" pitchFamily="34" charset="0"/>
              </a:rPr>
              <a:t>РиУБП</a:t>
            </a:r>
            <a:endParaRPr lang="ru-RU" sz="1200" b="0" cap="none" spc="0" dirty="0">
              <a:ln w="0"/>
              <a:solidFill>
                <a:schemeClr val="accent1"/>
              </a:solidFill>
              <a:effectLst>
                <a:outerShdw blurRad="38100" dist="25400" dir="5400000" algn="ctr" rotWithShape="0">
                  <a:srgbClr val="6E747A">
                    <a:alpha val="43000"/>
                  </a:srgbClr>
                </a:outerShdw>
              </a:effectLst>
              <a:latin typeface="Franklin Gothic Book" panose="020B0503020102020204" pitchFamily="34" charset="0"/>
            </a:endParaRPr>
          </a:p>
        </p:txBody>
      </p:sp>
      <p:pic>
        <p:nvPicPr>
          <p:cNvPr id="13" name="Рисунок 12">
            <a:extLst>
              <a:ext uri="{FF2B5EF4-FFF2-40B4-BE49-F238E27FC236}">
                <a16:creationId xmlns:a16="http://schemas.microsoft.com/office/drawing/2014/main" id="{3C0803E8-8A28-42A3-8D0D-C2FFF6F367D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7122" b="52457"/>
          <a:stretch/>
        </p:blipFill>
        <p:spPr>
          <a:xfrm>
            <a:off x="-23586" y="6192972"/>
            <a:ext cx="9144000" cy="1050718"/>
          </a:xfrm>
          <a:prstGeom prst="rect">
            <a:avLst/>
          </a:prstGeom>
        </p:spPr>
      </p:pic>
    </p:spTree>
    <p:extLst>
      <p:ext uri="{BB962C8B-B14F-4D97-AF65-F5344CB8AC3E}">
        <p14:creationId xmlns:p14="http://schemas.microsoft.com/office/powerpoint/2010/main" val="221788367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577E4138-E4D0-4D6D-B392-3A7C56D7934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7122" b="52067"/>
          <a:stretch/>
        </p:blipFill>
        <p:spPr>
          <a:xfrm>
            <a:off x="-24437" y="5901513"/>
            <a:ext cx="9144000" cy="1070783"/>
          </a:xfrm>
          <a:prstGeom prst="rect">
            <a:avLst/>
          </a:prstGeom>
        </p:spPr>
      </p:pic>
      <p:sp>
        <p:nvSpPr>
          <p:cNvPr id="18" name="Прямоугольник 17"/>
          <p:cNvSpPr/>
          <p:nvPr userDrawn="1"/>
        </p:nvSpPr>
        <p:spPr>
          <a:xfrm>
            <a:off x="0" y="484410"/>
            <a:ext cx="9130337" cy="572588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Title 1"/>
          <p:cNvSpPr>
            <a:spLocks noGrp="1"/>
          </p:cNvSpPr>
          <p:nvPr>
            <p:ph type="ctrTitle"/>
          </p:nvPr>
        </p:nvSpPr>
        <p:spPr>
          <a:xfrm>
            <a:off x="332014" y="969957"/>
            <a:ext cx="8432800" cy="477837"/>
          </a:xfrm>
        </p:spPr>
        <p:txBody>
          <a:bodyPr anchor="b">
            <a:normAutofit/>
          </a:bodyPr>
          <a:lstStyle>
            <a:lvl1pPr algn="l">
              <a:defRPr sz="2400">
                <a:solidFill>
                  <a:schemeClr val="bg1"/>
                </a:solidFill>
              </a:defRPr>
            </a:lvl1pPr>
          </a:lstStyle>
          <a:p>
            <a:r>
              <a:rPr lang="ru-RU" dirty="0"/>
              <a:t>Образец заголовка</a:t>
            </a:r>
            <a:endParaRPr lang="en-US" dirty="0"/>
          </a:p>
        </p:txBody>
      </p:sp>
      <p:sp>
        <p:nvSpPr>
          <p:cNvPr id="22" name="Subtitle 2"/>
          <p:cNvSpPr>
            <a:spLocks noGrp="1"/>
          </p:cNvSpPr>
          <p:nvPr>
            <p:ph type="subTitle" idx="1"/>
          </p:nvPr>
        </p:nvSpPr>
        <p:spPr>
          <a:xfrm>
            <a:off x="1600200" y="553349"/>
            <a:ext cx="7151914" cy="469223"/>
          </a:xfrm>
        </p:spPr>
        <p:txBody>
          <a:bodyPr>
            <a:normAutofit/>
          </a:bodyPr>
          <a:lstStyle>
            <a:lvl1pPr marL="0" indent="0" algn="r">
              <a:buNone/>
              <a:defRPr sz="2000">
                <a:solidFill>
                  <a:schemeClr val="bg1"/>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endParaRPr lang="en-US" dirty="0"/>
          </a:p>
        </p:txBody>
      </p:sp>
      <p:cxnSp>
        <p:nvCxnSpPr>
          <p:cNvPr id="16" name="Прямая соединительная линия 15">
            <a:extLst>
              <a:ext uri="{FF2B5EF4-FFF2-40B4-BE49-F238E27FC236}">
                <a16:creationId xmlns:a16="http://schemas.microsoft.com/office/drawing/2014/main" id="{FDB4EEC9-CA36-48D5-B614-3B43D70FAC5C}"/>
              </a:ext>
            </a:extLst>
          </p:cNvPr>
          <p:cNvCxnSpPr/>
          <p:nvPr userDrawn="1"/>
        </p:nvCxnSpPr>
        <p:spPr>
          <a:xfrm>
            <a:off x="0" y="6134100"/>
            <a:ext cx="6105525"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32" name="Прямоугольник 31">
            <a:extLst>
              <a:ext uri="{FF2B5EF4-FFF2-40B4-BE49-F238E27FC236}">
                <a16:creationId xmlns:a16="http://schemas.microsoft.com/office/drawing/2014/main" id="{96A301D7-3290-46CE-995A-5405F6B13BCB}"/>
              </a:ext>
            </a:extLst>
          </p:cNvPr>
          <p:cNvSpPr/>
          <p:nvPr userDrawn="1"/>
        </p:nvSpPr>
        <p:spPr>
          <a:xfrm>
            <a:off x="2622" y="41141"/>
            <a:ext cx="3302178" cy="276999"/>
          </a:xfrm>
          <a:prstGeom prst="rect">
            <a:avLst/>
          </a:prstGeom>
          <a:noFill/>
        </p:spPr>
        <p:txBody>
          <a:bodyPr wrap="square" lIns="91440" tIns="45720" rIns="91440" bIns="45720">
            <a:spAutoFit/>
          </a:bodyPr>
          <a:lstStyle/>
          <a:p>
            <a:pPr algn="l"/>
            <a:r>
              <a:rPr lang="ru-RU" sz="1200" b="0" cap="none" spc="0" dirty="0" err="1">
                <a:ln w="0"/>
                <a:solidFill>
                  <a:schemeClr val="accent1"/>
                </a:solidFill>
                <a:effectLst>
                  <a:outerShdw blurRad="38100" dist="25400" dir="5400000" algn="ctr" rotWithShape="0">
                    <a:srgbClr val="6E747A">
                      <a:alpha val="43000"/>
                    </a:srgbClr>
                  </a:outerShdw>
                </a:effectLst>
                <a:latin typeface="Franklin Gothic Book" panose="020B0503020102020204" pitchFamily="34" charset="0"/>
              </a:rPr>
              <a:t>РиУБП</a:t>
            </a:r>
            <a:endParaRPr lang="ru-RU" sz="1200" b="0" cap="none" spc="0" dirty="0">
              <a:ln w="0"/>
              <a:solidFill>
                <a:schemeClr val="accent1"/>
              </a:solidFill>
              <a:effectLst>
                <a:outerShdw blurRad="38100" dist="25400" dir="5400000" algn="ctr" rotWithShape="0">
                  <a:srgbClr val="6E747A">
                    <a:alpha val="43000"/>
                  </a:srgbClr>
                </a:outerShdw>
              </a:effectLst>
              <a:latin typeface="Franklin Gothic Book" panose="020B0503020102020204" pitchFamily="34" charset="0"/>
            </a:endParaRPr>
          </a:p>
        </p:txBody>
      </p:sp>
      <p:cxnSp>
        <p:nvCxnSpPr>
          <p:cNvPr id="20" name="Прямая соединительная линия 19">
            <a:extLst>
              <a:ext uri="{FF2B5EF4-FFF2-40B4-BE49-F238E27FC236}">
                <a16:creationId xmlns:a16="http://schemas.microsoft.com/office/drawing/2014/main" id="{DC8F3B29-C2F5-421B-8EE4-39674BE5948E}"/>
              </a:ext>
            </a:extLst>
          </p:cNvPr>
          <p:cNvCxnSpPr/>
          <p:nvPr userDrawn="1"/>
        </p:nvCxnSpPr>
        <p:spPr>
          <a:xfrm>
            <a:off x="3024812" y="553349"/>
            <a:ext cx="6105525"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812209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spTree>
      <p:nvGrpSpPr>
        <p:cNvPr id="1" name=""/>
        <p:cNvGrpSpPr/>
        <p:nvPr/>
      </p:nvGrpSpPr>
      <p:grpSpPr>
        <a:xfrm>
          <a:off x="0" y="0"/>
          <a:ext cx="0" cy="0"/>
          <a:chOff x="0" y="0"/>
          <a:chExt cx="0" cy="0"/>
        </a:xfrm>
      </p:grpSpPr>
      <p:pic>
        <p:nvPicPr>
          <p:cNvPr id="14" name="Рисунок 13"/>
          <p:cNvPicPr>
            <a:picLocks noChangeAspect="1"/>
          </p:cNvPicPr>
          <p:nvPr userDrawn="1"/>
        </p:nvPicPr>
        <p:blipFill>
          <a:blip r:embed="rId2" cstate="print">
            <a:duotone>
              <a:prstClr val="black"/>
              <a:schemeClr val="accent5">
                <a:tint val="45000"/>
                <a:satMod val="400000"/>
              </a:schemeClr>
            </a:duotone>
          </a:blip>
          <a:stretch>
            <a:fillRect/>
          </a:stretch>
        </p:blipFill>
        <p:spPr>
          <a:xfrm>
            <a:off x="6105524" y="1022572"/>
            <a:ext cx="3032775" cy="5835428"/>
          </a:xfrm>
          <a:prstGeom prst="rect">
            <a:avLst/>
          </a:prstGeom>
          <a:solidFill>
            <a:schemeClr val="accent1">
              <a:lumMod val="50000"/>
            </a:schemeClr>
          </a:solidFill>
          <a:ln>
            <a:noFill/>
          </a:ln>
        </p:spPr>
      </p:pic>
      <p:sp>
        <p:nvSpPr>
          <p:cNvPr id="5" name="Title 1"/>
          <p:cNvSpPr>
            <a:spLocks noGrp="1"/>
          </p:cNvSpPr>
          <p:nvPr>
            <p:ph type="ctrTitle"/>
          </p:nvPr>
        </p:nvSpPr>
        <p:spPr>
          <a:xfrm>
            <a:off x="332014" y="969957"/>
            <a:ext cx="8432800" cy="477837"/>
          </a:xfrm>
        </p:spPr>
        <p:txBody>
          <a:bodyPr anchor="b">
            <a:normAutofit/>
          </a:bodyPr>
          <a:lstStyle>
            <a:lvl1pPr algn="l">
              <a:defRPr sz="2400">
                <a:solidFill>
                  <a:schemeClr val="tx1">
                    <a:lumMod val="65000"/>
                    <a:lumOff val="35000"/>
                  </a:schemeClr>
                </a:solidFill>
              </a:defRPr>
            </a:lvl1pPr>
          </a:lstStyle>
          <a:p>
            <a:r>
              <a:rPr lang="ru-RU" dirty="0"/>
              <a:t>Образец заголовка</a:t>
            </a:r>
            <a:endParaRPr lang="en-US" dirty="0"/>
          </a:p>
        </p:txBody>
      </p:sp>
      <p:sp>
        <p:nvSpPr>
          <p:cNvPr id="6" name="Subtitle 2"/>
          <p:cNvSpPr>
            <a:spLocks noGrp="1"/>
          </p:cNvSpPr>
          <p:nvPr>
            <p:ph type="subTitle" idx="1"/>
          </p:nvPr>
        </p:nvSpPr>
        <p:spPr>
          <a:xfrm>
            <a:off x="1600200" y="553349"/>
            <a:ext cx="7151914" cy="469223"/>
          </a:xfrm>
        </p:spPr>
        <p:txBody>
          <a:bodyPr>
            <a:normAutofit/>
          </a:bodyPr>
          <a:lstStyle>
            <a:lvl1pPr marL="0" indent="0" algn="r">
              <a:buNone/>
              <a:defRPr sz="2000">
                <a:solidFill>
                  <a:schemeClr val="tx1">
                    <a:lumMod val="75000"/>
                    <a:lumOff val="25000"/>
                  </a:schemeClr>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endParaRPr lang="en-US" dirty="0"/>
          </a:p>
        </p:txBody>
      </p:sp>
      <p:cxnSp>
        <p:nvCxnSpPr>
          <p:cNvPr id="10" name="Прямая соединительная линия 9"/>
          <p:cNvCxnSpPr/>
          <p:nvPr userDrawn="1"/>
        </p:nvCxnSpPr>
        <p:spPr>
          <a:xfrm>
            <a:off x="5276680" y="464346"/>
            <a:ext cx="3881607" cy="20065"/>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a:extLst>
              <a:ext uri="{FF2B5EF4-FFF2-40B4-BE49-F238E27FC236}">
                <a16:creationId xmlns:a16="http://schemas.microsoft.com/office/drawing/2014/main" id="{45A66FCC-0CBB-4AA5-9EE6-BCB27702E4B4}"/>
              </a:ext>
            </a:extLst>
          </p:cNvPr>
          <p:cNvCxnSpPr>
            <a:cxnSpLocks/>
          </p:cNvCxnSpPr>
          <p:nvPr userDrawn="1"/>
        </p:nvCxnSpPr>
        <p:spPr>
          <a:xfrm>
            <a:off x="3045430" y="6815913"/>
            <a:ext cx="6120187"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040831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spTree>
      <p:nvGrpSpPr>
        <p:cNvPr id="1" name=""/>
        <p:cNvGrpSpPr/>
        <p:nvPr/>
      </p:nvGrpSpPr>
      <p:grpSpPr>
        <a:xfrm>
          <a:off x="0" y="0"/>
          <a:ext cx="0" cy="0"/>
          <a:chOff x="0" y="0"/>
          <a:chExt cx="0" cy="0"/>
        </a:xfrm>
      </p:grpSpPr>
      <p:pic>
        <p:nvPicPr>
          <p:cNvPr id="16" name="Рисунок 15">
            <a:extLst>
              <a:ext uri="{FF2B5EF4-FFF2-40B4-BE49-F238E27FC236}">
                <a16:creationId xmlns:a16="http://schemas.microsoft.com/office/drawing/2014/main" id="{D9153890-F3C0-4007-83C9-A28CBED194C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0266" t="27122" r="22805" b="54289"/>
          <a:stretch/>
        </p:blipFill>
        <p:spPr>
          <a:xfrm>
            <a:off x="1" y="5901517"/>
            <a:ext cx="4291240" cy="956483"/>
          </a:xfrm>
          <a:prstGeom prst="rect">
            <a:avLst/>
          </a:prstGeom>
        </p:spPr>
      </p:pic>
      <p:pic>
        <p:nvPicPr>
          <p:cNvPr id="6" name="Рисунок 5"/>
          <p:cNvPicPr>
            <a:picLocks noChangeAspect="1"/>
          </p:cNvPicPr>
          <p:nvPr userDrawn="1"/>
        </p:nvPicPr>
        <p:blipFill>
          <a:blip r:embed="rId3" cstate="print">
            <a:duotone>
              <a:prstClr val="black"/>
              <a:schemeClr val="accent5">
                <a:tint val="45000"/>
                <a:satMod val="400000"/>
              </a:schemeClr>
            </a:duotone>
          </a:blip>
          <a:stretch>
            <a:fillRect/>
          </a:stretch>
        </p:blipFill>
        <p:spPr>
          <a:xfrm>
            <a:off x="0" y="553348"/>
            <a:ext cx="4291240" cy="5656952"/>
          </a:xfrm>
          <a:prstGeom prst="rect">
            <a:avLst/>
          </a:prstGeom>
        </p:spPr>
      </p:pic>
      <p:sp>
        <p:nvSpPr>
          <p:cNvPr id="9" name="Title 1"/>
          <p:cNvSpPr>
            <a:spLocks noGrp="1"/>
          </p:cNvSpPr>
          <p:nvPr>
            <p:ph type="ctrTitle"/>
          </p:nvPr>
        </p:nvSpPr>
        <p:spPr>
          <a:xfrm>
            <a:off x="332014" y="969957"/>
            <a:ext cx="8432800" cy="477837"/>
          </a:xfrm>
        </p:spPr>
        <p:txBody>
          <a:bodyPr anchor="b">
            <a:normAutofit/>
          </a:bodyPr>
          <a:lstStyle>
            <a:lvl1pPr algn="r">
              <a:defRPr sz="2400">
                <a:solidFill>
                  <a:schemeClr val="tx1">
                    <a:lumMod val="65000"/>
                    <a:lumOff val="35000"/>
                  </a:schemeClr>
                </a:solidFill>
              </a:defRPr>
            </a:lvl1pPr>
          </a:lstStyle>
          <a:p>
            <a:r>
              <a:rPr lang="ru-RU" dirty="0"/>
              <a:t>Образец заголовка</a:t>
            </a:r>
            <a:endParaRPr lang="en-US" dirty="0"/>
          </a:p>
        </p:txBody>
      </p:sp>
      <p:sp>
        <p:nvSpPr>
          <p:cNvPr id="10" name="Subtitle 2"/>
          <p:cNvSpPr>
            <a:spLocks noGrp="1"/>
          </p:cNvSpPr>
          <p:nvPr>
            <p:ph type="subTitle" idx="1"/>
          </p:nvPr>
        </p:nvSpPr>
        <p:spPr>
          <a:xfrm>
            <a:off x="1600200" y="553349"/>
            <a:ext cx="7151914" cy="469223"/>
          </a:xfrm>
        </p:spPr>
        <p:txBody>
          <a:bodyPr>
            <a:normAutofit/>
          </a:bodyPr>
          <a:lstStyle>
            <a:lvl1pPr marL="0" indent="0" algn="r">
              <a:buNone/>
              <a:defRPr sz="2000">
                <a:solidFill>
                  <a:schemeClr val="tx1">
                    <a:lumMod val="75000"/>
                    <a:lumOff val="25000"/>
                  </a:schemeClr>
                </a:solidFill>
                <a:latin typeface="Franklin Gothic Book" panose="020B05030201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endParaRPr lang="en-US" dirty="0"/>
          </a:p>
        </p:txBody>
      </p:sp>
      <p:cxnSp>
        <p:nvCxnSpPr>
          <p:cNvPr id="14" name="Прямая соединительная линия 13"/>
          <p:cNvCxnSpPr/>
          <p:nvPr userDrawn="1"/>
        </p:nvCxnSpPr>
        <p:spPr>
          <a:xfrm>
            <a:off x="5276680" y="464346"/>
            <a:ext cx="3881607" cy="20065"/>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a:extLst>
              <a:ext uri="{FF2B5EF4-FFF2-40B4-BE49-F238E27FC236}">
                <a16:creationId xmlns:a16="http://schemas.microsoft.com/office/drawing/2014/main" id="{6072F6FF-B862-4F7E-A42E-7B959858356B}"/>
              </a:ext>
            </a:extLst>
          </p:cNvPr>
          <p:cNvCxnSpPr/>
          <p:nvPr userDrawn="1"/>
        </p:nvCxnSpPr>
        <p:spPr>
          <a:xfrm>
            <a:off x="0" y="6134100"/>
            <a:ext cx="6105525"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144458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Пользовательский макет">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19101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Пользовательский макет">
    <p:spTree>
      <p:nvGrpSpPr>
        <p:cNvPr id="1" name=""/>
        <p:cNvGrpSpPr/>
        <p:nvPr/>
      </p:nvGrpSpPr>
      <p:grpSpPr>
        <a:xfrm>
          <a:off x="0" y="0"/>
          <a:ext cx="0" cy="0"/>
          <a:chOff x="0" y="0"/>
          <a:chExt cx="0" cy="0"/>
        </a:xfrm>
      </p:grpSpPr>
      <p:sp>
        <p:nvSpPr>
          <p:cNvPr id="3" name="Прямоугольник 2"/>
          <p:cNvSpPr/>
          <p:nvPr userDrawn="1"/>
        </p:nvSpPr>
        <p:spPr>
          <a:xfrm>
            <a:off x="0" y="0"/>
            <a:ext cx="913033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1734080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93700"/>
            <a:ext cx="7886700" cy="1296989"/>
          </a:xfrm>
          <a:prstGeom prst="rect">
            <a:avLst/>
          </a:prstGeom>
        </p:spPr>
        <p:txBody>
          <a:bodyPr vert="horz" lIns="91440" tIns="45720" rIns="91440" bIns="45720" rtlCol="0" anchor="ctr">
            <a:normAutofit/>
          </a:bodyPr>
          <a:lstStyle/>
          <a:p>
            <a:r>
              <a:rPr lang="ru-RU" dirty="0"/>
              <a:t>Образец заголовка</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Tree>
    <p:extLst>
      <p:ext uri="{BB962C8B-B14F-4D97-AF65-F5344CB8AC3E}">
        <p14:creationId xmlns:p14="http://schemas.microsoft.com/office/powerpoint/2010/main" val="520607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2800" b="1" kern="1200">
          <a:solidFill>
            <a:schemeClr val="tx1"/>
          </a:solidFill>
          <a:latin typeface="Franklin Gothic Book" panose="020B05030201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2.png"/><Relationship Id="rId1" Type="http://schemas.openxmlformats.org/officeDocument/2006/relationships/slideLayout" Target="../slideLayouts/slideLayout4.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8.png"/><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Заголовок 4"/>
          <p:cNvSpPr txBox="1">
            <a:spLocks/>
          </p:cNvSpPr>
          <p:nvPr/>
        </p:nvSpPr>
        <p:spPr>
          <a:xfrm>
            <a:off x="108854" y="2820469"/>
            <a:ext cx="3964215" cy="1375914"/>
          </a:xfrm>
          <a:prstGeom prst="rect">
            <a:avLst/>
          </a:prstGeom>
        </p:spPr>
        <p:txBody>
          <a:bodyPr vert="horz" lIns="91440" tIns="45720" rIns="91440" bIns="45720" rtlCol="0" anchor="b">
            <a:noAutofit/>
          </a:bodyPr>
          <a:lstStyle>
            <a:lvl1pPr algn="r" defTabSz="914400" rtl="0" eaLnBrk="1" latinLnBrk="0" hangingPunct="1">
              <a:lnSpc>
                <a:spcPct val="90000"/>
              </a:lnSpc>
              <a:spcBef>
                <a:spcPct val="0"/>
              </a:spcBef>
              <a:buNone/>
              <a:defRPr sz="2400" b="1" kern="1200">
                <a:solidFill>
                  <a:schemeClr val="tx1">
                    <a:lumMod val="65000"/>
                    <a:lumOff val="35000"/>
                  </a:schemeClr>
                </a:solidFill>
                <a:latin typeface="Franklin Gothic Book" panose="020B0503020102020204" pitchFamily="34" charset="0"/>
                <a:ea typeface="+mj-ea"/>
                <a:cs typeface="Arial" panose="020B0604020202020204" pitchFamily="34" charset="0"/>
              </a:defRPr>
            </a:lvl1pPr>
          </a:lstStyle>
          <a:p>
            <a:pPr algn="l"/>
            <a:r>
              <a:rPr lang="ru-RU" sz="1600" b="0" kern="0" spc="150" dirty="0">
                <a:solidFill>
                  <a:schemeClr val="bg1"/>
                </a:solidFill>
              </a:rPr>
              <a:t>Кафедра Управления и информатики в технических системах ФГБОУ ВО МГТУ СТАНКИН</a:t>
            </a:r>
          </a:p>
        </p:txBody>
      </p:sp>
      <p:cxnSp>
        <p:nvCxnSpPr>
          <p:cNvPr id="11" name="Прямая соединительная линия 10"/>
          <p:cNvCxnSpPr/>
          <p:nvPr/>
        </p:nvCxnSpPr>
        <p:spPr>
          <a:xfrm>
            <a:off x="203198" y="2387607"/>
            <a:ext cx="386261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Заголовок 4"/>
          <p:cNvSpPr txBox="1">
            <a:spLocks/>
          </p:cNvSpPr>
          <p:nvPr/>
        </p:nvSpPr>
        <p:spPr>
          <a:xfrm>
            <a:off x="4933037" y="5994400"/>
            <a:ext cx="3964215" cy="667657"/>
          </a:xfrm>
          <a:prstGeom prst="rect">
            <a:avLst/>
          </a:prstGeom>
        </p:spPr>
        <p:txBody>
          <a:bodyPr vert="horz" lIns="91440" tIns="45720" rIns="91440" bIns="45720" rtlCol="0" anchor="b">
            <a:noAutofit/>
          </a:bodyPr>
          <a:lstStyle>
            <a:lvl1pPr algn="r" defTabSz="914400" rtl="0" eaLnBrk="1" latinLnBrk="0" hangingPunct="1">
              <a:lnSpc>
                <a:spcPct val="90000"/>
              </a:lnSpc>
              <a:spcBef>
                <a:spcPct val="0"/>
              </a:spcBef>
              <a:buNone/>
              <a:defRPr sz="2400" b="1" kern="1200">
                <a:solidFill>
                  <a:schemeClr val="tx1">
                    <a:lumMod val="65000"/>
                    <a:lumOff val="35000"/>
                  </a:schemeClr>
                </a:solidFill>
                <a:latin typeface="Franklin Gothic Book" panose="020B0503020102020204" pitchFamily="34" charset="0"/>
                <a:ea typeface="+mj-ea"/>
                <a:cs typeface="Arial" panose="020B0604020202020204" pitchFamily="34" charset="0"/>
              </a:defRPr>
            </a:lvl1pPr>
          </a:lstStyle>
          <a:p>
            <a:r>
              <a:rPr lang="ru-RU" sz="2000" b="0" kern="0" spc="150" dirty="0"/>
              <a:t>семинары</a:t>
            </a:r>
          </a:p>
        </p:txBody>
      </p:sp>
      <p:sp>
        <p:nvSpPr>
          <p:cNvPr id="13" name="Прямоугольник 12">
            <a:extLst>
              <a:ext uri="{FF2B5EF4-FFF2-40B4-BE49-F238E27FC236}">
                <a16:creationId xmlns:a16="http://schemas.microsoft.com/office/drawing/2014/main" id="{27176509-AF3E-4B5B-9030-3B98592E46C6}"/>
              </a:ext>
            </a:extLst>
          </p:cNvPr>
          <p:cNvSpPr/>
          <p:nvPr/>
        </p:nvSpPr>
        <p:spPr>
          <a:xfrm>
            <a:off x="108854" y="1577097"/>
            <a:ext cx="2457724" cy="523220"/>
          </a:xfrm>
          <a:prstGeom prst="rect">
            <a:avLst/>
          </a:prstGeom>
        </p:spPr>
        <p:txBody>
          <a:bodyPr wrap="none">
            <a:spAutoFit/>
          </a:bodyPr>
          <a:lstStyle/>
          <a:p>
            <a:r>
              <a:rPr lang="ru-RU" sz="1400" kern="0" spc="150" dirty="0">
                <a:solidFill>
                  <a:schemeClr val="bg1"/>
                </a:solidFill>
                <a:latin typeface="Franklin Gothic Book" panose="020B0503020102020204" pitchFamily="34" charset="0"/>
              </a:rPr>
              <a:t>Елисеева </a:t>
            </a:r>
            <a:r>
              <a:rPr lang="ru-RU" sz="1400" b="0" kern="0" spc="150" dirty="0">
                <a:solidFill>
                  <a:schemeClr val="bg1"/>
                </a:solidFill>
                <a:latin typeface="Franklin Gothic Book" panose="020B0503020102020204" pitchFamily="34" charset="0"/>
              </a:rPr>
              <a:t> </a:t>
            </a:r>
          </a:p>
          <a:p>
            <a:r>
              <a:rPr lang="ru-RU" sz="1400" b="0" kern="0" spc="150" dirty="0">
                <a:solidFill>
                  <a:schemeClr val="bg1"/>
                </a:solidFill>
                <a:latin typeface="Franklin Gothic Book" panose="020B0503020102020204" pitchFamily="34" charset="0"/>
              </a:rPr>
              <a:t>Наталья Владимировна </a:t>
            </a:r>
          </a:p>
        </p:txBody>
      </p:sp>
      <p:sp>
        <p:nvSpPr>
          <p:cNvPr id="14" name="TextBox 13">
            <a:extLst>
              <a:ext uri="{FF2B5EF4-FFF2-40B4-BE49-F238E27FC236}">
                <a16:creationId xmlns:a16="http://schemas.microsoft.com/office/drawing/2014/main" id="{5EBC6A40-9D88-44E0-8A2D-D8F2D63AADB4}"/>
              </a:ext>
            </a:extLst>
          </p:cNvPr>
          <p:cNvSpPr txBox="1"/>
          <p:nvPr/>
        </p:nvSpPr>
        <p:spPr>
          <a:xfrm>
            <a:off x="210456" y="1991263"/>
            <a:ext cx="4064004" cy="276999"/>
          </a:xfrm>
          <a:prstGeom prst="rect">
            <a:avLst/>
          </a:prstGeom>
          <a:noFill/>
        </p:spPr>
        <p:txBody>
          <a:bodyPr wrap="square">
            <a:spAutoFit/>
          </a:bodyPr>
          <a:lstStyle/>
          <a:p>
            <a:pPr algn="l">
              <a:spcBef>
                <a:spcPts val="1200"/>
              </a:spcBef>
            </a:pPr>
            <a:r>
              <a:rPr lang="ru-RU" sz="1200" b="0" kern="0" spc="150" dirty="0">
                <a:solidFill>
                  <a:schemeClr val="bg1"/>
                </a:solidFill>
              </a:rPr>
              <a:t>к.т.н., доцент</a:t>
            </a:r>
          </a:p>
        </p:txBody>
      </p:sp>
    </p:spTree>
    <p:extLst>
      <p:ext uri="{BB962C8B-B14F-4D97-AF65-F5344CB8AC3E}">
        <p14:creationId xmlns:p14="http://schemas.microsoft.com/office/powerpoint/2010/main" val="39031387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8446E952-B6D0-4D1C-B5A8-E177ACDB6A66}"/>
              </a:ext>
            </a:extLst>
          </p:cNvPr>
          <p:cNvSpPr>
            <a:spLocks noGrp="1"/>
          </p:cNvSpPr>
          <p:nvPr>
            <p:ph type="subTitle" idx="1"/>
          </p:nvPr>
        </p:nvSpPr>
        <p:spPr/>
        <p:txBody>
          <a:bodyPr/>
          <a:lstStyle/>
          <a:p>
            <a:r>
              <a:rPr lang="en-US" dirty="0"/>
              <a:t>BPMN. </a:t>
            </a:r>
            <a:r>
              <a:rPr lang="ru-RU" dirty="0"/>
              <a:t>Диаграмма взаимодействия</a:t>
            </a:r>
          </a:p>
          <a:p>
            <a:endParaRPr lang="ru-RU" dirty="0"/>
          </a:p>
        </p:txBody>
      </p:sp>
      <p:sp>
        <p:nvSpPr>
          <p:cNvPr id="4" name="Прямоугольник 3">
            <a:extLst>
              <a:ext uri="{FF2B5EF4-FFF2-40B4-BE49-F238E27FC236}">
                <a16:creationId xmlns:a16="http://schemas.microsoft.com/office/drawing/2014/main" id="{5DC22856-504F-42E6-85C9-DEA6F2FFCC7C}"/>
              </a:ext>
            </a:extLst>
          </p:cNvPr>
          <p:cNvSpPr/>
          <p:nvPr/>
        </p:nvSpPr>
        <p:spPr>
          <a:xfrm>
            <a:off x="6393501" y="2265060"/>
            <a:ext cx="2553195" cy="3108543"/>
          </a:xfrm>
          <a:prstGeom prst="rect">
            <a:avLst/>
          </a:prstGeom>
        </p:spPr>
        <p:txBody>
          <a:bodyPr wrap="square">
            <a:spAutoFit/>
          </a:bodyPr>
          <a:lstStyle/>
          <a:p>
            <a:pPr algn="just"/>
            <a:r>
              <a:rPr lang="ru-RU" sz="1400" dirty="0">
                <a:solidFill>
                  <a:schemeClr val="bg1"/>
                </a:solidFill>
                <a:latin typeface="Franklin Gothic Book" panose="020B0503020102020204" pitchFamily="34" charset="0"/>
              </a:rPr>
              <a:t>Стрелка используется для отображения </a:t>
            </a:r>
            <a:r>
              <a:rPr lang="ru-RU" sz="1400" dirty="0" err="1">
                <a:solidFill>
                  <a:schemeClr val="bg1"/>
                </a:solidFill>
                <a:latin typeface="Franklin Gothic Book" panose="020B0503020102020204" pitchFamily="34" charset="0"/>
              </a:rPr>
              <a:t>межпроцессного</a:t>
            </a:r>
            <a:r>
              <a:rPr lang="ru-RU" sz="1400" dirty="0">
                <a:solidFill>
                  <a:schemeClr val="bg1"/>
                </a:solidFill>
                <a:latin typeface="Franklin Gothic Book" panose="020B0503020102020204" pitchFamily="34" charset="0"/>
              </a:rPr>
              <a:t> взаимодействия - для связи элементов потока со свернутыми пулами. При необходимости поток может быть именованным.</a:t>
            </a:r>
          </a:p>
          <a:p>
            <a:pPr algn="just"/>
            <a:r>
              <a:rPr lang="ru-RU" sz="1400" dirty="0">
                <a:solidFill>
                  <a:schemeClr val="bg1"/>
                </a:solidFill>
                <a:latin typeface="Franklin Gothic Book" panose="020B0503020102020204" pitchFamily="34" charset="0"/>
              </a:rPr>
              <a:t>Поток сообщений не отображает ход выполнения процесса, а показывает передачу сообщений или объектов из одного процесса в другой процесс или внешнюю ссылку</a:t>
            </a:r>
          </a:p>
        </p:txBody>
      </p:sp>
      <p:pic>
        <p:nvPicPr>
          <p:cNvPr id="2050" name="Picture 2">
            <a:extLst>
              <a:ext uri="{FF2B5EF4-FFF2-40B4-BE49-F238E27FC236}">
                <a16:creationId xmlns:a16="http://schemas.microsoft.com/office/drawing/2014/main" id="{2FD16254-6D2C-461C-9DC4-F868C58BA9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7118" y="1312265"/>
            <a:ext cx="1333500" cy="533054"/>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a:extLst>
              <a:ext uri="{FF2B5EF4-FFF2-40B4-BE49-F238E27FC236}">
                <a16:creationId xmlns:a16="http://schemas.microsoft.com/office/drawing/2014/main" id="{DDB34159-D323-4197-88DE-5C9E6A1E55ED}"/>
              </a:ext>
            </a:extLst>
          </p:cNvPr>
          <p:cNvSpPr/>
          <p:nvPr/>
        </p:nvSpPr>
        <p:spPr>
          <a:xfrm>
            <a:off x="197304" y="1008091"/>
            <a:ext cx="5664778" cy="2462213"/>
          </a:xfrm>
          <a:prstGeom prst="rect">
            <a:avLst/>
          </a:prstGeom>
        </p:spPr>
        <p:txBody>
          <a:bodyPr wrap="square">
            <a:spAutoFit/>
          </a:bodyPr>
          <a:lstStyle/>
          <a:p>
            <a:pPr algn="just"/>
            <a:r>
              <a:rPr lang="ru-RU" sz="1100" dirty="0"/>
              <a:t>- поток сообщений представляет механизм запуска процесса: Поток сообщений 1 выходит из внешнего процесса (или внешней ссылки) и входит в стартовое Событие 1. В качестве события может выступать и промежуточное событие-обработчик, но в этом случае поток сообщений будет инициировать лишь возникновение события, а не запуск процесса;</a:t>
            </a:r>
          </a:p>
          <a:p>
            <a:pPr algn="just"/>
            <a:r>
              <a:rPr lang="ru-RU" sz="1100" dirty="0"/>
              <a:t>- поток сообщений используется для передачи сообщений или объектов из внешнего процесса (или внешней ссылки) в один из процессов рассматриваемого процесса: Поток сообщений 2 выходит из Процесса 2 и входит в Задачу 1;</a:t>
            </a:r>
          </a:p>
          <a:p>
            <a:pPr algn="just"/>
            <a:r>
              <a:rPr lang="ru-RU" sz="1100" dirty="0"/>
              <a:t>- поток сообщений используется для передачи сообщений или объектов из одного процесса рассматриваемого процесса во внешний процесс (или внешнюю ссылку): Поток сообщений 3 выходит из Задачи 2 и входит во внешний процесс (или внешнюю ссылку);</a:t>
            </a:r>
          </a:p>
          <a:p>
            <a:pPr algn="just"/>
            <a:r>
              <a:rPr lang="ru-RU" sz="1100" dirty="0"/>
              <a:t>- передача сообщения (или объекта) во внешний процесс (или внешнюю ссылку) инициируется конечным событием: Поток сообщений 4 выходит из конечного События 2 и входит во внешний процесс (или внешнюю ссылку). В качестве события может выступать и промежуточное событие-инициатор.</a:t>
            </a:r>
          </a:p>
        </p:txBody>
      </p:sp>
      <p:pic>
        <p:nvPicPr>
          <p:cNvPr id="2052" name="Picture 4">
            <a:extLst>
              <a:ext uri="{FF2B5EF4-FFF2-40B4-BE49-F238E27FC236}">
                <a16:creationId xmlns:a16="http://schemas.microsoft.com/office/drawing/2014/main" id="{FD9ED154-22A3-4AA5-834B-B585193775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1330" y="3597660"/>
            <a:ext cx="4276725" cy="30575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0106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8446E952-B6D0-4D1C-B5A8-E177ACDB6A66}"/>
              </a:ext>
            </a:extLst>
          </p:cNvPr>
          <p:cNvSpPr>
            <a:spLocks noGrp="1"/>
          </p:cNvSpPr>
          <p:nvPr>
            <p:ph type="subTitle" idx="1"/>
          </p:nvPr>
        </p:nvSpPr>
        <p:spPr/>
        <p:txBody>
          <a:bodyPr/>
          <a:lstStyle/>
          <a:p>
            <a:r>
              <a:rPr lang="en-US" dirty="0"/>
              <a:t>BPMN. </a:t>
            </a:r>
            <a:r>
              <a:rPr lang="ru-RU" dirty="0"/>
              <a:t>Диаграмма взаимодействия</a:t>
            </a:r>
          </a:p>
          <a:p>
            <a:endParaRPr lang="ru-RU" dirty="0"/>
          </a:p>
        </p:txBody>
      </p:sp>
      <p:sp>
        <p:nvSpPr>
          <p:cNvPr id="4" name="Прямоугольник 3">
            <a:extLst>
              <a:ext uri="{FF2B5EF4-FFF2-40B4-BE49-F238E27FC236}">
                <a16:creationId xmlns:a16="http://schemas.microsoft.com/office/drawing/2014/main" id="{5DC22856-504F-42E6-85C9-DEA6F2FFCC7C}"/>
              </a:ext>
            </a:extLst>
          </p:cNvPr>
          <p:cNvSpPr/>
          <p:nvPr/>
        </p:nvSpPr>
        <p:spPr>
          <a:xfrm>
            <a:off x="6393501" y="2265060"/>
            <a:ext cx="2553195" cy="3108543"/>
          </a:xfrm>
          <a:prstGeom prst="rect">
            <a:avLst/>
          </a:prstGeom>
        </p:spPr>
        <p:txBody>
          <a:bodyPr wrap="square">
            <a:spAutoFit/>
          </a:bodyPr>
          <a:lstStyle/>
          <a:p>
            <a:pPr algn="just"/>
            <a:r>
              <a:rPr lang="ru-RU" sz="1400" dirty="0">
                <a:solidFill>
                  <a:schemeClr val="bg1"/>
                </a:solidFill>
                <a:latin typeface="Franklin Gothic Book" panose="020B0503020102020204" pitchFamily="34" charset="0"/>
              </a:rPr>
              <a:t>Стрелка используется для отображения </a:t>
            </a:r>
            <a:r>
              <a:rPr lang="ru-RU" sz="1400" dirty="0" err="1">
                <a:solidFill>
                  <a:schemeClr val="bg1"/>
                </a:solidFill>
                <a:latin typeface="Franklin Gothic Book" panose="020B0503020102020204" pitchFamily="34" charset="0"/>
              </a:rPr>
              <a:t>межпроцессного</a:t>
            </a:r>
            <a:r>
              <a:rPr lang="ru-RU" sz="1400" dirty="0">
                <a:solidFill>
                  <a:schemeClr val="bg1"/>
                </a:solidFill>
                <a:latin typeface="Franklin Gothic Book" panose="020B0503020102020204" pitchFamily="34" charset="0"/>
              </a:rPr>
              <a:t> взаимодействия - для связи элементов потока со свернутыми пулами. При необходимости поток может быть именованным.</a:t>
            </a:r>
          </a:p>
          <a:p>
            <a:pPr algn="just"/>
            <a:r>
              <a:rPr lang="ru-RU" sz="1400" dirty="0">
                <a:solidFill>
                  <a:schemeClr val="bg1"/>
                </a:solidFill>
                <a:latin typeface="Franklin Gothic Book" panose="020B0503020102020204" pitchFamily="34" charset="0"/>
              </a:rPr>
              <a:t>Поток сообщений не отображает ход выполнения процесса, а показывает передачу сообщений или объектов из одного процесса в другой процесс или внешнюю ссылку</a:t>
            </a:r>
          </a:p>
        </p:txBody>
      </p:sp>
      <p:pic>
        <p:nvPicPr>
          <p:cNvPr id="2050" name="Picture 2">
            <a:extLst>
              <a:ext uri="{FF2B5EF4-FFF2-40B4-BE49-F238E27FC236}">
                <a16:creationId xmlns:a16="http://schemas.microsoft.com/office/drawing/2014/main" id="{2FD16254-6D2C-461C-9DC4-F868C58BA9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7118" y="1312265"/>
            <a:ext cx="1333500" cy="533054"/>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a:extLst>
              <a:ext uri="{FF2B5EF4-FFF2-40B4-BE49-F238E27FC236}">
                <a16:creationId xmlns:a16="http://schemas.microsoft.com/office/drawing/2014/main" id="{EF0764ED-3CB3-4B4B-9B63-33E62A8AE673}"/>
              </a:ext>
            </a:extLst>
          </p:cNvPr>
          <p:cNvSpPr/>
          <p:nvPr/>
        </p:nvSpPr>
        <p:spPr>
          <a:xfrm>
            <a:off x="3156115" y="1087928"/>
            <a:ext cx="2831770" cy="1754326"/>
          </a:xfrm>
          <a:prstGeom prst="rect">
            <a:avLst/>
          </a:prstGeom>
        </p:spPr>
        <p:txBody>
          <a:bodyPr wrap="square">
            <a:spAutoFit/>
          </a:bodyPr>
          <a:lstStyle/>
          <a:p>
            <a:pPr algn="just"/>
            <a:r>
              <a:rPr lang="ru-RU" sz="1200" dirty="0">
                <a:latin typeface="Franklin Gothic Book" panose="020B0503020102020204" pitchFamily="34" charset="0"/>
              </a:rPr>
              <a:t>Подобно ассоциации, связанной с потоком управления, объекты данных можно присоединять ассоциацией к потокам сообщений. При этом также будет создано две связи: связь процесса с объектом данных и связь объекта данных с процессом. Выбрать тип соответствующей связи также будет предложено последовательно</a:t>
            </a:r>
          </a:p>
        </p:txBody>
      </p:sp>
      <p:pic>
        <p:nvPicPr>
          <p:cNvPr id="8" name="Рисунок 7">
            <a:extLst>
              <a:ext uri="{FF2B5EF4-FFF2-40B4-BE49-F238E27FC236}">
                <a16:creationId xmlns:a16="http://schemas.microsoft.com/office/drawing/2014/main" id="{7BA4210C-80BD-4A4F-AC31-C03A69DF79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306" y="1022572"/>
            <a:ext cx="2467788" cy="2057558"/>
          </a:xfrm>
          <a:prstGeom prst="rect">
            <a:avLst/>
          </a:prstGeom>
        </p:spPr>
      </p:pic>
      <p:pic>
        <p:nvPicPr>
          <p:cNvPr id="10" name="Рисунок 9">
            <a:extLst>
              <a:ext uri="{FF2B5EF4-FFF2-40B4-BE49-F238E27FC236}">
                <a16:creationId xmlns:a16="http://schemas.microsoft.com/office/drawing/2014/main" id="{EAF8062D-D203-4D25-A4CB-08FB899163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6305" y="3419514"/>
            <a:ext cx="3623803" cy="3190031"/>
          </a:xfrm>
          <a:prstGeom prst="rect">
            <a:avLst/>
          </a:prstGeom>
        </p:spPr>
      </p:pic>
      <p:sp>
        <p:nvSpPr>
          <p:cNvPr id="11" name="Прямоугольник 10">
            <a:extLst>
              <a:ext uri="{FF2B5EF4-FFF2-40B4-BE49-F238E27FC236}">
                <a16:creationId xmlns:a16="http://schemas.microsoft.com/office/drawing/2014/main" id="{4DDB3402-4010-47E9-B55E-1722471923B7}"/>
              </a:ext>
            </a:extLst>
          </p:cNvPr>
          <p:cNvSpPr/>
          <p:nvPr/>
        </p:nvSpPr>
        <p:spPr>
          <a:xfrm>
            <a:off x="4205695" y="3819331"/>
            <a:ext cx="1782190" cy="1938992"/>
          </a:xfrm>
          <a:prstGeom prst="rect">
            <a:avLst/>
          </a:prstGeom>
        </p:spPr>
        <p:txBody>
          <a:bodyPr wrap="square">
            <a:spAutoFit/>
          </a:bodyPr>
          <a:lstStyle/>
          <a:p>
            <a:pPr algn="just"/>
            <a:r>
              <a:rPr lang="ru-RU" sz="1200" dirty="0">
                <a:solidFill>
                  <a:srgbClr val="333333"/>
                </a:solidFill>
                <a:latin typeface="Franklin Gothic Book" panose="020B0503020102020204" pitchFamily="34" charset="0"/>
              </a:rPr>
              <a:t>На рисунке</a:t>
            </a:r>
            <a:r>
              <a:rPr lang="ru-RU" sz="1200" i="1" dirty="0">
                <a:solidFill>
                  <a:srgbClr val="333333"/>
                </a:solidFill>
                <a:latin typeface="Franklin Gothic Book" panose="020B0503020102020204" pitchFamily="34" charset="0"/>
              </a:rPr>
              <a:t> </a:t>
            </a:r>
            <a:r>
              <a:rPr lang="ru-RU" sz="1200" dirty="0">
                <a:solidFill>
                  <a:srgbClr val="333333"/>
                </a:solidFill>
                <a:latin typeface="Franklin Gothic Book" panose="020B0503020102020204" pitchFamily="34" charset="0"/>
              </a:rPr>
              <a:t>показано, что сдаточная документация поступает в процесс "Организация итогового собрания по проекту" из процесса "Внесение сдаточной документации в папку проекта".</a:t>
            </a:r>
            <a:endParaRPr lang="ru-RU" sz="1200" dirty="0">
              <a:latin typeface="Franklin Gothic Book" panose="020B0503020102020204" pitchFamily="34" charset="0"/>
            </a:endParaRPr>
          </a:p>
        </p:txBody>
      </p:sp>
    </p:spTree>
    <p:extLst>
      <p:ext uri="{BB962C8B-B14F-4D97-AF65-F5344CB8AC3E}">
        <p14:creationId xmlns:p14="http://schemas.microsoft.com/office/powerpoint/2010/main" val="285039038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a:extLst>
              <a:ext uri="{FF2B5EF4-FFF2-40B4-BE49-F238E27FC236}">
                <a16:creationId xmlns:a16="http://schemas.microsoft.com/office/drawing/2014/main" id="{3BF5005C-2B47-4EBC-812F-4CD5AA85A624}"/>
              </a:ext>
            </a:extLst>
          </p:cNvPr>
          <p:cNvSpPr>
            <a:spLocks noGrp="1"/>
          </p:cNvSpPr>
          <p:nvPr>
            <p:ph type="subTitle" idx="1"/>
          </p:nvPr>
        </p:nvSpPr>
        <p:spPr/>
        <p:txBody>
          <a:bodyPr/>
          <a:lstStyle/>
          <a:p>
            <a:r>
              <a:rPr lang="en-US" dirty="0"/>
              <a:t>BPMN. </a:t>
            </a:r>
            <a:r>
              <a:rPr lang="ru-RU" dirty="0"/>
              <a:t>Диаграмма взаимодействия</a:t>
            </a:r>
          </a:p>
          <a:p>
            <a:endParaRPr lang="ru-RU" dirty="0"/>
          </a:p>
        </p:txBody>
      </p:sp>
      <p:pic>
        <p:nvPicPr>
          <p:cNvPr id="5" name="Рисунок 4">
            <a:extLst>
              <a:ext uri="{FF2B5EF4-FFF2-40B4-BE49-F238E27FC236}">
                <a16:creationId xmlns:a16="http://schemas.microsoft.com/office/drawing/2014/main" id="{CF3D44CD-FC5B-4617-8AAF-EA9B715F78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9490" y="1169568"/>
            <a:ext cx="3666667" cy="2523809"/>
          </a:xfrm>
          <a:prstGeom prst="rect">
            <a:avLst/>
          </a:prstGeom>
          <a:ln>
            <a:noFill/>
          </a:ln>
          <a:effectLst>
            <a:outerShdw blurRad="292100" dist="139700" dir="2700000" algn="tl" rotWithShape="0">
              <a:srgbClr val="333333">
                <a:alpha val="65000"/>
              </a:srgbClr>
            </a:outerShdw>
          </a:effectLst>
        </p:spPr>
      </p:pic>
      <p:pic>
        <p:nvPicPr>
          <p:cNvPr id="7" name="Рисунок 6">
            <a:extLst>
              <a:ext uri="{FF2B5EF4-FFF2-40B4-BE49-F238E27FC236}">
                <a16:creationId xmlns:a16="http://schemas.microsoft.com/office/drawing/2014/main" id="{8D100EF9-4280-49FB-9BAC-9EF2497B68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5736" y="4106732"/>
            <a:ext cx="3666667" cy="2523809"/>
          </a:xfrm>
          <a:prstGeom prst="rect">
            <a:avLst/>
          </a:prstGeom>
          <a:ln>
            <a:noFill/>
          </a:ln>
          <a:effectLst>
            <a:outerShdw blurRad="292100" dist="139700" dir="2700000" algn="tl" rotWithShape="0">
              <a:srgbClr val="333333">
                <a:alpha val="65000"/>
              </a:srgbClr>
            </a:outerShdw>
          </a:effectLst>
        </p:spPr>
      </p:pic>
      <p:sp>
        <p:nvSpPr>
          <p:cNvPr id="8" name="Прямоугольник 7">
            <a:extLst>
              <a:ext uri="{FF2B5EF4-FFF2-40B4-BE49-F238E27FC236}">
                <a16:creationId xmlns:a16="http://schemas.microsoft.com/office/drawing/2014/main" id="{5B15014C-79E6-437D-A071-60DA30AEC18C}"/>
              </a:ext>
            </a:extLst>
          </p:cNvPr>
          <p:cNvSpPr/>
          <p:nvPr/>
        </p:nvSpPr>
        <p:spPr>
          <a:xfrm>
            <a:off x="6454193" y="1571226"/>
            <a:ext cx="2360634" cy="1384995"/>
          </a:xfrm>
          <a:prstGeom prst="rect">
            <a:avLst/>
          </a:prstGeom>
        </p:spPr>
        <p:txBody>
          <a:bodyPr wrap="square">
            <a:spAutoFit/>
          </a:bodyPr>
          <a:lstStyle/>
          <a:p>
            <a:pPr algn="just"/>
            <a:r>
              <a:rPr lang="ru-RU" sz="1400" dirty="0">
                <a:solidFill>
                  <a:schemeClr val="bg1"/>
                </a:solidFill>
                <a:latin typeface="Franklin Gothic Book" panose="020B0503020102020204" pitchFamily="34" charset="0"/>
              </a:rPr>
              <a:t>На диаграмме Процесса 1</a:t>
            </a:r>
            <a:r>
              <a:rPr lang="ru-RU" sz="1400" i="1" dirty="0">
                <a:solidFill>
                  <a:schemeClr val="bg1"/>
                </a:solidFill>
                <a:latin typeface="Franklin Gothic Book" panose="020B0503020102020204" pitchFamily="34" charset="0"/>
              </a:rPr>
              <a:t> </a:t>
            </a:r>
            <a:r>
              <a:rPr lang="ru-RU" sz="1400" dirty="0">
                <a:solidFill>
                  <a:schemeClr val="bg1"/>
                </a:solidFill>
                <a:latin typeface="Franklin Gothic Book" panose="020B0503020102020204" pitchFamily="34" charset="0"/>
              </a:rPr>
              <a:t> показано, что после окончания Процесса 1 Событие 2 инициирует отправку сообщения в Процесс 2.</a:t>
            </a:r>
          </a:p>
        </p:txBody>
      </p:sp>
      <p:sp>
        <p:nvSpPr>
          <p:cNvPr id="9" name="Стрелка: вниз 8">
            <a:extLst>
              <a:ext uri="{FF2B5EF4-FFF2-40B4-BE49-F238E27FC236}">
                <a16:creationId xmlns:a16="http://schemas.microsoft.com/office/drawing/2014/main" id="{B52EB298-A13D-4F80-ABA8-CE37F366070D}"/>
              </a:ext>
            </a:extLst>
          </p:cNvPr>
          <p:cNvSpPr/>
          <p:nvPr/>
        </p:nvSpPr>
        <p:spPr>
          <a:xfrm rot="5400000">
            <a:off x="5576351" y="1706400"/>
            <a:ext cx="672728" cy="777416"/>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ru-RU"/>
          </a:p>
        </p:txBody>
      </p:sp>
      <p:sp>
        <p:nvSpPr>
          <p:cNvPr id="10" name="Стрелка: вниз 9">
            <a:extLst>
              <a:ext uri="{FF2B5EF4-FFF2-40B4-BE49-F238E27FC236}">
                <a16:creationId xmlns:a16="http://schemas.microsoft.com/office/drawing/2014/main" id="{BEF236FF-512D-4A63-9871-2BFA57D23D45}"/>
              </a:ext>
            </a:extLst>
          </p:cNvPr>
          <p:cNvSpPr/>
          <p:nvPr/>
        </p:nvSpPr>
        <p:spPr>
          <a:xfrm rot="5400000">
            <a:off x="5576351" y="4837527"/>
            <a:ext cx="672728" cy="777416"/>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ru-RU"/>
          </a:p>
        </p:txBody>
      </p:sp>
      <p:sp>
        <p:nvSpPr>
          <p:cNvPr id="11" name="Прямоугольник 10">
            <a:extLst>
              <a:ext uri="{FF2B5EF4-FFF2-40B4-BE49-F238E27FC236}">
                <a16:creationId xmlns:a16="http://schemas.microsoft.com/office/drawing/2014/main" id="{CA61BC3C-F5B5-4D24-AC6F-9E2B7A22CD63}"/>
              </a:ext>
            </a:extLst>
          </p:cNvPr>
          <p:cNvSpPr/>
          <p:nvPr/>
        </p:nvSpPr>
        <p:spPr>
          <a:xfrm>
            <a:off x="6571589" y="4432153"/>
            <a:ext cx="2360634" cy="1384995"/>
          </a:xfrm>
          <a:prstGeom prst="rect">
            <a:avLst/>
          </a:prstGeom>
        </p:spPr>
        <p:txBody>
          <a:bodyPr wrap="square">
            <a:spAutoFit/>
          </a:bodyPr>
          <a:lstStyle/>
          <a:p>
            <a:pPr algn="just"/>
            <a:r>
              <a:rPr lang="ru-RU" sz="1400" dirty="0">
                <a:solidFill>
                  <a:schemeClr val="bg1"/>
                </a:solidFill>
                <a:latin typeface="Franklin Gothic Book" panose="020B0503020102020204" pitchFamily="34" charset="0"/>
              </a:rPr>
              <a:t>На диаграмме Процесса 2 показано, что поток сообщений, поступающий из Процесса 1, инициирует Событие 2, запускающее выполнение Процесса 2.</a:t>
            </a:r>
          </a:p>
        </p:txBody>
      </p:sp>
    </p:spTree>
    <p:extLst>
      <p:ext uri="{BB962C8B-B14F-4D97-AF65-F5344CB8AC3E}">
        <p14:creationId xmlns:p14="http://schemas.microsoft.com/office/powerpoint/2010/main" val="30213967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одзаголовок 4">
            <a:extLst>
              <a:ext uri="{FF2B5EF4-FFF2-40B4-BE49-F238E27FC236}">
                <a16:creationId xmlns:a16="http://schemas.microsoft.com/office/drawing/2014/main" id="{F2EEF815-2ADB-465A-9C0C-5621C7C132A9}"/>
              </a:ext>
            </a:extLst>
          </p:cNvPr>
          <p:cNvSpPr>
            <a:spLocks noGrp="1"/>
          </p:cNvSpPr>
          <p:nvPr>
            <p:ph type="subTitle" idx="1"/>
          </p:nvPr>
        </p:nvSpPr>
        <p:spPr/>
        <p:txBody>
          <a:bodyPr/>
          <a:lstStyle/>
          <a:p>
            <a:r>
              <a:rPr lang="en-US" dirty="0"/>
              <a:t>BPMN. </a:t>
            </a:r>
            <a:r>
              <a:rPr lang="ru-RU" dirty="0"/>
              <a:t>Диаграмма взаимодействия</a:t>
            </a:r>
          </a:p>
          <a:p>
            <a:endParaRPr lang="ru-RU" dirty="0"/>
          </a:p>
        </p:txBody>
      </p:sp>
      <p:pic>
        <p:nvPicPr>
          <p:cNvPr id="6" name="Рисунок 5">
            <a:extLst>
              <a:ext uri="{FF2B5EF4-FFF2-40B4-BE49-F238E27FC236}">
                <a16:creationId xmlns:a16="http://schemas.microsoft.com/office/drawing/2014/main" id="{D2AB19B2-428C-4E98-8AEE-28AB5EC90ECB}"/>
              </a:ext>
            </a:extLst>
          </p:cNvPr>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18176"/>
          <a:stretch/>
        </p:blipFill>
        <p:spPr>
          <a:xfrm>
            <a:off x="112486" y="1022572"/>
            <a:ext cx="6300470" cy="5835428"/>
          </a:xfrm>
          <a:prstGeom prst="rect">
            <a:avLst/>
          </a:prstGeom>
        </p:spPr>
      </p:pic>
      <p:sp>
        <p:nvSpPr>
          <p:cNvPr id="3" name="Прямоугольник 2">
            <a:extLst>
              <a:ext uri="{FF2B5EF4-FFF2-40B4-BE49-F238E27FC236}">
                <a16:creationId xmlns:a16="http://schemas.microsoft.com/office/drawing/2014/main" id="{8B620121-D6DB-4C9E-B5FF-196B0092D7B6}"/>
              </a:ext>
            </a:extLst>
          </p:cNvPr>
          <p:cNvSpPr/>
          <p:nvPr/>
        </p:nvSpPr>
        <p:spPr>
          <a:xfrm>
            <a:off x="6720114" y="1257115"/>
            <a:ext cx="2131786" cy="5047536"/>
          </a:xfrm>
          <a:prstGeom prst="rect">
            <a:avLst/>
          </a:prstGeom>
        </p:spPr>
        <p:txBody>
          <a:bodyPr wrap="square">
            <a:spAutoFit/>
          </a:bodyPr>
          <a:lstStyle/>
          <a:p>
            <a:pPr algn="just"/>
            <a:r>
              <a:rPr lang="ru-RU" sz="1400" b="1" dirty="0">
                <a:solidFill>
                  <a:schemeClr val="bg1"/>
                </a:solidFill>
                <a:latin typeface="Franklin Gothic Book" panose="020B0503020102020204" pitchFamily="34" charset="0"/>
              </a:rPr>
              <a:t>ПРИМЕР</a:t>
            </a:r>
            <a:r>
              <a:rPr lang="ru-RU" sz="1400" dirty="0">
                <a:solidFill>
                  <a:schemeClr val="bg1"/>
                </a:solidFill>
                <a:latin typeface="Franklin Gothic Book" panose="020B0503020102020204" pitchFamily="34" charset="0"/>
              </a:rPr>
              <a:t>. Процесс инициируется стартовым событием, которое срабатывает при поступлении сообщения от Клиента. Далее Менеджер выполняет задачу «Получить описание проблемы». При этом он «отправляет» в сторону Клиента уточняющие вопросы, а в ответ получает более детальное описание проблемы. Затем Менеджер принимает решение, может ли он самостоятельно справиться с проблемой клиента? Если да, то он объясняет решение Клиенту и процесс завершается.</a:t>
            </a:r>
          </a:p>
        </p:txBody>
      </p:sp>
    </p:spTree>
    <p:extLst>
      <p:ext uri="{BB962C8B-B14F-4D97-AF65-F5344CB8AC3E}">
        <p14:creationId xmlns:p14="http://schemas.microsoft.com/office/powerpoint/2010/main" val="24855049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a:t>ОСНОВНЫЕ ЭЛЕМЕНТЫ</a:t>
            </a:r>
          </a:p>
        </p:txBody>
      </p:sp>
      <p:sp>
        <p:nvSpPr>
          <p:cNvPr id="3" name="Подзаголовок 2"/>
          <p:cNvSpPr>
            <a:spLocks noGrp="1"/>
          </p:cNvSpPr>
          <p:nvPr>
            <p:ph type="subTitle" idx="1"/>
          </p:nvPr>
        </p:nvSpPr>
        <p:spPr/>
        <p:txBody>
          <a:bodyPr/>
          <a:lstStyle/>
          <a:p>
            <a:r>
              <a:rPr lang="en-US" dirty="0"/>
              <a:t>BPMN 2.0</a:t>
            </a:r>
            <a:endParaRPr lang="ru-RU" dirty="0"/>
          </a:p>
        </p:txBody>
      </p:sp>
      <p:sp>
        <p:nvSpPr>
          <p:cNvPr id="4" name="Прямоугольник 3"/>
          <p:cNvSpPr/>
          <p:nvPr/>
        </p:nvSpPr>
        <p:spPr>
          <a:xfrm>
            <a:off x="332014" y="1058351"/>
            <a:ext cx="3361787" cy="923330"/>
          </a:xfrm>
          <a:prstGeom prst="rect">
            <a:avLst/>
          </a:prstGeom>
        </p:spPr>
        <p:txBody>
          <a:bodyPr wrap="square">
            <a:spAutoFit/>
          </a:bodyPr>
          <a:lstStyle/>
          <a:p>
            <a:r>
              <a:rPr lang="ru-RU" dirty="0">
                <a:solidFill>
                  <a:schemeClr val="bg1"/>
                </a:solidFill>
                <a:latin typeface="Franklin Gothic Book" panose="020B0503020102020204" pitchFamily="34" charset="0"/>
              </a:rPr>
              <a:t>Существуют пять основных категорий элементов:</a:t>
            </a:r>
          </a:p>
          <a:p>
            <a:endParaRPr lang="ru-RU" dirty="0">
              <a:solidFill>
                <a:schemeClr val="accent2"/>
              </a:solidFill>
              <a:latin typeface="Franklin Gothic Book" panose="020B0503020102020204" pitchFamily="34" charset="0"/>
            </a:endParaRPr>
          </a:p>
        </p:txBody>
      </p:sp>
      <p:graphicFrame>
        <p:nvGraphicFramePr>
          <p:cNvPr id="5" name="Таблица 4"/>
          <p:cNvGraphicFramePr>
            <a:graphicFrameLocks noGrp="1"/>
          </p:cNvGraphicFramePr>
          <p:nvPr/>
        </p:nvGraphicFramePr>
        <p:xfrm>
          <a:off x="332014" y="1945238"/>
          <a:ext cx="3194957" cy="2541833"/>
        </p:xfrm>
        <a:graphic>
          <a:graphicData uri="http://schemas.openxmlformats.org/drawingml/2006/table">
            <a:tbl>
              <a:tblPr firstRow="1" bandRow="1">
                <a:tableStyleId>{2D5ABB26-0587-4C30-8999-92F81FD0307C}</a:tableStyleId>
              </a:tblPr>
              <a:tblGrid>
                <a:gridCol w="3194957">
                  <a:extLst>
                    <a:ext uri="{9D8B030D-6E8A-4147-A177-3AD203B41FA5}">
                      <a16:colId xmlns:a16="http://schemas.microsoft.com/office/drawing/2014/main" val="3369375243"/>
                    </a:ext>
                  </a:extLst>
                </a:gridCol>
              </a:tblGrid>
              <a:tr h="39807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a:solidFill>
                            <a:srgbClr val="96DA1C"/>
                          </a:solidFill>
                          <a:latin typeface="Franklin Gothic Book" panose="020B0503020102020204" pitchFamily="34" charset="0"/>
                        </a:rPr>
                        <a:t>Элементы потока (</a:t>
                      </a:r>
                      <a:r>
                        <a:rPr lang="en-US" sz="1600" dirty="0">
                          <a:solidFill>
                            <a:srgbClr val="96DA1C"/>
                          </a:solidFill>
                          <a:latin typeface="Franklin Gothic Book" panose="020B0503020102020204" pitchFamily="34" charset="0"/>
                        </a:rPr>
                        <a:t>Flow Objects)</a:t>
                      </a:r>
                      <a:endParaRPr lang="ru-RU" sz="1600" dirty="0">
                        <a:ln>
                          <a:solidFill>
                            <a:schemeClr val="bg1"/>
                          </a:solidFill>
                        </a:ln>
                        <a:solidFill>
                          <a:srgbClr val="96DA1C"/>
                        </a:solidFill>
                        <a:latin typeface="Franklin Gothic Book" panose="020B0503020102020204" pitchFamily="34" charset="0"/>
                      </a:endParaRPr>
                    </a:p>
                  </a:txBody>
                  <a:tcPr>
                    <a:lnL w="12700" cap="flat" cmpd="sng" algn="ctr">
                      <a:noFill/>
                      <a:prstDash val="solid"/>
                      <a:round/>
                      <a:headEnd type="none" w="med" len="med"/>
                      <a:tailEnd type="none" w="med" len="med"/>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05925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a:solidFill>
                            <a:schemeClr val="bg1"/>
                          </a:solidFill>
                          <a:latin typeface="Franklin Gothic Book" panose="020B0503020102020204" pitchFamily="34" charset="0"/>
                        </a:rPr>
                        <a:t>Данные (</a:t>
                      </a:r>
                      <a:r>
                        <a:rPr lang="en-US" sz="1600" dirty="0">
                          <a:solidFill>
                            <a:schemeClr val="bg1"/>
                          </a:solidFill>
                          <a:latin typeface="Franklin Gothic Book" panose="020B0503020102020204" pitchFamily="34" charset="0"/>
                        </a:rPr>
                        <a:t>Data)</a:t>
                      </a:r>
                      <a:endParaRPr lang="ru-RU" sz="1600" dirty="0">
                        <a:ln>
                          <a:solidFill>
                            <a:schemeClr val="bg1"/>
                          </a:solidFill>
                        </a:ln>
                        <a:solidFill>
                          <a:schemeClr val="bg1"/>
                        </a:solidFill>
                        <a:latin typeface="Franklin Gothic Book" panose="020B0503020102020204" pitchFamily="34" charset="0"/>
                      </a:endParaRPr>
                    </a:p>
                  </a:txBody>
                  <a:tcPr>
                    <a:lnL w="12700" cap="flat" cmpd="sng" algn="ctr">
                      <a:no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59101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a:solidFill>
                            <a:schemeClr val="bg1"/>
                          </a:solidFill>
                          <a:latin typeface="Franklin Gothic Book" panose="020B0503020102020204" pitchFamily="34" charset="0"/>
                        </a:rPr>
                        <a:t>Соединяющие элементы (Связи, </a:t>
                      </a:r>
                      <a:r>
                        <a:rPr lang="en-US" sz="1600" dirty="0">
                          <a:solidFill>
                            <a:schemeClr val="bg1"/>
                          </a:solidFill>
                          <a:latin typeface="Franklin Gothic Book" panose="020B0503020102020204" pitchFamily="34" charset="0"/>
                        </a:rPr>
                        <a:t>Connecting Objects)</a:t>
                      </a:r>
                      <a:endParaRPr lang="ru-RU" sz="1600" dirty="0">
                        <a:ln>
                          <a:solidFill>
                            <a:schemeClr val="bg1"/>
                          </a:solidFill>
                        </a:ln>
                        <a:solidFill>
                          <a:schemeClr val="bg1"/>
                        </a:solidFill>
                        <a:latin typeface="Franklin Gothic Book" panose="020B0503020102020204" pitchFamily="34" charset="0"/>
                      </a:endParaRPr>
                    </a:p>
                  </a:txBody>
                  <a:tcPr>
                    <a:lnL w="12700" cap="flat" cmpd="sng" algn="ctr">
                      <a:no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88749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a:solidFill>
                            <a:schemeClr val="bg1"/>
                          </a:solidFill>
                          <a:latin typeface="Franklin Gothic Book" panose="020B0503020102020204" pitchFamily="34" charset="0"/>
                        </a:rPr>
                        <a:t>Зоны ответственности (Разделительные дорожки, </a:t>
                      </a:r>
                      <a:r>
                        <a:rPr lang="en-US" sz="1600" dirty="0" err="1">
                          <a:solidFill>
                            <a:schemeClr val="bg1"/>
                          </a:solidFill>
                          <a:latin typeface="Franklin Gothic Book" panose="020B0503020102020204" pitchFamily="34" charset="0"/>
                        </a:rPr>
                        <a:t>Swimlanes</a:t>
                      </a:r>
                      <a:r>
                        <a:rPr lang="en-US" sz="1600" dirty="0">
                          <a:solidFill>
                            <a:schemeClr val="bg1"/>
                          </a:solidFill>
                          <a:latin typeface="Franklin Gothic Book" panose="020B0503020102020204" pitchFamily="34" charset="0"/>
                        </a:rPr>
                        <a:t>)</a:t>
                      </a:r>
                      <a:endParaRPr lang="ru-RU" sz="1600" dirty="0">
                        <a:ln>
                          <a:solidFill>
                            <a:schemeClr val="bg1"/>
                          </a:solidFill>
                        </a:ln>
                        <a:solidFill>
                          <a:schemeClr val="bg1"/>
                        </a:solidFill>
                        <a:latin typeface="Franklin Gothic Book" panose="020B0503020102020204" pitchFamily="34" charset="0"/>
                      </a:endParaRPr>
                    </a:p>
                  </a:txBody>
                  <a:tcPr>
                    <a:lnL w="12700" cap="flat" cmpd="sng" algn="ctr">
                      <a:no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8106393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600" dirty="0">
                          <a:solidFill>
                            <a:schemeClr val="bg1"/>
                          </a:solidFill>
                          <a:latin typeface="Franklin Gothic Book" panose="020B0503020102020204" pitchFamily="34" charset="0"/>
                        </a:rPr>
                        <a:t>Артефакты (</a:t>
                      </a:r>
                      <a:r>
                        <a:rPr lang="en-US" sz="1600" dirty="0">
                          <a:solidFill>
                            <a:schemeClr val="bg1"/>
                          </a:solidFill>
                          <a:latin typeface="Franklin Gothic Book" panose="020B0503020102020204" pitchFamily="34" charset="0"/>
                        </a:rPr>
                        <a:t>Artifacts)</a:t>
                      </a:r>
                      <a:endParaRPr lang="ru-RU" sz="1600" dirty="0">
                        <a:ln>
                          <a:solidFill>
                            <a:schemeClr val="bg1"/>
                          </a:solidFill>
                        </a:ln>
                        <a:solidFill>
                          <a:schemeClr val="bg1"/>
                        </a:solidFill>
                        <a:latin typeface="Franklin Gothic Book" panose="020B0503020102020204" pitchFamily="34" charset="0"/>
                      </a:endParaRPr>
                    </a:p>
                  </a:txBody>
                  <a:tcPr>
                    <a:lnL w="12700" cap="flat" cmpd="sng" algn="ctr">
                      <a:noFill/>
                      <a:prstDash val="solid"/>
                      <a:round/>
                      <a:headEnd type="none" w="med" len="med"/>
                      <a:tailEnd type="none" w="med" len="med"/>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706694037"/>
                  </a:ext>
                </a:extLst>
              </a:tr>
            </a:tbl>
          </a:graphicData>
        </a:graphic>
      </p:graphicFrame>
      <p:sp>
        <p:nvSpPr>
          <p:cNvPr id="6" name="Стрелка вправо 5"/>
          <p:cNvSpPr/>
          <p:nvPr/>
        </p:nvSpPr>
        <p:spPr>
          <a:xfrm>
            <a:off x="3632157" y="1823071"/>
            <a:ext cx="606056" cy="618268"/>
          </a:xfrm>
          <a:prstGeom prst="rightArrow">
            <a:avLst/>
          </a:prstGeom>
          <a:solidFill>
            <a:srgbClr val="96DA1C"/>
          </a:solidFill>
        </p:spPr>
        <p:style>
          <a:lnRef idx="1">
            <a:schemeClr val="accent6"/>
          </a:lnRef>
          <a:fillRef idx="3">
            <a:schemeClr val="accent6"/>
          </a:fillRef>
          <a:effectRef idx="2">
            <a:schemeClr val="accent6"/>
          </a:effectRef>
          <a:fontRef idx="minor">
            <a:schemeClr val="lt1"/>
          </a:fontRef>
        </p:style>
        <p:txBody>
          <a:bodyPr rtlCol="0" anchor="ctr"/>
          <a:lstStyle/>
          <a:p>
            <a:pPr algn="ctr"/>
            <a:endParaRPr lang="ru-RU"/>
          </a:p>
        </p:txBody>
      </p:sp>
      <p:sp>
        <p:nvSpPr>
          <p:cNvPr id="7" name="Прямоугольник 6"/>
          <p:cNvSpPr/>
          <p:nvPr/>
        </p:nvSpPr>
        <p:spPr>
          <a:xfrm>
            <a:off x="5046163" y="1742649"/>
            <a:ext cx="3995199" cy="830997"/>
          </a:xfrm>
          <a:prstGeom prst="rect">
            <a:avLst/>
          </a:prstGeom>
        </p:spPr>
        <p:txBody>
          <a:bodyPr wrap="square">
            <a:spAutoFit/>
          </a:bodyPr>
          <a:lstStyle/>
          <a:p>
            <a:pPr marL="285750" indent="-285750">
              <a:buFont typeface="Arial" panose="020B0604020202020204" pitchFamily="34" charset="0"/>
              <a:buChar char="•"/>
            </a:pPr>
            <a:r>
              <a:rPr lang="ru-RU" sz="1600" dirty="0">
                <a:latin typeface="Franklin Gothic Book" panose="020B0503020102020204" pitchFamily="34" charset="0"/>
              </a:rPr>
              <a:t>События (</a:t>
            </a:r>
            <a:r>
              <a:rPr lang="en-US" sz="1600" dirty="0">
                <a:latin typeface="Franklin Gothic Book" panose="020B0503020102020204" pitchFamily="34" charset="0"/>
              </a:rPr>
              <a:t>Events);</a:t>
            </a:r>
          </a:p>
          <a:p>
            <a:pPr marL="285750" indent="-285750">
              <a:buFont typeface="Arial" panose="020B0604020202020204" pitchFamily="34" charset="0"/>
              <a:buChar char="•"/>
            </a:pPr>
            <a:r>
              <a:rPr lang="ru-RU" sz="1600" dirty="0">
                <a:latin typeface="Franklin Gothic Book" panose="020B0503020102020204" pitchFamily="34" charset="0"/>
              </a:rPr>
              <a:t>Операции (бизнес-функции, </a:t>
            </a:r>
            <a:r>
              <a:rPr lang="en-US" sz="1600" dirty="0">
                <a:latin typeface="Franklin Gothic Book" panose="020B0503020102020204" pitchFamily="34" charset="0"/>
              </a:rPr>
              <a:t>Activities);</a:t>
            </a:r>
          </a:p>
          <a:p>
            <a:pPr marL="285750" indent="-285750">
              <a:buFont typeface="Arial" panose="020B0604020202020204" pitchFamily="34" charset="0"/>
              <a:buChar char="•"/>
            </a:pPr>
            <a:r>
              <a:rPr lang="ru-RU" sz="1600" dirty="0">
                <a:latin typeface="Franklin Gothic Book" panose="020B0503020102020204" pitchFamily="34" charset="0"/>
              </a:rPr>
              <a:t>Логические операторы (</a:t>
            </a:r>
            <a:r>
              <a:rPr lang="en-US" sz="1600" dirty="0">
                <a:latin typeface="Franklin Gothic Book" panose="020B0503020102020204" pitchFamily="34" charset="0"/>
              </a:rPr>
              <a:t>Gateways).</a:t>
            </a:r>
            <a:endParaRPr lang="ru-RU" sz="1600" dirty="0">
              <a:latin typeface="Franklin Gothic Book" panose="020B0503020102020204" pitchFamily="34" charset="0"/>
            </a:endParaRPr>
          </a:p>
        </p:txBody>
      </p:sp>
      <p:pic>
        <p:nvPicPr>
          <p:cNvPr id="9" name="Рисунок 8">
            <a:extLst>
              <a:ext uri="{FF2B5EF4-FFF2-40B4-BE49-F238E27FC236}">
                <a16:creationId xmlns:a16="http://schemas.microsoft.com/office/drawing/2014/main" id="{96611D98-A7EB-4C48-8E07-BCB0232FFEC0}"/>
              </a:ext>
            </a:extLst>
          </p:cNvPr>
          <p:cNvPicPr>
            <a:picLocks noChangeAspect="1"/>
          </p:cNvPicPr>
          <p:nvPr/>
        </p:nvPicPr>
        <p:blipFill rotWithShape="1">
          <a:blip r:embed="rId2"/>
          <a:srcRect l="45396" t="29272" r="41823" b="39579"/>
          <a:stretch/>
        </p:blipFill>
        <p:spPr>
          <a:xfrm>
            <a:off x="3935185" y="2785267"/>
            <a:ext cx="1862287" cy="2551643"/>
          </a:xfrm>
          <a:prstGeom prst="rect">
            <a:avLst/>
          </a:prstGeom>
          <a:ln>
            <a:noFill/>
          </a:ln>
          <a:effectLst>
            <a:outerShdw blurRad="292100" dist="139700" dir="2700000" algn="tl" rotWithShape="0">
              <a:srgbClr val="333333">
                <a:alpha val="65000"/>
              </a:srgbClr>
            </a:outerShdw>
          </a:effectLst>
        </p:spPr>
      </p:pic>
      <p:sp>
        <p:nvSpPr>
          <p:cNvPr id="10" name="Прямоугольник 9"/>
          <p:cNvSpPr/>
          <p:nvPr/>
        </p:nvSpPr>
        <p:spPr>
          <a:xfrm>
            <a:off x="6111551" y="2563017"/>
            <a:ext cx="2823805" cy="646331"/>
          </a:xfrm>
          <a:prstGeom prst="rect">
            <a:avLst/>
          </a:prstGeom>
        </p:spPr>
        <p:txBody>
          <a:bodyPr wrap="square">
            <a:spAutoFit/>
          </a:bodyPr>
          <a:lstStyle/>
          <a:p>
            <a:pPr algn="just"/>
            <a:r>
              <a:rPr lang="ru-RU" sz="900" dirty="0">
                <a:solidFill>
                  <a:schemeClr val="accent5"/>
                </a:solidFill>
                <a:latin typeface="Franklin Gothic Book" panose="020B0503020102020204" pitchFamily="34" charset="0"/>
              </a:rPr>
              <a:t>ОПЕРАЦИЯ</a:t>
            </a:r>
            <a:r>
              <a:rPr lang="ru-RU" sz="900" dirty="0">
                <a:latin typeface="Franklin Gothic Book" panose="020B0503020102020204" pitchFamily="34" charset="0"/>
              </a:rPr>
              <a:t> обозначает единицу работы, в результате которой изменяется состояние объекта управления, например, «Согласовать заявку», «Вынести решение» и т.д.</a:t>
            </a:r>
          </a:p>
        </p:txBody>
      </p:sp>
      <p:sp>
        <p:nvSpPr>
          <p:cNvPr id="11" name="Прямоугольник 10"/>
          <p:cNvSpPr/>
          <p:nvPr/>
        </p:nvSpPr>
        <p:spPr>
          <a:xfrm>
            <a:off x="6111551" y="5026417"/>
            <a:ext cx="2836505" cy="784830"/>
          </a:xfrm>
          <a:prstGeom prst="rect">
            <a:avLst/>
          </a:prstGeom>
        </p:spPr>
        <p:txBody>
          <a:bodyPr wrap="square">
            <a:spAutoFit/>
          </a:bodyPr>
          <a:lstStyle/>
          <a:p>
            <a:pPr algn="just"/>
            <a:r>
              <a:rPr lang="ru-RU" sz="900" dirty="0">
                <a:solidFill>
                  <a:schemeClr val="accent5"/>
                </a:solidFill>
                <a:latin typeface="Franklin Gothic Book" panose="020B0503020102020204" pitchFamily="34" charset="0"/>
              </a:rPr>
              <a:t>ЛОГИЧЕСКИЙ ОПЕРАТОР </a:t>
            </a:r>
            <a:r>
              <a:rPr lang="ru-RU" sz="900" dirty="0">
                <a:latin typeface="Franklin Gothic Book" panose="020B0503020102020204" pitchFamily="34" charset="0"/>
              </a:rPr>
              <a:t>изображают работу, которая не изменяет объект, но маршрутизирует его в соответствии с некоторым правилом. Например, если величина запрошенного кредита превышает 1000 рублей, то его согласует старший менеджер.</a:t>
            </a:r>
          </a:p>
        </p:txBody>
      </p:sp>
      <p:sp>
        <p:nvSpPr>
          <p:cNvPr id="12" name="Прямоугольник 11"/>
          <p:cNvSpPr/>
          <p:nvPr/>
        </p:nvSpPr>
        <p:spPr>
          <a:xfrm>
            <a:off x="6111551" y="3281394"/>
            <a:ext cx="2836505" cy="1754326"/>
          </a:xfrm>
          <a:prstGeom prst="rect">
            <a:avLst/>
          </a:prstGeom>
        </p:spPr>
        <p:txBody>
          <a:bodyPr wrap="square">
            <a:spAutoFit/>
          </a:bodyPr>
          <a:lstStyle/>
          <a:p>
            <a:pPr algn="just"/>
            <a:r>
              <a:rPr lang="ru-RU" sz="900" dirty="0">
                <a:solidFill>
                  <a:schemeClr val="accent5"/>
                </a:solidFill>
                <a:latin typeface="Franklin Gothic Book" panose="020B0503020102020204" pitchFamily="34" charset="0"/>
              </a:rPr>
              <a:t>СОБЫТИЕ</a:t>
            </a:r>
            <a:r>
              <a:rPr lang="ru-RU" sz="900" dirty="0">
                <a:latin typeface="Franklin Gothic Book" panose="020B0503020102020204" pitchFamily="34" charset="0"/>
              </a:rPr>
              <a:t> используется для нескольких целей. </a:t>
            </a:r>
            <a:br>
              <a:rPr lang="ru-RU" sz="900" dirty="0">
                <a:latin typeface="Franklin Gothic Book" panose="020B0503020102020204" pitchFamily="34" charset="0"/>
              </a:rPr>
            </a:br>
            <a:r>
              <a:rPr lang="ru-RU" sz="900" dirty="0">
                <a:latin typeface="Franklin Gothic Book" panose="020B0503020102020204" pitchFamily="34" charset="0"/>
              </a:rPr>
              <a:t>Во-первых, чтобы указать моменты времени, когда выполняется работа. Например, начать выполнение очередной операции через 1 час, после завершения предыдущей. </a:t>
            </a:r>
          </a:p>
          <a:p>
            <a:pPr algn="just"/>
            <a:r>
              <a:rPr lang="ru-RU" sz="900" dirty="0">
                <a:latin typeface="Franklin Gothic Book" panose="020B0503020102020204" pitchFamily="34" charset="0"/>
              </a:rPr>
              <a:t>Во-вторых, что бы ограничить длительность операций. Например, прервать исполнение операции через 30 минут после начала. </a:t>
            </a:r>
          </a:p>
          <a:p>
            <a:pPr algn="just"/>
            <a:r>
              <a:rPr lang="ru-RU" sz="900" dirty="0">
                <a:latin typeface="Franklin Gothic Book" panose="020B0503020102020204" pitchFamily="34" charset="0"/>
              </a:rPr>
              <a:t>В-третьих, они описывают реакцию на изменение состояния внешних, по отношению к процессу объектов. Например, продолжить исполнение, после получения сигнала.</a:t>
            </a:r>
          </a:p>
        </p:txBody>
      </p:sp>
    </p:spTree>
    <p:extLst>
      <p:ext uri="{BB962C8B-B14F-4D97-AF65-F5344CB8AC3E}">
        <p14:creationId xmlns:p14="http://schemas.microsoft.com/office/powerpoint/2010/main" val="36753822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32944" y="973397"/>
            <a:ext cx="3223987" cy="2339102"/>
          </a:xfrm>
          <a:prstGeom prst="rect">
            <a:avLst/>
          </a:prstGeom>
        </p:spPr>
        <p:txBody>
          <a:bodyPr wrap="square">
            <a:spAutoFit/>
          </a:bodyPr>
          <a:lstStyle/>
          <a:p>
            <a:pPr algn="just"/>
            <a:r>
              <a:rPr lang="ru-RU" sz="1600" dirty="0">
                <a:solidFill>
                  <a:schemeClr val="bg1"/>
                </a:solidFill>
                <a:latin typeface="Franklin Gothic Book" panose="020B0503020102020204" pitchFamily="34" charset="0"/>
              </a:rPr>
              <a:t>Операция (</a:t>
            </a:r>
            <a:r>
              <a:rPr lang="en-US" sz="1600" dirty="0">
                <a:solidFill>
                  <a:schemeClr val="bg1"/>
                </a:solidFill>
                <a:latin typeface="Franklin Gothic Book" panose="020B0503020102020204" pitchFamily="34" charset="0"/>
              </a:rPr>
              <a:t>Activity) </a:t>
            </a:r>
            <a:r>
              <a:rPr lang="ru-RU" sz="1600" dirty="0">
                <a:solidFill>
                  <a:schemeClr val="bg1"/>
                </a:solidFill>
                <a:latin typeface="Franklin Gothic Book" panose="020B0503020102020204" pitchFamily="34" charset="0"/>
              </a:rPr>
              <a:t>подразделяется на</a:t>
            </a:r>
            <a:r>
              <a:rPr lang="en-US" sz="1600" dirty="0">
                <a:solidFill>
                  <a:schemeClr val="bg1"/>
                </a:solidFill>
                <a:latin typeface="Franklin Gothic Book" panose="020B0503020102020204" pitchFamily="34" charset="0"/>
              </a:rPr>
              <a:t>:</a:t>
            </a:r>
            <a:endParaRPr lang="ru-RU" sz="1600" dirty="0">
              <a:solidFill>
                <a:schemeClr val="bg1"/>
              </a:solidFill>
              <a:latin typeface="Franklin Gothic Book" panose="020B0503020102020204" pitchFamily="34" charset="0"/>
            </a:endParaRPr>
          </a:p>
          <a:p>
            <a:pPr algn="just"/>
            <a:endParaRPr lang="en-US" sz="1600" dirty="0">
              <a:solidFill>
                <a:schemeClr val="accent1"/>
              </a:solidFill>
              <a:latin typeface="Franklin Gothic Book" panose="020B0503020102020204" pitchFamily="34" charset="0"/>
            </a:endParaRPr>
          </a:p>
          <a:p>
            <a:pPr marL="285750" indent="-285750" algn="just">
              <a:buFont typeface="Arial" panose="020B0604020202020204" pitchFamily="34" charset="0"/>
              <a:buChar char="•"/>
            </a:pPr>
            <a:r>
              <a:rPr lang="ru-RU" sz="1400" dirty="0">
                <a:solidFill>
                  <a:srgbClr val="96DA1C"/>
                </a:solidFill>
                <a:latin typeface="Franklin Gothic Book" panose="020B0503020102020204" pitchFamily="34" charset="0"/>
              </a:rPr>
              <a:t>Задачи</a:t>
            </a:r>
            <a:r>
              <a:rPr lang="en-US" sz="1400" dirty="0">
                <a:solidFill>
                  <a:srgbClr val="96DA1C"/>
                </a:solidFill>
                <a:latin typeface="Franklin Gothic Book" panose="020B0503020102020204" pitchFamily="34" charset="0"/>
              </a:rPr>
              <a:t> </a:t>
            </a:r>
            <a:r>
              <a:rPr lang="ru-RU" sz="1400" dirty="0">
                <a:solidFill>
                  <a:srgbClr val="96DA1C"/>
                </a:solidFill>
                <a:latin typeface="Franklin Gothic Book" panose="020B0503020102020204" pitchFamily="34" charset="0"/>
              </a:rPr>
              <a:t>(</a:t>
            </a:r>
            <a:r>
              <a:rPr lang="ru-RU" sz="1400" dirty="0" err="1">
                <a:solidFill>
                  <a:srgbClr val="96DA1C"/>
                </a:solidFill>
                <a:latin typeface="Franklin Gothic Book" panose="020B0503020102020204" pitchFamily="34" charset="0"/>
              </a:rPr>
              <a:t>Task</a:t>
            </a:r>
            <a:r>
              <a:rPr lang="ru-RU" sz="1400" dirty="0">
                <a:solidFill>
                  <a:srgbClr val="96DA1C"/>
                </a:solidFill>
                <a:latin typeface="Franklin Gothic Book" panose="020B0503020102020204" pitchFamily="34" charset="0"/>
              </a:rPr>
              <a:t>) – элементарные действия, не подлежащие декомпозиции </a:t>
            </a:r>
            <a:endParaRPr lang="en-US" sz="1400" dirty="0">
              <a:solidFill>
                <a:srgbClr val="96DA1C"/>
              </a:solidFill>
              <a:latin typeface="Franklin Gothic Book" panose="020B0503020102020204" pitchFamily="34" charset="0"/>
            </a:endParaRPr>
          </a:p>
          <a:p>
            <a:pPr marL="285750" indent="-285750" algn="just">
              <a:buFont typeface="Arial" panose="020B0604020202020204" pitchFamily="34" charset="0"/>
              <a:buChar char="•"/>
            </a:pPr>
            <a:r>
              <a:rPr lang="ru-RU" sz="1400" dirty="0" err="1">
                <a:solidFill>
                  <a:schemeClr val="bg1"/>
                </a:solidFill>
                <a:latin typeface="Franklin Gothic Book" panose="020B0503020102020204" pitchFamily="34" charset="0"/>
              </a:rPr>
              <a:t>Подпроцессы</a:t>
            </a:r>
            <a:r>
              <a:rPr lang="ru-RU" sz="1400" dirty="0">
                <a:solidFill>
                  <a:schemeClr val="bg1"/>
                </a:solidFill>
                <a:latin typeface="Franklin Gothic Book" panose="020B0503020102020204" pitchFamily="34" charset="0"/>
              </a:rPr>
              <a:t> (</a:t>
            </a:r>
            <a:r>
              <a:rPr lang="ru-RU" sz="1400" dirty="0" err="1">
                <a:solidFill>
                  <a:schemeClr val="bg1"/>
                </a:solidFill>
                <a:latin typeface="Franklin Gothic Book" panose="020B0503020102020204" pitchFamily="34" charset="0"/>
              </a:rPr>
              <a:t>Sub-Process</a:t>
            </a:r>
            <a:r>
              <a:rPr lang="ru-RU" sz="1400" dirty="0">
                <a:solidFill>
                  <a:schemeClr val="bg1"/>
                </a:solidFill>
                <a:latin typeface="Franklin Gothic Book" panose="020B0503020102020204" pitchFamily="34" charset="0"/>
              </a:rPr>
              <a:t>) –</a:t>
            </a:r>
            <a:r>
              <a:rPr lang="en-US" sz="1400" dirty="0">
                <a:solidFill>
                  <a:schemeClr val="bg1"/>
                </a:solidFill>
                <a:latin typeface="Franklin Gothic Book" panose="020B0503020102020204" pitchFamily="34" charset="0"/>
              </a:rPr>
              <a:t> </a:t>
            </a:r>
            <a:r>
              <a:rPr lang="ru-RU" sz="1400" dirty="0">
                <a:solidFill>
                  <a:schemeClr val="bg1"/>
                </a:solidFill>
                <a:latin typeface="Franklin Gothic Book" panose="020B0503020102020204" pitchFamily="34" charset="0"/>
              </a:rPr>
              <a:t>составные действия, которые сами могут быть представлены в виде бизнес-процесса.</a:t>
            </a:r>
          </a:p>
        </p:txBody>
      </p:sp>
      <p:sp>
        <p:nvSpPr>
          <p:cNvPr id="5" name="Прямоугольник 4"/>
          <p:cNvSpPr/>
          <p:nvPr/>
        </p:nvSpPr>
        <p:spPr>
          <a:xfrm>
            <a:off x="4572000" y="1419136"/>
            <a:ext cx="4171950" cy="861774"/>
          </a:xfrm>
          <a:prstGeom prst="rect">
            <a:avLst/>
          </a:prstGeom>
        </p:spPr>
        <p:txBody>
          <a:bodyPr wrap="square">
            <a:spAutoFit/>
          </a:bodyPr>
          <a:lstStyle/>
          <a:p>
            <a:pPr algn="just"/>
            <a:r>
              <a:rPr lang="ru-RU" sz="1000" b="1" dirty="0">
                <a:solidFill>
                  <a:schemeClr val="accent2"/>
                </a:solidFill>
                <a:latin typeface="Franklin Gothic Book" panose="020B0503020102020204" pitchFamily="34" charset="0"/>
              </a:rPr>
              <a:t>ПОЛЬЗОВАТЕЛЬСКАЯ </a:t>
            </a:r>
            <a:r>
              <a:rPr lang="en-US" sz="1000" b="1" dirty="0">
                <a:solidFill>
                  <a:schemeClr val="accent2"/>
                </a:solidFill>
                <a:latin typeface="Franklin Gothic Book" panose="020B0503020102020204" pitchFamily="34" charset="0"/>
              </a:rPr>
              <a:t>(</a:t>
            </a:r>
            <a:r>
              <a:rPr lang="ru-RU" sz="1000" b="1" dirty="0">
                <a:solidFill>
                  <a:schemeClr val="accent2"/>
                </a:solidFill>
                <a:latin typeface="Franklin Gothic Book" panose="020B0503020102020204" pitchFamily="34" charset="0"/>
              </a:rPr>
              <a:t>интерактивная) ЗАДАЧА </a:t>
            </a:r>
            <a:r>
              <a:rPr lang="ru-RU" sz="1000" dirty="0">
                <a:solidFill>
                  <a:schemeClr val="accent2"/>
                </a:solidFill>
                <a:latin typeface="Franklin Gothic Book" panose="020B0503020102020204" pitchFamily="34" charset="0"/>
              </a:rPr>
              <a:t>- </a:t>
            </a:r>
            <a:r>
              <a:rPr lang="ru-RU" sz="1000" dirty="0">
                <a:latin typeface="Franklin Gothic Book" panose="020B0503020102020204" pitchFamily="34" charset="0"/>
              </a:rPr>
              <a:t>типичная для технологического процесса, где человек выступает в роли исполнителя и выполняет задачи при содействии других людей или программного обеспечения </a:t>
            </a:r>
          </a:p>
          <a:p>
            <a:pPr algn="just"/>
            <a:endParaRPr lang="ru-RU" sz="1000" dirty="0">
              <a:latin typeface="Franklin Gothic Book" panose="020B0503020102020204" pitchFamily="34" charset="0"/>
            </a:endParaRPr>
          </a:p>
        </p:txBody>
      </p:sp>
      <p:sp>
        <p:nvSpPr>
          <p:cNvPr id="6" name="Прямоугольник 5"/>
          <p:cNvSpPr/>
          <p:nvPr/>
        </p:nvSpPr>
        <p:spPr>
          <a:xfrm>
            <a:off x="4572000" y="2085941"/>
            <a:ext cx="4171950" cy="1631216"/>
          </a:xfrm>
          <a:prstGeom prst="rect">
            <a:avLst/>
          </a:prstGeom>
        </p:spPr>
        <p:txBody>
          <a:bodyPr wrap="square">
            <a:spAutoFit/>
          </a:bodyPr>
          <a:lstStyle/>
          <a:p>
            <a:pPr algn="just"/>
            <a:r>
              <a:rPr lang="ru-RU" sz="1000" b="1" dirty="0">
                <a:solidFill>
                  <a:schemeClr val="accent2"/>
                </a:solidFill>
                <a:latin typeface="Franklin Gothic Book" panose="020B0503020102020204" pitchFamily="34" charset="0"/>
              </a:rPr>
              <a:t>РУЧНОЕ ВЫПОЛНЕНИЕ </a:t>
            </a:r>
            <a:r>
              <a:rPr lang="ru-RU" sz="1000" dirty="0">
                <a:latin typeface="Franklin Gothic Book" panose="020B0503020102020204" pitchFamily="34" charset="0"/>
              </a:rPr>
              <a:t>- задача, выполнение которой подразумевает действия человека и исключает использование каких-либо автоматизированных механизмов исполнения или приложений. Ручное выполнение не поддается управлению никаким механизмом выполнения бизнес-процесса. Такой тип Задач можно отнести к неуправляемым, т.е. к Задачам, начало и завершение выполнения которых не отслеживается механизмами выполнения бизнес-процесса. Примером такого типа Задач может служить установка телефонного аппарата на территории заказчика специалистом по обслуживанию телефонов или проведение совещания</a:t>
            </a:r>
          </a:p>
        </p:txBody>
      </p:sp>
      <p:sp>
        <p:nvSpPr>
          <p:cNvPr id="7" name="Прямоугольник 6"/>
          <p:cNvSpPr/>
          <p:nvPr/>
        </p:nvSpPr>
        <p:spPr>
          <a:xfrm>
            <a:off x="4572000" y="3717157"/>
            <a:ext cx="4171950" cy="1015663"/>
          </a:xfrm>
          <a:prstGeom prst="rect">
            <a:avLst/>
          </a:prstGeom>
        </p:spPr>
        <p:txBody>
          <a:bodyPr wrap="square">
            <a:spAutoFit/>
          </a:bodyPr>
          <a:lstStyle/>
          <a:p>
            <a:pPr algn="just"/>
            <a:r>
              <a:rPr lang="ru-RU" sz="1000" b="1" dirty="0">
                <a:solidFill>
                  <a:schemeClr val="accent2"/>
                </a:solidFill>
                <a:latin typeface="Franklin Gothic Book" panose="020B0503020102020204" pitchFamily="34" charset="0"/>
              </a:rPr>
              <a:t>ЗАДАЧА-СЦЕНАРИЙ</a:t>
            </a:r>
            <a:r>
              <a:rPr lang="ru-RU" sz="1000" dirty="0">
                <a:latin typeface="Franklin Gothic Book" panose="020B0503020102020204" pitchFamily="34" charset="0"/>
              </a:rPr>
              <a:t> - тип Задачи, которые выполняются без участия человека, обозначающее выполнение в процессе некоторого автоматизированного действия. «Задача-сценарий» всегда выполняется той информационной системой, которая управляет всем бизнес-процессом: запускает и завершает экземпляры процессов, назначает задачи пользователям и т.д..</a:t>
            </a:r>
          </a:p>
        </p:txBody>
      </p:sp>
      <p:sp>
        <p:nvSpPr>
          <p:cNvPr id="8" name="Заголовок 1"/>
          <p:cNvSpPr>
            <a:spLocks noGrp="1"/>
          </p:cNvSpPr>
          <p:nvPr>
            <p:ph type="ctrTitle"/>
          </p:nvPr>
        </p:nvSpPr>
        <p:spPr>
          <a:xfrm>
            <a:off x="332014" y="922332"/>
            <a:ext cx="8432800" cy="477837"/>
          </a:xfrm>
        </p:spPr>
        <p:txBody>
          <a:bodyPr/>
          <a:lstStyle/>
          <a:p>
            <a:r>
              <a:rPr lang="ru-RU" dirty="0"/>
              <a:t>ОСНОВНЫЕ ЭЛЕМЕНТЫ</a:t>
            </a:r>
          </a:p>
        </p:txBody>
      </p:sp>
      <p:sp>
        <p:nvSpPr>
          <p:cNvPr id="9" name="Подзаголовок 2"/>
          <p:cNvSpPr>
            <a:spLocks noGrp="1"/>
          </p:cNvSpPr>
          <p:nvPr>
            <p:ph type="subTitle" idx="1"/>
          </p:nvPr>
        </p:nvSpPr>
        <p:spPr>
          <a:xfrm>
            <a:off x="1600200" y="505724"/>
            <a:ext cx="7151914" cy="469223"/>
          </a:xfrm>
        </p:spPr>
        <p:txBody>
          <a:bodyPr/>
          <a:lstStyle/>
          <a:p>
            <a:r>
              <a:rPr lang="en-US" dirty="0"/>
              <a:t>BPMN 2.0</a:t>
            </a:r>
            <a:endParaRPr lang="ru-RU" dirty="0"/>
          </a:p>
        </p:txBody>
      </p:sp>
      <p:pic>
        <p:nvPicPr>
          <p:cNvPr id="10" name="Рисунок 9">
            <a:extLst>
              <a:ext uri="{FF2B5EF4-FFF2-40B4-BE49-F238E27FC236}">
                <a16:creationId xmlns:a16="http://schemas.microsoft.com/office/drawing/2014/main" id="{65EB799A-A0E6-4B5F-804D-3E7C681E4A59}"/>
              </a:ext>
            </a:extLst>
          </p:cNvPr>
          <p:cNvPicPr>
            <a:picLocks noChangeAspect="1"/>
          </p:cNvPicPr>
          <p:nvPr/>
        </p:nvPicPr>
        <p:blipFill rotWithShape="1">
          <a:blip r:embed="rId3"/>
          <a:srcRect l="24444" t="38919" r="25555" b="19579"/>
          <a:stretch/>
        </p:blipFill>
        <p:spPr>
          <a:xfrm>
            <a:off x="67354" y="3616672"/>
            <a:ext cx="4155169" cy="1939080"/>
          </a:xfrm>
          <a:prstGeom prst="rect">
            <a:avLst/>
          </a:prstGeom>
          <a:ln>
            <a:noFill/>
          </a:ln>
          <a:effectLst>
            <a:outerShdw blurRad="292100" dist="139700" dir="2700000" algn="tl" rotWithShape="0">
              <a:srgbClr val="333333">
                <a:alpha val="65000"/>
              </a:srgbClr>
            </a:outerShdw>
          </a:effectLst>
        </p:spPr>
      </p:pic>
      <p:sp>
        <p:nvSpPr>
          <p:cNvPr id="3" name="Прямоугольник 2"/>
          <p:cNvSpPr/>
          <p:nvPr/>
        </p:nvSpPr>
        <p:spPr>
          <a:xfrm>
            <a:off x="4572000" y="4966793"/>
            <a:ext cx="4171950" cy="1015663"/>
          </a:xfrm>
          <a:prstGeom prst="rect">
            <a:avLst/>
          </a:prstGeom>
        </p:spPr>
        <p:txBody>
          <a:bodyPr wrap="square">
            <a:spAutoFit/>
          </a:bodyPr>
          <a:lstStyle/>
          <a:p>
            <a:pPr algn="just"/>
            <a:r>
              <a:rPr lang="ru-RU" sz="1000" b="1" dirty="0">
                <a:solidFill>
                  <a:schemeClr val="accent2"/>
                </a:solidFill>
                <a:latin typeface="Franklin Gothic Book" panose="020B0503020102020204" pitchFamily="34" charset="0"/>
              </a:rPr>
              <a:t>СЕРВИСНАЯ ЗАДАЧА – </a:t>
            </a:r>
            <a:r>
              <a:rPr lang="ru-RU" sz="1000" dirty="0">
                <a:latin typeface="Franklin Gothic Book" panose="020B0503020102020204" pitchFamily="34" charset="0"/>
              </a:rPr>
              <a:t>тип Задачи, которые выполняются без участия человека и используются для обозначения подключения </a:t>
            </a:r>
            <a:r>
              <a:rPr lang="ru-RU" sz="1000" dirty="0">
                <a:solidFill>
                  <a:srgbClr val="00B0F0"/>
                </a:solidFill>
                <a:latin typeface="Franklin Gothic Book" panose="020B0503020102020204" pitchFamily="34" charset="0"/>
              </a:rPr>
              <a:t>сторонних</a:t>
            </a:r>
            <a:r>
              <a:rPr lang="ru-RU" sz="1000" dirty="0">
                <a:latin typeface="Franklin Gothic Book" panose="020B0503020102020204" pitchFamily="34" charset="0"/>
              </a:rPr>
              <a:t> сервисов, не относящихся к среде выполнения бизнес-процесса, которая может являться как веб-сервисом, так и автоматизированным приложением. Сервисная задача выполняется автоматически (без участия человека).</a:t>
            </a:r>
          </a:p>
        </p:txBody>
      </p:sp>
      <p:sp>
        <p:nvSpPr>
          <p:cNvPr id="11" name="Стрелка вправо 5">
            <a:extLst>
              <a:ext uri="{FF2B5EF4-FFF2-40B4-BE49-F238E27FC236}">
                <a16:creationId xmlns:a16="http://schemas.microsoft.com/office/drawing/2014/main" id="{818E58C1-3A03-4173-AA7A-C17D14B0BFB7}"/>
              </a:ext>
            </a:extLst>
          </p:cNvPr>
          <p:cNvSpPr/>
          <p:nvPr/>
        </p:nvSpPr>
        <p:spPr>
          <a:xfrm>
            <a:off x="3791206" y="1704342"/>
            <a:ext cx="606056" cy="618268"/>
          </a:xfrm>
          <a:prstGeom prst="rightArrow">
            <a:avLst/>
          </a:prstGeom>
          <a:solidFill>
            <a:srgbClr val="96DA1C"/>
          </a:solidFill>
        </p:spPr>
        <p:style>
          <a:lnRef idx="1">
            <a:schemeClr val="accent6"/>
          </a:lnRef>
          <a:fillRef idx="3">
            <a:schemeClr val="accent6"/>
          </a:fillRef>
          <a:effectRef idx="2">
            <a:schemeClr val="accent6"/>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6524212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Рисунок 13">
            <a:extLst>
              <a:ext uri="{FF2B5EF4-FFF2-40B4-BE49-F238E27FC236}">
                <a16:creationId xmlns:a16="http://schemas.microsoft.com/office/drawing/2014/main" id="{47C7BD24-5A1F-4E7A-BF13-A64DB0FB828A}"/>
              </a:ext>
            </a:extLst>
          </p:cNvPr>
          <p:cNvPicPr>
            <a:picLocks noChangeAspect="1"/>
          </p:cNvPicPr>
          <p:nvPr/>
        </p:nvPicPr>
        <p:blipFill rotWithShape="1">
          <a:blip r:embed="rId2"/>
          <a:srcRect l="31129" t="38088" r="36129" b="45553"/>
          <a:stretch/>
        </p:blipFill>
        <p:spPr>
          <a:xfrm>
            <a:off x="332014" y="2784669"/>
            <a:ext cx="3230477" cy="907433"/>
          </a:xfrm>
          <a:prstGeom prst="rect">
            <a:avLst/>
          </a:prstGeom>
        </p:spPr>
      </p:pic>
      <p:sp>
        <p:nvSpPr>
          <p:cNvPr id="2" name="Заголовок 1"/>
          <p:cNvSpPr>
            <a:spLocks noGrp="1"/>
          </p:cNvSpPr>
          <p:nvPr>
            <p:ph type="ctrTitle"/>
          </p:nvPr>
        </p:nvSpPr>
        <p:spPr/>
        <p:txBody>
          <a:bodyPr/>
          <a:lstStyle/>
          <a:p>
            <a:r>
              <a:rPr lang="ru-RU" dirty="0"/>
              <a:t>ОСНОВНЫЕ ЭЛЕМЕНТЫ</a:t>
            </a:r>
          </a:p>
        </p:txBody>
      </p:sp>
      <p:sp>
        <p:nvSpPr>
          <p:cNvPr id="3" name="Подзаголовок 2"/>
          <p:cNvSpPr>
            <a:spLocks noGrp="1"/>
          </p:cNvSpPr>
          <p:nvPr>
            <p:ph type="subTitle" idx="1"/>
          </p:nvPr>
        </p:nvSpPr>
        <p:spPr/>
        <p:txBody>
          <a:bodyPr/>
          <a:lstStyle/>
          <a:p>
            <a:r>
              <a:rPr lang="en-US" dirty="0"/>
              <a:t>BPMN 2.0</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9" name="Рисунок 8">
            <a:extLst>
              <a:ext uri="{FF2B5EF4-FFF2-40B4-BE49-F238E27FC236}">
                <a16:creationId xmlns:a16="http://schemas.microsoft.com/office/drawing/2014/main" id="{B13678F1-43A6-4AA1-918B-02B21E1DBBD1}"/>
              </a:ext>
            </a:extLst>
          </p:cNvPr>
          <p:cNvPicPr>
            <a:picLocks noChangeAspect="1"/>
          </p:cNvPicPr>
          <p:nvPr/>
        </p:nvPicPr>
        <p:blipFill rotWithShape="1">
          <a:blip r:embed="rId3"/>
          <a:srcRect l="29677" t="15430" r="29839" b="12850"/>
          <a:stretch/>
        </p:blipFill>
        <p:spPr>
          <a:xfrm>
            <a:off x="3956839" y="1158415"/>
            <a:ext cx="4807975" cy="4788820"/>
          </a:xfrm>
          <a:prstGeom prst="rect">
            <a:avLst/>
          </a:prstGeom>
        </p:spPr>
      </p:pic>
      <p:pic>
        <p:nvPicPr>
          <p:cNvPr id="16" name="Рисунок 15">
            <a:extLst>
              <a:ext uri="{FF2B5EF4-FFF2-40B4-BE49-F238E27FC236}">
                <a16:creationId xmlns:a16="http://schemas.microsoft.com/office/drawing/2014/main" id="{60F98BCA-E1E5-43F9-8598-0BAFE361A5BA}"/>
              </a:ext>
            </a:extLst>
          </p:cNvPr>
          <p:cNvPicPr>
            <a:picLocks noChangeAspect="1"/>
          </p:cNvPicPr>
          <p:nvPr/>
        </p:nvPicPr>
        <p:blipFill rotWithShape="1">
          <a:blip r:embed="rId2"/>
          <a:srcRect l="31129" t="38088" r="36129" b="45553"/>
          <a:stretch/>
        </p:blipFill>
        <p:spPr>
          <a:xfrm>
            <a:off x="295618" y="1783285"/>
            <a:ext cx="3230477" cy="907433"/>
          </a:xfrm>
          <a:prstGeom prst="rect">
            <a:avLst/>
          </a:prstGeom>
        </p:spPr>
      </p:pic>
      <p:pic>
        <p:nvPicPr>
          <p:cNvPr id="17" name="Рисунок 16">
            <a:extLst>
              <a:ext uri="{FF2B5EF4-FFF2-40B4-BE49-F238E27FC236}">
                <a16:creationId xmlns:a16="http://schemas.microsoft.com/office/drawing/2014/main" id="{E8764B81-72D2-42DA-A05B-442491BF177C}"/>
              </a:ext>
            </a:extLst>
          </p:cNvPr>
          <p:cNvPicPr>
            <a:picLocks noChangeAspect="1"/>
          </p:cNvPicPr>
          <p:nvPr/>
        </p:nvPicPr>
        <p:blipFill rotWithShape="1">
          <a:blip r:embed="rId2"/>
          <a:srcRect l="42430" t="73546" r="48843" b="8494"/>
          <a:stretch/>
        </p:blipFill>
        <p:spPr>
          <a:xfrm>
            <a:off x="1421362" y="2664195"/>
            <a:ext cx="883913" cy="1022667"/>
          </a:xfrm>
          <a:prstGeom prst="rect">
            <a:avLst/>
          </a:prstGeom>
        </p:spPr>
      </p:pic>
      <p:cxnSp>
        <p:nvCxnSpPr>
          <p:cNvPr id="11" name="Прямая соединительная линия 10">
            <a:extLst>
              <a:ext uri="{FF2B5EF4-FFF2-40B4-BE49-F238E27FC236}">
                <a16:creationId xmlns:a16="http://schemas.microsoft.com/office/drawing/2014/main" id="{00D68C65-7ED0-4343-A919-E9C25AC2454D}"/>
              </a:ext>
            </a:extLst>
          </p:cNvPr>
          <p:cNvCxnSpPr/>
          <p:nvPr/>
        </p:nvCxnSpPr>
        <p:spPr>
          <a:xfrm>
            <a:off x="3675243" y="1654277"/>
            <a:ext cx="0" cy="3244646"/>
          </a:xfrm>
          <a:prstGeom prst="line">
            <a:avLst/>
          </a:prstGeom>
        </p:spPr>
        <p:style>
          <a:lnRef idx="3">
            <a:schemeClr val="accent1"/>
          </a:lnRef>
          <a:fillRef idx="0">
            <a:schemeClr val="accent1"/>
          </a:fillRef>
          <a:effectRef idx="2">
            <a:schemeClr val="accent1"/>
          </a:effectRef>
          <a:fontRef idx="minor">
            <a:schemeClr val="tx1"/>
          </a:fontRef>
        </p:style>
      </p:cxn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5" name="Рисунок 14">
            <a:extLst>
              <a:ext uri="{FF2B5EF4-FFF2-40B4-BE49-F238E27FC236}">
                <a16:creationId xmlns:a16="http://schemas.microsoft.com/office/drawing/2014/main" id="{8987848A-91B3-45F2-AB57-56ECD2CEE9C8}"/>
              </a:ext>
            </a:extLst>
          </p:cNvPr>
          <p:cNvPicPr>
            <a:picLocks noChangeAspect="1"/>
          </p:cNvPicPr>
          <p:nvPr/>
        </p:nvPicPr>
        <p:blipFill rotWithShape="1">
          <a:blip r:embed="rId2"/>
          <a:srcRect l="49313" t="38088" r="36129" b="45553"/>
          <a:stretch/>
        </p:blipFill>
        <p:spPr>
          <a:xfrm>
            <a:off x="332013" y="3688833"/>
            <a:ext cx="1436400" cy="907433"/>
          </a:xfrm>
          <a:prstGeom prst="rect">
            <a:avLst/>
          </a:prstGeom>
        </p:spPr>
      </p:pic>
      <p:pic>
        <p:nvPicPr>
          <p:cNvPr id="4" name="Рисунок 3">
            <a:extLst>
              <a:ext uri="{FF2B5EF4-FFF2-40B4-BE49-F238E27FC236}">
                <a16:creationId xmlns:a16="http://schemas.microsoft.com/office/drawing/2014/main" id="{CDE47A79-0C3F-4C2C-A557-6F8E5E7B03B0}"/>
              </a:ext>
            </a:extLst>
          </p:cNvPr>
          <p:cNvPicPr>
            <a:picLocks noChangeAspect="1"/>
          </p:cNvPicPr>
          <p:nvPr/>
        </p:nvPicPr>
        <p:blipFill rotWithShape="1">
          <a:blip r:embed="rId4"/>
          <a:srcRect l="41824" t="59902" r="33854" b="14242"/>
          <a:stretch/>
        </p:blipFill>
        <p:spPr>
          <a:xfrm>
            <a:off x="1338508" y="4772024"/>
            <a:ext cx="2223983" cy="1329273"/>
          </a:xfrm>
          <a:prstGeom prst="rect">
            <a:avLst/>
          </a:prstGeom>
        </p:spPr>
      </p:pic>
      <p:cxnSp>
        <p:nvCxnSpPr>
          <p:cNvPr id="6" name="Соединитель: уступ 5">
            <a:extLst>
              <a:ext uri="{FF2B5EF4-FFF2-40B4-BE49-F238E27FC236}">
                <a16:creationId xmlns:a16="http://schemas.microsoft.com/office/drawing/2014/main" id="{63C54222-6B5C-4BF8-9BE5-07A8F146334C}"/>
              </a:ext>
            </a:extLst>
          </p:cNvPr>
          <p:cNvCxnSpPr>
            <a:cxnSpLocks/>
            <a:endCxn id="19" idx="2"/>
          </p:cNvCxnSpPr>
          <p:nvPr/>
        </p:nvCxnSpPr>
        <p:spPr>
          <a:xfrm>
            <a:off x="1495425" y="4295775"/>
            <a:ext cx="964598" cy="36194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pic>
        <p:nvPicPr>
          <p:cNvPr id="19" name="Рисунок 18">
            <a:extLst>
              <a:ext uri="{FF2B5EF4-FFF2-40B4-BE49-F238E27FC236}">
                <a16:creationId xmlns:a16="http://schemas.microsoft.com/office/drawing/2014/main" id="{011A62AD-481F-4BD4-AB04-6DE5E1EFFB8A}"/>
              </a:ext>
            </a:extLst>
          </p:cNvPr>
          <p:cNvPicPr>
            <a:picLocks noChangeAspect="1"/>
          </p:cNvPicPr>
          <p:nvPr/>
        </p:nvPicPr>
        <p:blipFill rotWithShape="1">
          <a:blip r:embed="rId4"/>
          <a:srcRect l="41824" t="83452" r="33854" b="14242"/>
          <a:stretch/>
        </p:blipFill>
        <p:spPr>
          <a:xfrm rot="10800000">
            <a:off x="1348032" y="4657723"/>
            <a:ext cx="2223983" cy="118585"/>
          </a:xfrm>
          <a:prstGeom prst="rect">
            <a:avLst/>
          </a:prstGeom>
        </p:spPr>
      </p:pic>
    </p:spTree>
    <p:extLst>
      <p:ext uri="{BB962C8B-B14F-4D97-AF65-F5344CB8AC3E}">
        <p14:creationId xmlns:p14="http://schemas.microsoft.com/office/powerpoint/2010/main" val="9294610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p:txBody>
          <a:bodyPr/>
          <a:lstStyle/>
          <a:p>
            <a:r>
              <a:rPr lang="en-US" dirty="0"/>
              <a:t>BPMN 2.0</a:t>
            </a:r>
            <a:r>
              <a:rPr lang="ru-RU" dirty="0"/>
              <a:t>. Маркеры подпроцессов</a:t>
            </a:r>
            <a:r>
              <a:rPr lang="en-US" dirty="0"/>
              <a:t> </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2">
            <a:extLst>
              <a:ext uri="{FF2B5EF4-FFF2-40B4-BE49-F238E27FC236}">
                <a16:creationId xmlns:a16="http://schemas.microsoft.com/office/drawing/2014/main" id="{3A6C7BA5-FBEB-4567-9F99-D06DEDB94FDD}"/>
              </a:ext>
            </a:extLst>
          </p:cNvPr>
          <p:cNvSpPr>
            <a:spLocks noChangeAspect="1" noChangeArrowheads="1"/>
          </p:cNvSpPr>
          <p:nvPr/>
        </p:nvSpPr>
        <p:spPr bwMode="auto">
          <a:xfrm>
            <a:off x="5029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2" name="Рисунок 1">
            <a:extLst>
              <a:ext uri="{FF2B5EF4-FFF2-40B4-BE49-F238E27FC236}">
                <a16:creationId xmlns:a16="http://schemas.microsoft.com/office/drawing/2014/main" id="{2A83D0DE-6802-4504-AEC7-43628307214C}"/>
              </a:ext>
            </a:extLst>
          </p:cNvPr>
          <p:cNvPicPr>
            <a:picLocks noChangeAspect="1"/>
          </p:cNvPicPr>
          <p:nvPr/>
        </p:nvPicPr>
        <p:blipFill rotWithShape="1">
          <a:blip r:embed="rId2"/>
          <a:srcRect l="34828" t="31140" r="8276" b="17647"/>
          <a:stretch/>
        </p:blipFill>
        <p:spPr>
          <a:xfrm>
            <a:off x="211727" y="1604362"/>
            <a:ext cx="8415746" cy="425887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7673431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a:t>ОСНОВНЫЕ ЭЛЕМЕНТЫ</a:t>
            </a:r>
          </a:p>
        </p:txBody>
      </p:sp>
      <p:sp>
        <p:nvSpPr>
          <p:cNvPr id="3" name="Подзаголовок 2"/>
          <p:cNvSpPr>
            <a:spLocks noGrp="1"/>
          </p:cNvSpPr>
          <p:nvPr>
            <p:ph type="subTitle" idx="1"/>
          </p:nvPr>
        </p:nvSpPr>
        <p:spPr/>
        <p:txBody>
          <a:bodyPr/>
          <a:lstStyle/>
          <a:p>
            <a:r>
              <a:rPr lang="en-US" dirty="0"/>
              <a:t>BPMN 2.0</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9" name="Прямоугольник 8">
            <a:extLst>
              <a:ext uri="{FF2B5EF4-FFF2-40B4-BE49-F238E27FC236}">
                <a16:creationId xmlns:a16="http://schemas.microsoft.com/office/drawing/2014/main" id="{3D178558-3EF4-4CB6-B123-3199D7EF78A4}"/>
              </a:ext>
            </a:extLst>
          </p:cNvPr>
          <p:cNvSpPr/>
          <p:nvPr/>
        </p:nvSpPr>
        <p:spPr>
          <a:xfrm>
            <a:off x="406401" y="1530456"/>
            <a:ext cx="6083300" cy="523220"/>
          </a:xfrm>
          <a:prstGeom prst="rect">
            <a:avLst/>
          </a:prstGeom>
        </p:spPr>
        <p:txBody>
          <a:bodyPr wrap="square">
            <a:spAutoFit/>
          </a:bodyPr>
          <a:lstStyle/>
          <a:p>
            <a:pPr algn="just"/>
            <a:r>
              <a:rPr lang="ru-RU" sz="1400" dirty="0">
                <a:solidFill>
                  <a:srgbClr val="333333"/>
                </a:solidFill>
                <a:latin typeface="YS Text"/>
              </a:rPr>
              <a:t>Эта задача содержит правила и соответствующие им действия, которые должны быть выполнены при выполнении правила. </a:t>
            </a:r>
          </a:p>
        </p:txBody>
      </p:sp>
      <p:pic>
        <p:nvPicPr>
          <p:cNvPr id="10" name="Рисунок 9">
            <a:extLst>
              <a:ext uri="{FF2B5EF4-FFF2-40B4-BE49-F238E27FC236}">
                <a16:creationId xmlns:a16="http://schemas.microsoft.com/office/drawing/2014/main" id="{6B439A58-E62F-4F66-9F95-29B58E03EB88}"/>
              </a:ext>
            </a:extLst>
          </p:cNvPr>
          <p:cNvPicPr>
            <a:picLocks noChangeAspect="1"/>
          </p:cNvPicPr>
          <p:nvPr/>
        </p:nvPicPr>
        <p:blipFill rotWithShape="1">
          <a:blip r:embed="rId2"/>
          <a:srcRect l="33750" t="33911" r="58229" b="55060"/>
          <a:stretch/>
        </p:blipFill>
        <p:spPr>
          <a:xfrm>
            <a:off x="6946897" y="1517267"/>
            <a:ext cx="1727201" cy="1335397"/>
          </a:xfrm>
          <a:prstGeom prst="rect">
            <a:avLst/>
          </a:prstGeom>
        </p:spPr>
      </p:pic>
      <p:pic>
        <p:nvPicPr>
          <p:cNvPr id="4" name="Рисунок 3">
            <a:extLst>
              <a:ext uri="{FF2B5EF4-FFF2-40B4-BE49-F238E27FC236}">
                <a16:creationId xmlns:a16="http://schemas.microsoft.com/office/drawing/2014/main" id="{297A4794-349F-4196-99D1-A145FA89CDE6}"/>
              </a:ext>
            </a:extLst>
          </p:cNvPr>
          <p:cNvPicPr>
            <a:picLocks noChangeAspect="1"/>
          </p:cNvPicPr>
          <p:nvPr/>
        </p:nvPicPr>
        <p:blipFill rotWithShape="1">
          <a:blip r:embed="rId3"/>
          <a:srcRect l="23194" t="23073" r="10278" b="17885"/>
          <a:stretch/>
        </p:blipFill>
        <p:spPr>
          <a:xfrm>
            <a:off x="238777" y="2408946"/>
            <a:ext cx="6532252" cy="3259308"/>
          </a:xfrm>
          <a:prstGeom prst="rect">
            <a:avLst/>
          </a:prstGeom>
        </p:spPr>
      </p:pic>
    </p:spTree>
    <p:extLst>
      <p:ext uri="{BB962C8B-B14F-4D97-AF65-F5344CB8AC3E}">
        <p14:creationId xmlns:p14="http://schemas.microsoft.com/office/powerpoint/2010/main" val="154337538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a:t>ОСНОВНЫЕ ЭЛЕМЕНТЫ</a:t>
            </a:r>
          </a:p>
        </p:txBody>
      </p:sp>
      <p:sp>
        <p:nvSpPr>
          <p:cNvPr id="3" name="Подзаголовок 2"/>
          <p:cNvSpPr>
            <a:spLocks noGrp="1"/>
          </p:cNvSpPr>
          <p:nvPr>
            <p:ph type="subTitle" idx="1"/>
          </p:nvPr>
        </p:nvSpPr>
        <p:spPr/>
        <p:txBody>
          <a:bodyPr/>
          <a:lstStyle/>
          <a:p>
            <a:r>
              <a:rPr lang="en-US" dirty="0"/>
              <a:t>BPMN 2.0</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a:extLst>
              <a:ext uri="{FF2B5EF4-FFF2-40B4-BE49-F238E27FC236}">
                <a16:creationId xmlns:a16="http://schemas.microsoft.com/office/drawing/2014/main" id="{7AE6D92B-C1EC-4E4B-A2A6-EE19DCC314B3}"/>
              </a:ext>
            </a:extLst>
          </p:cNvPr>
          <p:cNvSpPr/>
          <p:nvPr/>
        </p:nvSpPr>
        <p:spPr>
          <a:xfrm>
            <a:off x="457200" y="1674674"/>
            <a:ext cx="6083300" cy="738664"/>
          </a:xfrm>
          <a:prstGeom prst="rect">
            <a:avLst/>
          </a:prstGeom>
        </p:spPr>
        <p:txBody>
          <a:bodyPr wrap="square">
            <a:spAutoFit/>
          </a:bodyPr>
          <a:lstStyle/>
          <a:p>
            <a:pPr algn="just"/>
            <a:r>
              <a:rPr lang="ru-RU" sz="1400" b="1" dirty="0">
                <a:solidFill>
                  <a:srgbClr val="333333"/>
                </a:solidFill>
                <a:latin typeface="YS Text"/>
              </a:rPr>
              <a:t>Сервисная</a:t>
            </a:r>
            <a:r>
              <a:rPr lang="ru-RU" sz="1400" dirty="0">
                <a:solidFill>
                  <a:srgbClr val="333333"/>
                </a:solidFill>
                <a:latin typeface="YS Text"/>
              </a:rPr>
              <a:t> </a:t>
            </a:r>
            <a:r>
              <a:rPr lang="ru-RU" sz="1400" b="1" dirty="0">
                <a:solidFill>
                  <a:srgbClr val="333333"/>
                </a:solidFill>
                <a:latin typeface="YS Text"/>
              </a:rPr>
              <a:t>задача</a:t>
            </a:r>
            <a:r>
              <a:rPr lang="ru-RU" sz="1400" dirty="0">
                <a:solidFill>
                  <a:srgbClr val="333333"/>
                </a:solidFill>
                <a:latin typeface="YS Text"/>
              </a:rPr>
              <a:t> используется для обозначения подключения сторонних </a:t>
            </a:r>
            <a:r>
              <a:rPr lang="ru-RU" sz="1400" b="1" dirty="0">
                <a:solidFill>
                  <a:srgbClr val="333333"/>
                </a:solidFill>
                <a:latin typeface="YS Text"/>
              </a:rPr>
              <a:t>сервисов</a:t>
            </a:r>
            <a:r>
              <a:rPr lang="ru-RU" sz="1400" dirty="0">
                <a:solidFill>
                  <a:srgbClr val="333333"/>
                </a:solidFill>
                <a:latin typeface="YS Text"/>
              </a:rPr>
              <a:t>, не относящихся к среде выполнения бизнес-процесса. Например, веб-</a:t>
            </a:r>
            <a:r>
              <a:rPr lang="ru-RU" sz="1400" b="1" dirty="0">
                <a:solidFill>
                  <a:srgbClr val="333333"/>
                </a:solidFill>
                <a:latin typeface="YS Text"/>
              </a:rPr>
              <a:t>сервисы</a:t>
            </a:r>
            <a:r>
              <a:rPr lang="ru-RU" sz="1400" dirty="0">
                <a:solidFill>
                  <a:srgbClr val="333333"/>
                </a:solidFill>
                <a:latin typeface="YS Text"/>
              </a:rPr>
              <a:t> или любые другие приложения для автоматизации. </a:t>
            </a:r>
            <a:endParaRPr lang="ru-RU" sz="1400" dirty="0"/>
          </a:p>
        </p:txBody>
      </p:sp>
      <p:pic>
        <p:nvPicPr>
          <p:cNvPr id="6" name="Рисунок 5">
            <a:extLst>
              <a:ext uri="{FF2B5EF4-FFF2-40B4-BE49-F238E27FC236}">
                <a16:creationId xmlns:a16="http://schemas.microsoft.com/office/drawing/2014/main" id="{634390BA-9F63-4D63-84F9-16C5A7B5139E}"/>
              </a:ext>
            </a:extLst>
          </p:cNvPr>
          <p:cNvPicPr>
            <a:picLocks noChangeAspect="1"/>
          </p:cNvPicPr>
          <p:nvPr/>
        </p:nvPicPr>
        <p:blipFill rotWithShape="1">
          <a:blip r:embed="rId2"/>
          <a:srcRect l="34028" t="55929" r="58055" b="33696"/>
          <a:stretch/>
        </p:blipFill>
        <p:spPr>
          <a:xfrm>
            <a:off x="7010398" y="1306939"/>
            <a:ext cx="1727201" cy="1272675"/>
          </a:xfrm>
          <a:prstGeom prst="rect">
            <a:avLst/>
          </a:prstGeom>
        </p:spPr>
      </p:pic>
      <p:pic>
        <p:nvPicPr>
          <p:cNvPr id="4" name="Рисунок 3">
            <a:extLst>
              <a:ext uri="{FF2B5EF4-FFF2-40B4-BE49-F238E27FC236}">
                <a16:creationId xmlns:a16="http://schemas.microsoft.com/office/drawing/2014/main" id="{8E413145-1423-4ACC-AFE1-C98C8E30BEB7}"/>
              </a:ext>
            </a:extLst>
          </p:cNvPr>
          <p:cNvPicPr>
            <a:picLocks noChangeAspect="1"/>
          </p:cNvPicPr>
          <p:nvPr/>
        </p:nvPicPr>
        <p:blipFill rotWithShape="1">
          <a:blip r:embed="rId3"/>
          <a:srcRect l="23750" t="22332" r="10972" b="15875"/>
          <a:stretch/>
        </p:blipFill>
        <p:spPr>
          <a:xfrm>
            <a:off x="393700" y="2650486"/>
            <a:ext cx="6083299" cy="3237557"/>
          </a:xfrm>
          <a:prstGeom prst="rect">
            <a:avLst/>
          </a:prstGeom>
        </p:spPr>
      </p:pic>
    </p:spTree>
    <p:extLst>
      <p:ext uri="{BB962C8B-B14F-4D97-AF65-F5344CB8AC3E}">
        <p14:creationId xmlns:p14="http://schemas.microsoft.com/office/powerpoint/2010/main" val="6768477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07936935-C7F3-4DDE-A23C-9E2CEAE8D90C}"/>
              </a:ext>
            </a:extLst>
          </p:cNvPr>
          <p:cNvPicPr>
            <a:picLocks noChangeAspect="1"/>
          </p:cNvPicPr>
          <p:nvPr/>
        </p:nvPicPr>
        <p:blipFill rotWithShape="1">
          <a:blip r:embed="rId2"/>
          <a:srcRect l="32222" t="47036" r="26805" b="12451"/>
          <a:stretch/>
        </p:blipFill>
        <p:spPr>
          <a:xfrm>
            <a:off x="4978400" y="1522183"/>
            <a:ext cx="3378200" cy="1878051"/>
          </a:xfrm>
          <a:prstGeom prst="rect">
            <a:avLst/>
          </a:prstGeom>
          <a:ln>
            <a:noFill/>
          </a:ln>
          <a:effectLst>
            <a:outerShdw blurRad="292100" dist="139700" dir="2700000" algn="tl" rotWithShape="0">
              <a:srgbClr val="333333">
                <a:alpha val="65000"/>
              </a:srgbClr>
            </a:outerShdw>
          </a:effectLst>
        </p:spPr>
      </p:pic>
      <p:sp>
        <p:nvSpPr>
          <p:cNvPr id="5" name="Заголовок 1">
            <a:extLst>
              <a:ext uri="{FF2B5EF4-FFF2-40B4-BE49-F238E27FC236}">
                <a16:creationId xmlns:a16="http://schemas.microsoft.com/office/drawing/2014/main" id="{F8177381-89BC-463F-8F80-16540FAEB685}"/>
              </a:ext>
            </a:extLst>
          </p:cNvPr>
          <p:cNvSpPr>
            <a:spLocks noGrp="1"/>
          </p:cNvSpPr>
          <p:nvPr>
            <p:ph type="ctrTitle"/>
          </p:nvPr>
        </p:nvSpPr>
        <p:spPr>
          <a:xfrm>
            <a:off x="332014" y="922332"/>
            <a:ext cx="8432800" cy="477837"/>
          </a:xfrm>
        </p:spPr>
        <p:txBody>
          <a:bodyPr/>
          <a:lstStyle/>
          <a:p>
            <a:r>
              <a:rPr lang="ru-RU" dirty="0"/>
              <a:t>ОСНОВНЫЕ ЭЛЕМЕНТЫ</a:t>
            </a:r>
          </a:p>
        </p:txBody>
      </p:sp>
      <p:sp>
        <p:nvSpPr>
          <p:cNvPr id="6" name="Подзаголовок 2">
            <a:extLst>
              <a:ext uri="{FF2B5EF4-FFF2-40B4-BE49-F238E27FC236}">
                <a16:creationId xmlns:a16="http://schemas.microsoft.com/office/drawing/2014/main" id="{0CE74A1C-BAA3-47D4-B6E3-B677C7D53BED}"/>
              </a:ext>
            </a:extLst>
          </p:cNvPr>
          <p:cNvSpPr>
            <a:spLocks noGrp="1"/>
          </p:cNvSpPr>
          <p:nvPr>
            <p:ph type="subTitle" idx="1"/>
          </p:nvPr>
        </p:nvSpPr>
        <p:spPr>
          <a:xfrm>
            <a:off x="1600200" y="505724"/>
            <a:ext cx="7151914" cy="469223"/>
          </a:xfrm>
        </p:spPr>
        <p:txBody>
          <a:bodyPr/>
          <a:lstStyle/>
          <a:p>
            <a:r>
              <a:rPr lang="en-US" dirty="0"/>
              <a:t>BPMN 2.0</a:t>
            </a:r>
            <a:endParaRPr lang="ru-RU" dirty="0"/>
          </a:p>
        </p:txBody>
      </p:sp>
      <p:sp>
        <p:nvSpPr>
          <p:cNvPr id="7" name="Прямоугольник 6">
            <a:extLst>
              <a:ext uri="{FF2B5EF4-FFF2-40B4-BE49-F238E27FC236}">
                <a16:creationId xmlns:a16="http://schemas.microsoft.com/office/drawing/2014/main" id="{99CD5B9E-F4A3-43FC-9BDF-8906D4B56E7E}"/>
              </a:ext>
            </a:extLst>
          </p:cNvPr>
          <p:cNvSpPr/>
          <p:nvPr/>
        </p:nvSpPr>
        <p:spPr>
          <a:xfrm>
            <a:off x="582386" y="974947"/>
            <a:ext cx="2999014" cy="2554545"/>
          </a:xfrm>
          <a:prstGeom prst="rect">
            <a:avLst/>
          </a:prstGeom>
        </p:spPr>
        <p:txBody>
          <a:bodyPr wrap="square">
            <a:spAutoFit/>
          </a:bodyPr>
          <a:lstStyle/>
          <a:p>
            <a:pPr algn="just"/>
            <a:r>
              <a:rPr lang="ru-RU" sz="1600" dirty="0">
                <a:solidFill>
                  <a:srgbClr val="96DA1C"/>
                </a:solidFill>
                <a:latin typeface="Franklin Gothic Book" panose="020B0503020102020204" pitchFamily="34" charset="0"/>
              </a:rPr>
              <a:t>Бизнес-правила </a:t>
            </a:r>
            <a:r>
              <a:rPr lang="ru-RU" sz="1600" dirty="0">
                <a:solidFill>
                  <a:schemeClr val="bg1"/>
                </a:solidFill>
                <a:latin typeface="Franklin Gothic Book" panose="020B0503020102020204" pitchFamily="34" charset="0"/>
              </a:rPr>
              <a:t>в BPMN не моделируются. Они обозначаются свернутым пулом, который соединен потоками объектов с задачей типа «Бизнес-правило». Само бизнес-правило описывается в произвольном формате: таблицей, формулами, программным кодом и т.д.</a:t>
            </a:r>
          </a:p>
        </p:txBody>
      </p:sp>
      <p:pic>
        <p:nvPicPr>
          <p:cNvPr id="8" name="Рисунок 7">
            <a:extLst>
              <a:ext uri="{FF2B5EF4-FFF2-40B4-BE49-F238E27FC236}">
                <a16:creationId xmlns:a16="http://schemas.microsoft.com/office/drawing/2014/main" id="{DF3CA120-215C-4E53-B22C-2E47B4D7DE17}"/>
              </a:ext>
            </a:extLst>
          </p:cNvPr>
          <p:cNvPicPr>
            <a:picLocks noChangeAspect="1"/>
          </p:cNvPicPr>
          <p:nvPr/>
        </p:nvPicPr>
        <p:blipFill rotWithShape="1">
          <a:blip r:embed="rId3"/>
          <a:srcRect l="32778" t="28261" r="10139" b="33023"/>
          <a:stretch/>
        </p:blipFill>
        <p:spPr>
          <a:xfrm>
            <a:off x="3683000" y="3746499"/>
            <a:ext cx="5219700" cy="1990385"/>
          </a:xfrm>
          <a:prstGeom prst="rect">
            <a:avLst/>
          </a:prstGeom>
          <a:ln>
            <a:noFill/>
          </a:ln>
          <a:effectLst>
            <a:outerShdw blurRad="292100" dist="139700" dir="2700000" algn="tl" rotWithShape="0">
              <a:srgbClr val="333333">
                <a:alpha val="65000"/>
              </a:srgbClr>
            </a:outerShdw>
          </a:effectLst>
        </p:spPr>
      </p:pic>
      <p:sp>
        <p:nvSpPr>
          <p:cNvPr id="2" name="Овал 1">
            <a:extLst>
              <a:ext uri="{FF2B5EF4-FFF2-40B4-BE49-F238E27FC236}">
                <a16:creationId xmlns:a16="http://schemas.microsoft.com/office/drawing/2014/main" id="{10D9601D-5C98-408A-982C-945415E8ED92}"/>
              </a:ext>
            </a:extLst>
          </p:cNvPr>
          <p:cNvSpPr/>
          <p:nvPr/>
        </p:nvSpPr>
        <p:spPr>
          <a:xfrm>
            <a:off x="3819525" y="5381625"/>
            <a:ext cx="273050" cy="24765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Овал 8">
            <a:extLst>
              <a:ext uri="{FF2B5EF4-FFF2-40B4-BE49-F238E27FC236}">
                <a16:creationId xmlns:a16="http://schemas.microsoft.com/office/drawing/2014/main" id="{BD158CB3-2A31-41E6-A7B3-D7662D637D37}"/>
              </a:ext>
            </a:extLst>
          </p:cNvPr>
          <p:cNvSpPr/>
          <p:nvPr/>
        </p:nvSpPr>
        <p:spPr>
          <a:xfrm>
            <a:off x="8051800" y="3123498"/>
            <a:ext cx="273050" cy="247650"/>
          </a:xfrm>
          <a:prstGeom prst="ellipse">
            <a:avLst/>
          </a:prstGeom>
          <a:solidFill>
            <a:srgbClr val="96DA1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3" name="Рисунок 2">
            <a:extLst>
              <a:ext uri="{FF2B5EF4-FFF2-40B4-BE49-F238E27FC236}">
                <a16:creationId xmlns:a16="http://schemas.microsoft.com/office/drawing/2014/main" id="{502F3A25-D901-4257-BEFA-75B85F626092}"/>
              </a:ext>
            </a:extLst>
          </p:cNvPr>
          <p:cNvPicPr>
            <a:picLocks noChangeAspect="1"/>
          </p:cNvPicPr>
          <p:nvPr/>
        </p:nvPicPr>
        <p:blipFill rotWithShape="1">
          <a:blip r:embed="rId4"/>
          <a:srcRect l="35454" t="67921" r="51515" b="9172"/>
          <a:stretch/>
        </p:blipFill>
        <p:spPr>
          <a:xfrm>
            <a:off x="1108365" y="3746498"/>
            <a:ext cx="2013801" cy="19903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5686873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8AAA71D4-01B8-406C-97B6-1C19208CF8A3}"/>
              </a:ext>
            </a:extLst>
          </p:cNvPr>
          <p:cNvSpPr/>
          <p:nvPr/>
        </p:nvSpPr>
        <p:spPr>
          <a:xfrm>
            <a:off x="315686" y="1031776"/>
            <a:ext cx="3782786" cy="4832092"/>
          </a:xfrm>
          <a:prstGeom prst="rect">
            <a:avLst/>
          </a:prstGeom>
        </p:spPr>
        <p:txBody>
          <a:bodyPr wrap="square">
            <a:spAutoFit/>
          </a:bodyPr>
          <a:lstStyle/>
          <a:p>
            <a:pPr algn="just"/>
            <a:r>
              <a:rPr lang="ru-RU" sz="1400" dirty="0">
                <a:solidFill>
                  <a:schemeClr val="bg1"/>
                </a:solidFill>
                <a:latin typeface="Franklin Gothic Book" panose="020B0503020102020204" pitchFamily="34" charset="0"/>
              </a:rPr>
              <a:t>Если </a:t>
            </a:r>
            <a:r>
              <a:rPr lang="ru-RU" sz="1400" dirty="0">
                <a:solidFill>
                  <a:srgbClr val="96DA1C"/>
                </a:solidFill>
                <a:latin typeface="Franklin Gothic Book" panose="020B0503020102020204" pitchFamily="34" charset="0"/>
              </a:rPr>
              <a:t>Сообщение</a:t>
            </a:r>
            <a:r>
              <a:rPr lang="ru-RU" sz="1400" dirty="0">
                <a:solidFill>
                  <a:schemeClr val="bg1"/>
                </a:solidFill>
                <a:latin typeface="Franklin Gothic Book" panose="020B0503020102020204" pitchFamily="34" charset="0"/>
              </a:rPr>
              <a:t> отражает содержание диалога (взаимодействия) между участниками процесса, то непосредственно сам диалог осуществляется через действия (задачи) – Отправку и Получение сообщений.</a:t>
            </a:r>
          </a:p>
          <a:p>
            <a:pPr algn="just"/>
            <a:endParaRPr lang="ru-RU" sz="1400" dirty="0">
              <a:solidFill>
                <a:schemeClr val="bg1"/>
              </a:solidFill>
              <a:latin typeface="Franklin Gothic Book" panose="020B0503020102020204" pitchFamily="34" charset="0"/>
            </a:endParaRPr>
          </a:p>
          <a:p>
            <a:pPr algn="just"/>
            <a:r>
              <a:rPr lang="ru-RU" sz="1400" dirty="0">
                <a:solidFill>
                  <a:srgbClr val="96DA1C"/>
                </a:solidFill>
                <a:latin typeface="Franklin Gothic Book" panose="020B0503020102020204" pitchFamily="34" charset="0"/>
              </a:rPr>
              <a:t>Получение сообщений </a:t>
            </a:r>
            <a:r>
              <a:rPr lang="ru-RU" sz="1400" dirty="0">
                <a:solidFill>
                  <a:schemeClr val="bg1"/>
                </a:solidFill>
                <a:latin typeface="Franklin Gothic Book" panose="020B0503020102020204" pitchFamily="34" charset="0"/>
              </a:rPr>
              <a:t>представляет собой простую Задачу, суть которой заключается в получении сообщения, которое должно поступить от внешнего участника процесса (имеющего отношение к данному бизнес-процессу). Задача считается выполненной в случае, если сообщение было получено хотя бы один раз.</a:t>
            </a:r>
          </a:p>
          <a:p>
            <a:pPr algn="just"/>
            <a:endParaRPr lang="ru-RU" sz="1400" dirty="0">
              <a:solidFill>
                <a:schemeClr val="bg1"/>
              </a:solidFill>
              <a:latin typeface="Franklin Gothic Book" panose="020B0503020102020204" pitchFamily="34" charset="0"/>
            </a:endParaRPr>
          </a:p>
          <a:p>
            <a:pPr algn="just"/>
            <a:r>
              <a:rPr lang="ru-RU" sz="1400" dirty="0">
                <a:solidFill>
                  <a:srgbClr val="96DA1C"/>
                </a:solidFill>
                <a:latin typeface="Franklin Gothic Book" panose="020B0503020102020204" pitchFamily="34" charset="0"/>
              </a:rPr>
              <a:t>Отправка сообщений</a:t>
            </a:r>
            <a:r>
              <a:rPr lang="ru-RU" sz="1400" dirty="0">
                <a:solidFill>
                  <a:schemeClr val="bg1"/>
                </a:solidFill>
                <a:latin typeface="Franklin Gothic Book" panose="020B0503020102020204" pitchFamily="34" charset="0"/>
              </a:rPr>
              <a:t> представляет собой Задачу, суть которой заключается в отправке сообщения внешнему участнику процесса (имеющему отношение к данному бизнес-процессу). Задача считается выполненной в случае, если сообщение было отправлено хотя бы один раз.</a:t>
            </a:r>
            <a:endParaRPr lang="ru-RU" sz="1100" dirty="0">
              <a:solidFill>
                <a:schemeClr val="bg1"/>
              </a:solidFill>
              <a:latin typeface="Franklin Gothic Book" panose="020B0503020102020204" pitchFamily="34" charset="0"/>
            </a:endParaRPr>
          </a:p>
        </p:txBody>
      </p:sp>
      <p:sp>
        <p:nvSpPr>
          <p:cNvPr id="7" name="Заголовок 1">
            <a:extLst>
              <a:ext uri="{FF2B5EF4-FFF2-40B4-BE49-F238E27FC236}">
                <a16:creationId xmlns:a16="http://schemas.microsoft.com/office/drawing/2014/main" id="{04A77675-9E9E-44E8-A02D-7929C2E6EE56}"/>
              </a:ext>
            </a:extLst>
          </p:cNvPr>
          <p:cNvSpPr>
            <a:spLocks noGrp="1"/>
          </p:cNvSpPr>
          <p:nvPr>
            <p:ph type="ctrTitle"/>
          </p:nvPr>
        </p:nvSpPr>
        <p:spPr>
          <a:xfrm>
            <a:off x="484414" y="1074732"/>
            <a:ext cx="8432800" cy="477837"/>
          </a:xfrm>
        </p:spPr>
        <p:txBody>
          <a:bodyPr/>
          <a:lstStyle/>
          <a:p>
            <a:r>
              <a:rPr lang="ru-RU" dirty="0"/>
              <a:t>ОСНОВНЫЕ ЭЛЕМЕНТЫ</a:t>
            </a:r>
          </a:p>
        </p:txBody>
      </p:sp>
      <p:sp>
        <p:nvSpPr>
          <p:cNvPr id="11" name="Подзаголовок 2">
            <a:extLst>
              <a:ext uri="{FF2B5EF4-FFF2-40B4-BE49-F238E27FC236}">
                <a16:creationId xmlns:a16="http://schemas.microsoft.com/office/drawing/2014/main" id="{ED2E7B11-4994-4D9B-80E3-2311FFDD81A7}"/>
              </a:ext>
            </a:extLst>
          </p:cNvPr>
          <p:cNvSpPr>
            <a:spLocks noGrp="1"/>
          </p:cNvSpPr>
          <p:nvPr>
            <p:ph type="subTitle" idx="1"/>
          </p:nvPr>
        </p:nvSpPr>
        <p:spPr>
          <a:xfrm>
            <a:off x="1600200" y="505724"/>
            <a:ext cx="7151914" cy="469223"/>
          </a:xfrm>
        </p:spPr>
        <p:txBody>
          <a:bodyPr/>
          <a:lstStyle/>
          <a:p>
            <a:r>
              <a:rPr lang="en-US" dirty="0"/>
              <a:t>BPMN 2.0</a:t>
            </a:r>
            <a:endParaRPr lang="ru-RU" dirty="0"/>
          </a:p>
        </p:txBody>
      </p:sp>
      <p:pic>
        <p:nvPicPr>
          <p:cNvPr id="12" name="Рисунок 11">
            <a:extLst>
              <a:ext uri="{FF2B5EF4-FFF2-40B4-BE49-F238E27FC236}">
                <a16:creationId xmlns:a16="http://schemas.microsoft.com/office/drawing/2014/main" id="{4738E4CE-C6B4-49B2-834F-5E5A21FABBC0}"/>
              </a:ext>
            </a:extLst>
          </p:cNvPr>
          <p:cNvPicPr>
            <a:picLocks noChangeAspect="1"/>
          </p:cNvPicPr>
          <p:nvPr/>
        </p:nvPicPr>
        <p:blipFill rotWithShape="1">
          <a:blip r:embed="rId2"/>
          <a:srcRect l="49818" t="57463" r="25555" b="25502"/>
          <a:stretch/>
        </p:blipFill>
        <p:spPr>
          <a:xfrm>
            <a:off x="5775202" y="1595525"/>
            <a:ext cx="1964870" cy="764152"/>
          </a:xfrm>
          <a:prstGeom prst="rect">
            <a:avLst/>
          </a:prstGeom>
          <a:ln>
            <a:noFill/>
          </a:ln>
          <a:effectLst>
            <a:outerShdw blurRad="292100" dist="139700" dir="2700000" algn="tl" rotWithShape="0">
              <a:srgbClr val="333333">
                <a:alpha val="65000"/>
              </a:srgbClr>
            </a:outerShdw>
          </a:effectLst>
        </p:spPr>
      </p:pic>
      <p:pic>
        <p:nvPicPr>
          <p:cNvPr id="13" name="Рисунок 12">
            <a:extLst>
              <a:ext uri="{FF2B5EF4-FFF2-40B4-BE49-F238E27FC236}">
                <a16:creationId xmlns:a16="http://schemas.microsoft.com/office/drawing/2014/main" id="{8E16E8E7-BAAC-41E0-A166-56AFB7E6CB28}"/>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40000" t="32213" r="39167" b="22086"/>
          <a:stretch/>
        </p:blipFill>
        <p:spPr>
          <a:xfrm>
            <a:off x="5232729" y="2606180"/>
            <a:ext cx="3207657" cy="39561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470375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a:t>ОСНОВНЫЕ ЭЛЕМЕНТЫ</a:t>
            </a:r>
          </a:p>
        </p:txBody>
      </p:sp>
      <p:sp>
        <p:nvSpPr>
          <p:cNvPr id="3" name="Подзаголовок 2"/>
          <p:cNvSpPr>
            <a:spLocks noGrp="1"/>
          </p:cNvSpPr>
          <p:nvPr>
            <p:ph type="subTitle" idx="1"/>
          </p:nvPr>
        </p:nvSpPr>
        <p:spPr/>
        <p:txBody>
          <a:bodyPr/>
          <a:lstStyle/>
          <a:p>
            <a:r>
              <a:rPr lang="en-US" dirty="0"/>
              <a:t>BPMN 2.0</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5" name="Рисунок 4">
            <a:extLst>
              <a:ext uri="{FF2B5EF4-FFF2-40B4-BE49-F238E27FC236}">
                <a16:creationId xmlns:a16="http://schemas.microsoft.com/office/drawing/2014/main" id="{01D5CBC0-B7F5-4094-8180-6E7123FF887F}"/>
              </a:ext>
            </a:extLst>
          </p:cNvPr>
          <p:cNvPicPr>
            <a:picLocks noChangeAspect="1"/>
          </p:cNvPicPr>
          <p:nvPr/>
        </p:nvPicPr>
        <p:blipFill rotWithShape="1">
          <a:blip r:embed="rId2"/>
          <a:srcRect l="41807" t="19566" r="16110" b="19615"/>
          <a:stretch/>
        </p:blipFill>
        <p:spPr>
          <a:xfrm>
            <a:off x="82539" y="1457583"/>
            <a:ext cx="4184661" cy="3400165"/>
          </a:xfrm>
          <a:prstGeom prst="rect">
            <a:avLst/>
          </a:prstGeom>
        </p:spPr>
      </p:pic>
      <p:pic>
        <p:nvPicPr>
          <p:cNvPr id="6" name="Рисунок 5">
            <a:extLst>
              <a:ext uri="{FF2B5EF4-FFF2-40B4-BE49-F238E27FC236}">
                <a16:creationId xmlns:a16="http://schemas.microsoft.com/office/drawing/2014/main" id="{B0DCEDA2-1360-427D-B7E8-13819B1E9F30}"/>
              </a:ext>
            </a:extLst>
          </p:cNvPr>
          <p:cNvPicPr>
            <a:picLocks noChangeAspect="1"/>
          </p:cNvPicPr>
          <p:nvPr/>
        </p:nvPicPr>
        <p:blipFill rotWithShape="1">
          <a:blip r:embed="rId3"/>
          <a:srcRect l="42222" t="47036" r="17699" b="11463"/>
          <a:stretch/>
        </p:blipFill>
        <p:spPr>
          <a:xfrm>
            <a:off x="4184259" y="3157665"/>
            <a:ext cx="4959741" cy="2887534"/>
          </a:xfrm>
          <a:prstGeom prst="rect">
            <a:avLst/>
          </a:prstGeom>
        </p:spPr>
      </p:pic>
    </p:spTree>
    <p:extLst>
      <p:ext uri="{BB962C8B-B14F-4D97-AF65-F5344CB8AC3E}">
        <p14:creationId xmlns:p14="http://schemas.microsoft.com/office/powerpoint/2010/main" val="22584265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1">
            <a:extLst>
              <a:ext uri="{FF2B5EF4-FFF2-40B4-BE49-F238E27FC236}">
                <a16:creationId xmlns:a16="http://schemas.microsoft.com/office/drawing/2014/main" id="{E747F161-9EA6-453A-9C4F-0668B463C1FB}"/>
              </a:ext>
            </a:extLst>
          </p:cNvPr>
          <p:cNvSpPr>
            <a:spLocks noGrp="1"/>
          </p:cNvSpPr>
          <p:nvPr>
            <p:ph type="ctrTitle"/>
          </p:nvPr>
        </p:nvSpPr>
        <p:spPr>
          <a:xfrm>
            <a:off x="355600" y="826533"/>
            <a:ext cx="8432800" cy="477837"/>
          </a:xfrm>
        </p:spPr>
        <p:txBody>
          <a:bodyPr/>
          <a:lstStyle/>
          <a:p>
            <a:r>
              <a:rPr lang="ru-RU" dirty="0"/>
              <a:t>Отправка и получение сообщений</a:t>
            </a:r>
          </a:p>
        </p:txBody>
      </p:sp>
      <p:sp>
        <p:nvSpPr>
          <p:cNvPr id="6" name="Подзаголовок 2">
            <a:extLst>
              <a:ext uri="{FF2B5EF4-FFF2-40B4-BE49-F238E27FC236}">
                <a16:creationId xmlns:a16="http://schemas.microsoft.com/office/drawing/2014/main" id="{62F48ADB-1C4D-447D-86EC-A3755AD66CD4}"/>
              </a:ext>
            </a:extLst>
          </p:cNvPr>
          <p:cNvSpPr txBox="1">
            <a:spLocks/>
          </p:cNvSpPr>
          <p:nvPr/>
        </p:nvSpPr>
        <p:spPr>
          <a:xfrm>
            <a:off x="1751941" y="581241"/>
            <a:ext cx="7151914" cy="469223"/>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2000" kern="1200">
                <a:solidFill>
                  <a:schemeClr val="tx1">
                    <a:lumMod val="75000"/>
                    <a:lumOff val="25000"/>
                  </a:schemeClr>
                </a:solidFill>
                <a:latin typeface="Franklin Gothic Book" panose="020B05030201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ru-RU" dirty="0"/>
              <a:t>Разбор ошибок </a:t>
            </a:r>
            <a:r>
              <a:rPr lang="en-US" dirty="0"/>
              <a:t>BPMN</a:t>
            </a:r>
            <a:endParaRPr lang="ru-RU" dirty="0"/>
          </a:p>
        </p:txBody>
      </p:sp>
      <p:sp>
        <p:nvSpPr>
          <p:cNvPr id="3" name="AutoShape 2">
            <a:extLst>
              <a:ext uri="{FF2B5EF4-FFF2-40B4-BE49-F238E27FC236}">
                <a16:creationId xmlns:a16="http://schemas.microsoft.com/office/drawing/2014/main" id="{8DDDFFB9-B98F-4CE1-9D2D-BFAEC9C425A5}"/>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Рисунок 9">
            <a:extLst>
              <a:ext uri="{FF2B5EF4-FFF2-40B4-BE49-F238E27FC236}">
                <a16:creationId xmlns:a16="http://schemas.microsoft.com/office/drawing/2014/main" id="{F55E1BBD-CEBB-45E9-94C2-2232E0C44256}"/>
              </a:ext>
            </a:extLst>
          </p:cNvPr>
          <p:cNvPicPr>
            <a:picLocks noChangeAspect="1"/>
          </p:cNvPicPr>
          <p:nvPr/>
        </p:nvPicPr>
        <p:blipFill rotWithShape="1">
          <a:blip r:embed="rId2"/>
          <a:srcRect t="20053" r="2222" b="13265"/>
          <a:stretch/>
        </p:blipFill>
        <p:spPr>
          <a:xfrm>
            <a:off x="1041400" y="1537056"/>
            <a:ext cx="5994401" cy="2298438"/>
          </a:xfrm>
          <a:prstGeom prst="rect">
            <a:avLst/>
          </a:prstGeom>
        </p:spPr>
      </p:pic>
      <p:pic>
        <p:nvPicPr>
          <p:cNvPr id="11" name="Рисунок 10">
            <a:extLst>
              <a:ext uri="{FF2B5EF4-FFF2-40B4-BE49-F238E27FC236}">
                <a16:creationId xmlns:a16="http://schemas.microsoft.com/office/drawing/2014/main" id="{3324820C-884B-49EE-9E2D-989989E2D86F}"/>
              </a:ext>
            </a:extLst>
          </p:cNvPr>
          <p:cNvPicPr>
            <a:picLocks noChangeAspect="1"/>
          </p:cNvPicPr>
          <p:nvPr/>
        </p:nvPicPr>
        <p:blipFill rotWithShape="1">
          <a:blip r:embed="rId3"/>
          <a:srcRect l="1666" t="19368" r="2627" b="11216"/>
          <a:stretch/>
        </p:blipFill>
        <p:spPr>
          <a:xfrm>
            <a:off x="-1" y="4093392"/>
            <a:ext cx="5994401" cy="2444419"/>
          </a:xfrm>
          <a:prstGeom prst="rect">
            <a:avLst/>
          </a:prstGeom>
        </p:spPr>
      </p:pic>
    </p:spTree>
    <p:extLst>
      <p:ext uri="{BB962C8B-B14F-4D97-AF65-F5344CB8AC3E}">
        <p14:creationId xmlns:p14="http://schemas.microsoft.com/office/powerpoint/2010/main" val="19244372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328954" y="1097592"/>
            <a:ext cx="2423160" cy="1384995"/>
          </a:xfrm>
          <a:prstGeom prst="rect">
            <a:avLst/>
          </a:prstGeom>
        </p:spPr>
        <p:txBody>
          <a:bodyPr wrap="square">
            <a:spAutoFit/>
          </a:bodyPr>
          <a:lstStyle/>
          <a:p>
            <a:pPr algn="just"/>
            <a:r>
              <a:rPr lang="ru-RU" sz="1400" dirty="0">
                <a:solidFill>
                  <a:schemeClr val="bg1"/>
                </a:solidFill>
                <a:latin typeface="Franklin Gothic Book" panose="020B0503020102020204" pitchFamily="34" charset="0"/>
              </a:rPr>
              <a:t>Промежуточные и большинство начальных событий могут быть снабжены триггерами, которые отражают причину события.</a:t>
            </a:r>
          </a:p>
        </p:txBody>
      </p:sp>
      <p:sp>
        <p:nvSpPr>
          <p:cNvPr id="7" name="Прямоугольник 6">
            <a:extLst>
              <a:ext uri="{FF2B5EF4-FFF2-40B4-BE49-F238E27FC236}">
                <a16:creationId xmlns:a16="http://schemas.microsoft.com/office/drawing/2014/main" id="{9948B54E-534C-41D4-8FC3-B7252C359002}"/>
              </a:ext>
            </a:extLst>
          </p:cNvPr>
          <p:cNvSpPr/>
          <p:nvPr/>
        </p:nvSpPr>
        <p:spPr>
          <a:xfrm>
            <a:off x="391886" y="729292"/>
            <a:ext cx="4180114" cy="5001369"/>
          </a:xfrm>
          <a:prstGeom prst="rect">
            <a:avLst/>
          </a:prstGeom>
        </p:spPr>
        <p:txBody>
          <a:bodyPr wrap="square">
            <a:spAutoFit/>
          </a:bodyPr>
          <a:lstStyle/>
          <a:p>
            <a:pPr marL="171450" indent="-171450" algn="just">
              <a:buFont typeface="Arial" panose="020B0604020202020204" pitchFamily="34" charset="0"/>
              <a:buChar char="•"/>
            </a:pPr>
            <a:r>
              <a:rPr lang="ru-RU" sz="1100" dirty="0">
                <a:solidFill>
                  <a:schemeClr val="accent5"/>
                </a:solidFill>
                <a:latin typeface="Franklin Gothic Book" panose="020B0503020102020204" pitchFamily="34" charset="0"/>
              </a:rPr>
              <a:t>Простое</a:t>
            </a:r>
            <a:r>
              <a:rPr lang="ru-RU" sz="1100" dirty="0">
                <a:solidFill>
                  <a:schemeClr val="accent4"/>
                </a:solidFill>
                <a:latin typeface="Franklin Gothic Book" panose="020B0503020102020204" pitchFamily="34" charset="0"/>
              </a:rPr>
              <a:t> - </a:t>
            </a:r>
            <a:r>
              <a:rPr lang="ru-RU" sz="1100" dirty="0" err="1">
                <a:latin typeface="Franklin Gothic Book" panose="020B0503020102020204" pitchFamily="34" charset="0"/>
              </a:rPr>
              <a:t>нетипизированное</a:t>
            </a:r>
            <a:r>
              <a:rPr lang="ru-RU" sz="1100" dirty="0">
                <a:latin typeface="Franklin Gothic Book" panose="020B0503020102020204" pitchFamily="34" charset="0"/>
              </a:rPr>
              <a:t> событие, обычно показывающее начало или окончание процесса;</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Сообщение (</a:t>
            </a:r>
            <a:r>
              <a:rPr lang="ru-RU" sz="1100" dirty="0" err="1">
                <a:solidFill>
                  <a:schemeClr val="accent5"/>
                </a:solidFill>
                <a:latin typeface="Franklin Gothic Book" panose="020B0503020102020204" pitchFamily="34" charset="0"/>
              </a:rPr>
              <a:t>Message</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исходит от некоторого участника или триггера процесса и предшествует началу, продолжению или окончанию некоторого действия процесса;</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Таймер (</a:t>
            </a:r>
            <a:r>
              <a:rPr lang="ru-RU" sz="1100" dirty="0" err="1">
                <a:solidFill>
                  <a:schemeClr val="accent5"/>
                </a:solidFill>
                <a:latin typeface="Franklin Gothic Book" panose="020B0503020102020204" pitchFamily="34" charset="0"/>
              </a:rPr>
              <a:t>Timer</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устанавливает цикл времени течения процесса;</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Ошибка (</a:t>
            </a:r>
            <a:r>
              <a:rPr lang="ru-RU" sz="1100" dirty="0" err="1">
                <a:solidFill>
                  <a:schemeClr val="accent5"/>
                </a:solidFill>
                <a:latin typeface="Franklin Gothic Book" panose="020B0503020102020204" pitchFamily="34" charset="0"/>
              </a:rPr>
              <a:t>Error</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генерация или обработка заданного типа ошибок;</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Эскалация (</a:t>
            </a:r>
            <a:r>
              <a:rPr lang="ru-RU" sz="1100" dirty="0" err="1">
                <a:solidFill>
                  <a:schemeClr val="accent5"/>
                </a:solidFill>
                <a:latin typeface="Franklin Gothic Book" panose="020B0503020102020204" pitchFamily="34" charset="0"/>
              </a:rPr>
              <a:t>Escalation</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перенос рассмотрения вопроса на более высокий уровень организационной иерархии;</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Отмена (</a:t>
            </a:r>
            <a:r>
              <a:rPr lang="ru-RU" sz="1100" dirty="0" err="1">
                <a:solidFill>
                  <a:schemeClr val="accent5"/>
                </a:solidFill>
                <a:latin typeface="Franklin Gothic Book" panose="020B0503020102020204" pitchFamily="34" charset="0"/>
              </a:rPr>
              <a:t>Cancel</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указывает на отмену события;</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Компенсация (</a:t>
            </a:r>
            <a:r>
              <a:rPr lang="ru-RU" sz="1100" dirty="0" err="1">
                <a:solidFill>
                  <a:schemeClr val="accent5"/>
                </a:solidFill>
                <a:latin typeface="Franklin Gothic Book" panose="020B0503020102020204" pitchFamily="34" charset="0"/>
              </a:rPr>
              <a:t>Compensation</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показывает, как подпроцесс может быть скомпенсирован последовательностью отката;</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Условное (</a:t>
            </a:r>
            <a:r>
              <a:rPr lang="en-US" sz="1100" dirty="0">
                <a:solidFill>
                  <a:schemeClr val="accent5"/>
                </a:solidFill>
                <a:latin typeface="Franklin Gothic Book" panose="020B0503020102020204" pitchFamily="34" charset="0"/>
              </a:rPr>
              <a:t>Rule</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реакция на изменение бизнес-условий или интеграция бизнес-правил</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Связь (</a:t>
            </a:r>
            <a:r>
              <a:rPr lang="ru-RU" sz="1100" dirty="0" err="1">
                <a:solidFill>
                  <a:schemeClr val="accent5"/>
                </a:solidFill>
                <a:latin typeface="Franklin Gothic Book" panose="020B0503020102020204" pitchFamily="34" charset="0"/>
              </a:rPr>
              <a:t>Link</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представляет собой механизм, обеспечивающий подключение окончания события одного потока процесса к началу события другого потока процесса;</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Сигнал (</a:t>
            </a:r>
            <a:r>
              <a:rPr lang="ru-RU" sz="1100" dirty="0" err="1">
                <a:solidFill>
                  <a:schemeClr val="accent5"/>
                </a:solidFill>
                <a:latin typeface="Franklin Gothic Book" panose="020B0503020102020204" pitchFamily="34" charset="0"/>
              </a:rPr>
              <a:t>Signal</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передается между процессами и может обрабатываться многими получателями;</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Множественный (Составное событие, </a:t>
            </a:r>
            <a:r>
              <a:rPr lang="ru-RU" sz="1100" dirty="0" err="1">
                <a:solidFill>
                  <a:schemeClr val="accent5"/>
                </a:solidFill>
                <a:latin typeface="Franklin Gothic Book" panose="020B0503020102020204" pitchFamily="34" charset="0"/>
              </a:rPr>
              <a:t>Multiple</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указывает на то, что событие может задействовать несколько путей развития процесса или продолжить процесс в случае наличия промежуточного события.</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Параллельное составное событие (</a:t>
            </a:r>
            <a:r>
              <a:rPr lang="ru-RU" sz="1100" dirty="0" err="1">
                <a:solidFill>
                  <a:schemeClr val="accent5"/>
                </a:solidFill>
                <a:latin typeface="Franklin Gothic Book" panose="020B0503020102020204" pitchFamily="34" charset="0"/>
              </a:rPr>
              <a:t>Parallel</a:t>
            </a:r>
            <a:r>
              <a:rPr lang="ru-RU" sz="1100" dirty="0">
                <a:solidFill>
                  <a:schemeClr val="accent5"/>
                </a:solidFill>
                <a:latin typeface="Franklin Gothic Book" panose="020B0503020102020204" pitchFamily="34" charset="0"/>
              </a:rPr>
              <a:t> </a:t>
            </a:r>
            <a:r>
              <a:rPr lang="ru-RU" sz="1100" dirty="0" err="1">
                <a:solidFill>
                  <a:schemeClr val="accent5"/>
                </a:solidFill>
                <a:latin typeface="Franklin Gothic Book" panose="020B0503020102020204" pitchFamily="34" charset="0"/>
              </a:rPr>
              <a:t>Multiple</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обработка всего множества параллельных событий</a:t>
            </a:r>
          </a:p>
          <a:p>
            <a:pPr marL="171450" indent="-171450" algn="just">
              <a:buFont typeface="Wingdings" panose="05000000000000000000" pitchFamily="2" charset="2"/>
              <a:buChar char="§"/>
            </a:pPr>
            <a:r>
              <a:rPr lang="ru-RU" sz="1100" dirty="0">
                <a:solidFill>
                  <a:schemeClr val="accent5"/>
                </a:solidFill>
                <a:latin typeface="Franklin Gothic Book" panose="020B0503020102020204" pitchFamily="34" charset="0"/>
              </a:rPr>
              <a:t>Завершение (</a:t>
            </a:r>
            <a:r>
              <a:rPr lang="ru-RU" sz="1100" dirty="0" err="1">
                <a:solidFill>
                  <a:schemeClr val="accent5"/>
                </a:solidFill>
                <a:latin typeface="Franklin Gothic Book" panose="020B0503020102020204" pitchFamily="34" charset="0"/>
              </a:rPr>
              <a:t>Terminate</a:t>
            </a:r>
            <a:r>
              <a:rPr lang="ru-RU" sz="1100" dirty="0">
                <a:solidFill>
                  <a:schemeClr val="accent5"/>
                </a:solidFill>
                <a:latin typeface="Franklin Gothic Book" panose="020B0503020102020204" pitchFamily="34" charset="0"/>
              </a:rPr>
              <a:t>) </a:t>
            </a:r>
            <a:r>
              <a:rPr lang="ru-RU" sz="1100" dirty="0">
                <a:latin typeface="Franklin Gothic Book" panose="020B0503020102020204" pitchFamily="34" charset="0"/>
              </a:rPr>
              <a:t>– вызывает немедленное прекращение выполнения процесса</a:t>
            </a:r>
          </a:p>
        </p:txBody>
      </p:sp>
      <p:pic>
        <p:nvPicPr>
          <p:cNvPr id="8" name="Рисунок 7">
            <a:extLst>
              <a:ext uri="{FF2B5EF4-FFF2-40B4-BE49-F238E27FC236}">
                <a16:creationId xmlns:a16="http://schemas.microsoft.com/office/drawing/2014/main" id="{5A902482-AFF9-4991-8346-4392CCB93EA2}"/>
              </a:ext>
            </a:extLst>
          </p:cNvPr>
          <p:cNvPicPr>
            <a:picLocks noChangeAspect="1"/>
          </p:cNvPicPr>
          <p:nvPr/>
        </p:nvPicPr>
        <p:blipFill rotWithShape="1">
          <a:blip r:embed="rId2"/>
          <a:srcRect l="27035" t="18640" r="25972" b="9732"/>
          <a:stretch/>
        </p:blipFill>
        <p:spPr>
          <a:xfrm>
            <a:off x="4846994" y="2534252"/>
            <a:ext cx="4297006" cy="3682323"/>
          </a:xfrm>
          <a:prstGeom prst="rect">
            <a:avLst/>
          </a:prstGeom>
          <a:ln>
            <a:noFill/>
          </a:ln>
          <a:effectLst>
            <a:outerShdw blurRad="292100" dist="139700" dir="2700000" algn="tl" rotWithShape="0">
              <a:srgbClr val="333333">
                <a:alpha val="65000"/>
              </a:srgbClr>
            </a:outerShdw>
          </a:effectLst>
        </p:spPr>
      </p:pic>
      <p:sp>
        <p:nvSpPr>
          <p:cNvPr id="9" name="Подзаголовок 2">
            <a:extLst>
              <a:ext uri="{FF2B5EF4-FFF2-40B4-BE49-F238E27FC236}">
                <a16:creationId xmlns:a16="http://schemas.microsoft.com/office/drawing/2014/main" id="{BB7DF0DB-28FE-4274-AA9A-61F7B857CA3D}"/>
              </a:ext>
            </a:extLst>
          </p:cNvPr>
          <p:cNvSpPr>
            <a:spLocks noGrp="1"/>
          </p:cNvSpPr>
          <p:nvPr>
            <p:ph type="subTitle" idx="1"/>
          </p:nvPr>
        </p:nvSpPr>
        <p:spPr>
          <a:xfrm>
            <a:off x="1600200" y="505724"/>
            <a:ext cx="7151914" cy="469223"/>
          </a:xfrm>
        </p:spPr>
        <p:txBody>
          <a:bodyPr/>
          <a:lstStyle/>
          <a:p>
            <a:r>
              <a:rPr lang="en-US" dirty="0"/>
              <a:t>BPMN 2.0</a:t>
            </a:r>
            <a:r>
              <a:rPr lang="ru-RU" dirty="0"/>
              <a:t>. СОБЫТИЯ</a:t>
            </a:r>
          </a:p>
        </p:txBody>
      </p:sp>
    </p:spTree>
    <p:extLst>
      <p:ext uri="{BB962C8B-B14F-4D97-AF65-F5344CB8AC3E}">
        <p14:creationId xmlns:p14="http://schemas.microsoft.com/office/powerpoint/2010/main" val="115607104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A9EF32-DC76-48D6-82E6-2709803E54B7}"/>
              </a:ext>
            </a:extLst>
          </p:cNvPr>
          <p:cNvSpPr>
            <a:spLocks noGrp="1"/>
          </p:cNvSpPr>
          <p:nvPr>
            <p:ph type="ctrTitle"/>
          </p:nvPr>
        </p:nvSpPr>
        <p:spPr>
          <a:xfrm>
            <a:off x="332014" y="610093"/>
            <a:ext cx="8432800" cy="477837"/>
          </a:xfrm>
        </p:spPr>
        <p:txBody>
          <a:bodyPr/>
          <a:lstStyle/>
          <a:p>
            <a:r>
              <a:rPr lang="ru-RU" dirty="0"/>
              <a:t>Завершающее событие</a:t>
            </a:r>
          </a:p>
        </p:txBody>
      </p:sp>
      <p:sp>
        <p:nvSpPr>
          <p:cNvPr id="13" name="Подзаголовок 2">
            <a:extLst>
              <a:ext uri="{FF2B5EF4-FFF2-40B4-BE49-F238E27FC236}">
                <a16:creationId xmlns:a16="http://schemas.microsoft.com/office/drawing/2014/main" id="{D220DC90-C953-4CB2-A2B9-B1A3814D19F0}"/>
              </a:ext>
            </a:extLst>
          </p:cNvPr>
          <p:cNvSpPr txBox="1">
            <a:spLocks/>
          </p:cNvSpPr>
          <p:nvPr/>
        </p:nvSpPr>
        <p:spPr>
          <a:xfrm>
            <a:off x="1751941" y="581241"/>
            <a:ext cx="7151914" cy="469223"/>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2000" kern="1200">
                <a:solidFill>
                  <a:schemeClr val="tx1">
                    <a:lumMod val="75000"/>
                    <a:lumOff val="25000"/>
                  </a:schemeClr>
                </a:solidFill>
                <a:latin typeface="Franklin Gothic Book" panose="020B05030201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ru-RU"/>
              <a:t>Разбор ошибок </a:t>
            </a:r>
            <a:r>
              <a:rPr lang="en-US"/>
              <a:t>BPMN</a:t>
            </a:r>
            <a:endParaRPr lang="ru-RU" dirty="0"/>
          </a:p>
        </p:txBody>
      </p:sp>
      <p:pic>
        <p:nvPicPr>
          <p:cNvPr id="2050" name="Picture 2">
            <a:extLst>
              <a:ext uri="{FF2B5EF4-FFF2-40B4-BE49-F238E27FC236}">
                <a16:creationId xmlns:a16="http://schemas.microsoft.com/office/drawing/2014/main" id="{259EFE43-92EC-4DCE-A350-A6BD952359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81138"/>
            <a:ext cx="5888182" cy="202271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1D90F25-AF21-4F1C-96AC-F54898750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77168"/>
            <a:ext cx="5888182" cy="165906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 name="Стрелка: вниз 2">
            <a:extLst>
              <a:ext uri="{FF2B5EF4-FFF2-40B4-BE49-F238E27FC236}">
                <a16:creationId xmlns:a16="http://schemas.microsoft.com/office/drawing/2014/main" id="{3C01F375-1EEE-4335-9548-BA5AD214FE31}"/>
              </a:ext>
            </a:extLst>
          </p:cNvPr>
          <p:cNvSpPr/>
          <p:nvPr/>
        </p:nvSpPr>
        <p:spPr>
          <a:xfrm>
            <a:off x="2535382" y="3429000"/>
            <a:ext cx="748145" cy="468059"/>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ru-RU"/>
          </a:p>
        </p:txBody>
      </p:sp>
      <p:sp>
        <p:nvSpPr>
          <p:cNvPr id="4" name="TextBox 3">
            <a:extLst>
              <a:ext uri="{FF2B5EF4-FFF2-40B4-BE49-F238E27FC236}">
                <a16:creationId xmlns:a16="http://schemas.microsoft.com/office/drawing/2014/main" id="{6637849F-FC04-4B38-BF47-71D74F326713}"/>
              </a:ext>
            </a:extLst>
          </p:cNvPr>
          <p:cNvSpPr txBox="1"/>
          <p:nvPr/>
        </p:nvSpPr>
        <p:spPr>
          <a:xfrm>
            <a:off x="6553200" y="1481138"/>
            <a:ext cx="2350655" cy="1754326"/>
          </a:xfrm>
          <a:prstGeom prst="rect">
            <a:avLst/>
          </a:prstGeom>
          <a:noFill/>
        </p:spPr>
        <p:txBody>
          <a:bodyPr wrap="square" rtlCol="0">
            <a:spAutoFit/>
          </a:bodyPr>
          <a:lstStyle/>
          <a:p>
            <a:pPr algn="just"/>
            <a:r>
              <a:rPr lang="ru-RU" dirty="0">
                <a:solidFill>
                  <a:schemeClr val="bg1"/>
                </a:solidFill>
                <a:latin typeface="Franklin Gothic Book" panose="020B0503020102020204" pitchFamily="34" charset="0"/>
              </a:rPr>
              <a:t>На диаграмме может быть несколько завершающих событий: </a:t>
            </a:r>
          </a:p>
          <a:p>
            <a:pPr marL="742950" lvl="1" indent="-285750">
              <a:buFont typeface="Wingdings" panose="05000000000000000000" pitchFamily="2" charset="2"/>
              <a:buChar char="ü"/>
            </a:pPr>
            <a:r>
              <a:rPr lang="ru-RU" dirty="0">
                <a:solidFill>
                  <a:schemeClr val="bg1"/>
                </a:solidFill>
                <a:latin typeface="Franklin Gothic Book" panose="020B0503020102020204" pitchFamily="34" charset="0"/>
              </a:rPr>
              <a:t>Потока</a:t>
            </a:r>
          </a:p>
          <a:p>
            <a:pPr marL="742950" lvl="1" indent="-285750">
              <a:buFont typeface="Wingdings" panose="05000000000000000000" pitchFamily="2" charset="2"/>
              <a:buChar char="ü"/>
            </a:pPr>
            <a:r>
              <a:rPr lang="ru-RU" dirty="0">
                <a:solidFill>
                  <a:schemeClr val="bg1"/>
                </a:solidFill>
                <a:latin typeface="Franklin Gothic Book" panose="020B0503020102020204" pitchFamily="34" charset="0"/>
              </a:rPr>
              <a:t>Процесса </a:t>
            </a:r>
          </a:p>
        </p:txBody>
      </p:sp>
    </p:spTree>
    <p:extLst>
      <p:ext uri="{BB962C8B-B14F-4D97-AF65-F5344CB8AC3E}">
        <p14:creationId xmlns:p14="http://schemas.microsoft.com/office/powerpoint/2010/main" val="80374174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A9EF32-DC76-48D6-82E6-2709803E54B7}"/>
              </a:ext>
            </a:extLst>
          </p:cNvPr>
          <p:cNvSpPr>
            <a:spLocks noGrp="1"/>
          </p:cNvSpPr>
          <p:nvPr>
            <p:ph type="ctrTitle"/>
          </p:nvPr>
        </p:nvSpPr>
        <p:spPr>
          <a:xfrm>
            <a:off x="332014" y="610093"/>
            <a:ext cx="8432800" cy="477837"/>
          </a:xfrm>
        </p:spPr>
        <p:txBody>
          <a:bodyPr/>
          <a:lstStyle/>
          <a:p>
            <a:r>
              <a:rPr lang="ru-RU" dirty="0"/>
              <a:t>Шлюзы</a:t>
            </a:r>
          </a:p>
        </p:txBody>
      </p:sp>
      <p:sp>
        <p:nvSpPr>
          <p:cNvPr id="13" name="Подзаголовок 2">
            <a:extLst>
              <a:ext uri="{FF2B5EF4-FFF2-40B4-BE49-F238E27FC236}">
                <a16:creationId xmlns:a16="http://schemas.microsoft.com/office/drawing/2014/main" id="{D220DC90-C953-4CB2-A2B9-B1A3814D19F0}"/>
              </a:ext>
            </a:extLst>
          </p:cNvPr>
          <p:cNvSpPr txBox="1">
            <a:spLocks/>
          </p:cNvSpPr>
          <p:nvPr/>
        </p:nvSpPr>
        <p:spPr>
          <a:xfrm>
            <a:off x="1751941" y="581241"/>
            <a:ext cx="7151914" cy="469223"/>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2000" kern="1200">
                <a:solidFill>
                  <a:schemeClr val="tx1">
                    <a:lumMod val="75000"/>
                    <a:lumOff val="25000"/>
                  </a:schemeClr>
                </a:solidFill>
                <a:latin typeface="Franklin Gothic Book" panose="020B05030201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ru-RU"/>
              <a:t>Разбор ошибок </a:t>
            </a:r>
            <a:r>
              <a:rPr lang="en-US"/>
              <a:t>BPMN</a:t>
            </a:r>
            <a:endParaRPr lang="ru-RU" dirty="0"/>
          </a:p>
        </p:txBody>
      </p:sp>
      <p:sp>
        <p:nvSpPr>
          <p:cNvPr id="4" name="TextBox 3">
            <a:extLst>
              <a:ext uri="{FF2B5EF4-FFF2-40B4-BE49-F238E27FC236}">
                <a16:creationId xmlns:a16="http://schemas.microsoft.com/office/drawing/2014/main" id="{6637849F-FC04-4B38-BF47-71D74F326713}"/>
              </a:ext>
            </a:extLst>
          </p:cNvPr>
          <p:cNvSpPr txBox="1"/>
          <p:nvPr/>
        </p:nvSpPr>
        <p:spPr>
          <a:xfrm>
            <a:off x="6553200" y="1481138"/>
            <a:ext cx="2350655" cy="2308324"/>
          </a:xfrm>
          <a:prstGeom prst="rect">
            <a:avLst/>
          </a:prstGeom>
          <a:noFill/>
        </p:spPr>
        <p:txBody>
          <a:bodyPr wrap="square" rtlCol="0">
            <a:spAutoFit/>
          </a:bodyPr>
          <a:lstStyle/>
          <a:p>
            <a:pPr algn="just"/>
            <a:r>
              <a:rPr lang="ru-RU" dirty="0">
                <a:solidFill>
                  <a:schemeClr val="bg1"/>
                </a:solidFill>
                <a:latin typeface="Franklin Gothic Book" panose="020B0503020102020204" pitchFamily="34" charset="0"/>
              </a:rPr>
              <a:t>Нотация настоятельно рекомендует не использовать одну развилку и для сведения и для разведения потоков управления</a:t>
            </a:r>
          </a:p>
        </p:txBody>
      </p:sp>
      <p:pic>
        <p:nvPicPr>
          <p:cNvPr id="3074" name="Picture 2">
            <a:extLst>
              <a:ext uri="{FF2B5EF4-FFF2-40B4-BE49-F238E27FC236}">
                <a16:creationId xmlns:a16="http://schemas.microsoft.com/office/drawing/2014/main" id="{19CE63F8-6E97-4B06-98E5-EDB63CD75E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973" y="1050463"/>
            <a:ext cx="3561609" cy="30453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3E1331DD-D136-4520-B270-3E8CB29970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8733" y="3867150"/>
            <a:ext cx="3446599" cy="299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32887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A9EF32-DC76-48D6-82E6-2709803E54B7}"/>
              </a:ext>
            </a:extLst>
          </p:cNvPr>
          <p:cNvSpPr>
            <a:spLocks noGrp="1"/>
          </p:cNvSpPr>
          <p:nvPr>
            <p:ph type="ctrTitle"/>
          </p:nvPr>
        </p:nvSpPr>
        <p:spPr>
          <a:xfrm>
            <a:off x="332014" y="610093"/>
            <a:ext cx="8432800" cy="477837"/>
          </a:xfrm>
        </p:spPr>
        <p:txBody>
          <a:bodyPr/>
          <a:lstStyle/>
          <a:p>
            <a:r>
              <a:rPr lang="ru-RU" dirty="0"/>
              <a:t>Сообщения</a:t>
            </a:r>
          </a:p>
        </p:txBody>
      </p:sp>
      <p:sp>
        <p:nvSpPr>
          <p:cNvPr id="6" name="Прямоугольник 5">
            <a:extLst>
              <a:ext uri="{FF2B5EF4-FFF2-40B4-BE49-F238E27FC236}">
                <a16:creationId xmlns:a16="http://schemas.microsoft.com/office/drawing/2014/main" id="{A2D0438F-750D-4862-B29B-95F6AD5C0FB9}"/>
              </a:ext>
            </a:extLst>
          </p:cNvPr>
          <p:cNvSpPr/>
          <p:nvPr/>
        </p:nvSpPr>
        <p:spPr>
          <a:xfrm>
            <a:off x="6590797" y="1738390"/>
            <a:ext cx="2248409" cy="1600438"/>
          </a:xfrm>
          <a:prstGeom prst="rect">
            <a:avLst/>
          </a:prstGeom>
        </p:spPr>
        <p:txBody>
          <a:bodyPr wrap="square">
            <a:spAutoFit/>
          </a:bodyPr>
          <a:lstStyle/>
          <a:p>
            <a:pPr algn="just"/>
            <a:r>
              <a:rPr lang="ru-RU" sz="1400" dirty="0">
                <a:solidFill>
                  <a:schemeClr val="bg1"/>
                </a:solidFill>
                <a:latin typeface="Franklin Gothic Book" panose="020B0503020102020204" pitchFamily="34" charset="0"/>
              </a:rPr>
              <a:t>Если задача 2 будет выполняться быстрее, чем задача 1, то нижний процесс не сможет отправить сообщение. Это сообщение еще не ждёт верхний процесс.</a:t>
            </a:r>
          </a:p>
        </p:txBody>
      </p:sp>
      <p:sp>
        <p:nvSpPr>
          <p:cNvPr id="7" name="Прямоугольник 6">
            <a:extLst>
              <a:ext uri="{FF2B5EF4-FFF2-40B4-BE49-F238E27FC236}">
                <a16:creationId xmlns:a16="http://schemas.microsoft.com/office/drawing/2014/main" id="{5B6CD82C-6FDE-4DF3-8EA9-FD1B02FDE6D8}"/>
              </a:ext>
            </a:extLst>
          </p:cNvPr>
          <p:cNvSpPr/>
          <p:nvPr/>
        </p:nvSpPr>
        <p:spPr>
          <a:xfrm>
            <a:off x="6516405" y="4727949"/>
            <a:ext cx="2248409" cy="307777"/>
          </a:xfrm>
          <a:prstGeom prst="rect">
            <a:avLst/>
          </a:prstGeom>
        </p:spPr>
        <p:txBody>
          <a:bodyPr wrap="square">
            <a:spAutoFit/>
          </a:bodyPr>
          <a:lstStyle/>
          <a:p>
            <a:pPr algn="just"/>
            <a:r>
              <a:rPr lang="ru-RU" sz="1400" dirty="0">
                <a:solidFill>
                  <a:schemeClr val="bg1"/>
                </a:solidFill>
                <a:latin typeface="Franklin Gothic Book" panose="020B0503020102020204" pitchFamily="34" charset="0"/>
              </a:rPr>
              <a:t>РЕШЕНИЕ</a:t>
            </a:r>
          </a:p>
        </p:txBody>
      </p:sp>
      <p:sp>
        <p:nvSpPr>
          <p:cNvPr id="8" name="Стрелка: вниз 7">
            <a:extLst>
              <a:ext uri="{FF2B5EF4-FFF2-40B4-BE49-F238E27FC236}">
                <a16:creationId xmlns:a16="http://schemas.microsoft.com/office/drawing/2014/main" id="{29A6C878-BD50-4FEE-A0EE-52BEADE600FE}"/>
              </a:ext>
            </a:extLst>
          </p:cNvPr>
          <p:cNvSpPr/>
          <p:nvPr/>
        </p:nvSpPr>
        <p:spPr>
          <a:xfrm rot="5400000">
            <a:off x="5647602" y="1777651"/>
            <a:ext cx="672728" cy="634914"/>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ru-RU"/>
          </a:p>
        </p:txBody>
      </p:sp>
      <p:sp>
        <p:nvSpPr>
          <p:cNvPr id="9" name="Стрелка: вниз 8">
            <a:extLst>
              <a:ext uri="{FF2B5EF4-FFF2-40B4-BE49-F238E27FC236}">
                <a16:creationId xmlns:a16="http://schemas.microsoft.com/office/drawing/2014/main" id="{651B0232-7549-4A77-9F39-6022305A998F}"/>
              </a:ext>
            </a:extLst>
          </p:cNvPr>
          <p:cNvSpPr/>
          <p:nvPr/>
        </p:nvSpPr>
        <p:spPr>
          <a:xfrm rot="5400000">
            <a:off x="5647602" y="4564381"/>
            <a:ext cx="672728" cy="634914"/>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ru-RU"/>
          </a:p>
        </p:txBody>
      </p:sp>
      <p:sp>
        <p:nvSpPr>
          <p:cNvPr id="12" name="Прямоугольник 11">
            <a:extLst>
              <a:ext uri="{FF2B5EF4-FFF2-40B4-BE49-F238E27FC236}">
                <a16:creationId xmlns:a16="http://schemas.microsoft.com/office/drawing/2014/main" id="{51AB12BC-7938-498E-9F96-75609FF7FC7B}"/>
              </a:ext>
            </a:extLst>
          </p:cNvPr>
          <p:cNvSpPr/>
          <p:nvPr/>
        </p:nvSpPr>
        <p:spPr>
          <a:xfrm>
            <a:off x="254007" y="1116782"/>
            <a:ext cx="4572000" cy="584775"/>
          </a:xfrm>
          <a:prstGeom prst="rect">
            <a:avLst/>
          </a:prstGeom>
        </p:spPr>
        <p:txBody>
          <a:bodyPr>
            <a:spAutoFit/>
          </a:bodyPr>
          <a:lstStyle/>
          <a:p>
            <a:pPr algn="ctr"/>
            <a:r>
              <a:rPr lang="ru-RU" sz="1600" dirty="0">
                <a:latin typeface="Franklin Gothic Book" panose="020B0503020102020204" pitchFamily="34" charset="0"/>
              </a:rPr>
              <a:t>Изображение взаимодействия процессов, которые могут не выполниться</a:t>
            </a:r>
          </a:p>
        </p:txBody>
      </p:sp>
      <p:sp>
        <p:nvSpPr>
          <p:cNvPr id="13" name="Подзаголовок 2">
            <a:extLst>
              <a:ext uri="{FF2B5EF4-FFF2-40B4-BE49-F238E27FC236}">
                <a16:creationId xmlns:a16="http://schemas.microsoft.com/office/drawing/2014/main" id="{D220DC90-C953-4CB2-A2B9-B1A3814D19F0}"/>
              </a:ext>
            </a:extLst>
          </p:cNvPr>
          <p:cNvSpPr txBox="1">
            <a:spLocks/>
          </p:cNvSpPr>
          <p:nvPr/>
        </p:nvSpPr>
        <p:spPr>
          <a:xfrm>
            <a:off x="1751941" y="581241"/>
            <a:ext cx="7151914" cy="469223"/>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2000" kern="1200">
                <a:solidFill>
                  <a:schemeClr val="tx1">
                    <a:lumMod val="75000"/>
                    <a:lumOff val="25000"/>
                  </a:schemeClr>
                </a:solidFill>
                <a:latin typeface="Franklin Gothic Book" panose="020B05030201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ru-RU"/>
              <a:t>Разбор ошибок </a:t>
            </a:r>
            <a:r>
              <a:rPr lang="en-US"/>
              <a:t>BPMN</a:t>
            </a:r>
            <a:endParaRPr lang="ru-RU" dirty="0"/>
          </a:p>
        </p:txBody>
      </p:sp>
      <p:pic>
        <p:nvPicPr>
          <p:cNvPr id="1026" name="Picture 2">
            <a:extLst>
              <a:ext uri="{FF2B5EF4-FFF2-40B4-BE49-F238E27FC236}">
                <a16:creationId xmlns:a16="http://schemas.microsoft.com/office/drawing/2014/main" id="{79764761-988A-4F0A-B19E-E57BB452EA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902" y="1758744"/>
            <a:ext cx="4151793" cy="24127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65F01F0-E527-4D07-B91B-6159060CDA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902" y="4545474"/>
            <a:ext cx="4068210" cy="220955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147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1">
            <a:extLst>
              <a:ext uri="{FF2B5EF4-FFF2-40B4-BE49-F238E27FC236}">
                <a16:creationId xmlns:a16="http://schemas.microsoft.com/office/drawing/2014/main" id="{E747F161-9EA6-453A-9C4F-0668B463C1FB}"/>
              </a:ext>
            </a:extLst>
          </p:cNvPr>
          <p:cNvSpPr>
            <a:spLocks noGrp="1"/>
          </p:cNvSpPr>
          <p:nvPr>
            <p:ph type="ctrTitle"/>
          </p:nvPr>
        </p:nvSpPr>
        <p:spPr>
          <a:xfrm>
            <a:off x="355600" y="826533"/>
            <a:ext cx="8432800" cy="477837"/>
          </a:xfrm>
        </p:spPr>
        <p:txBody>
          <a:bodyPr/>
          <a:lstStyle/>
          <a:p>
            <a:r>
              <a:rPr lang="ru-RU" dirty="0"/>
              <a:t>Граничные события</a:t>
            </a:r>
          </a:p>
        </p:txBody>
      </p:sp>
      <p:sp>
        <p:nvSpPr>
          <p:cNvPr id="6" name="Подзаголовок 2">
            <a:extLst>
              <a:ext uri="{FF2B5EF4-FFF2-40B4-BE49-F238E27FC236}">
                <a16:creationId xmlns:a16="http://schemas.microsoft.com/office/drawing/2014/main" id="{62F48ADB-1C4D-447D-86EC-A3755AD66CD4}"/>
              </a:ext>
            </a:extLst>
          </p:cNvPr>
          <p:cNvSpPr txBox="1">
            <a:spLocks/>
          </p:cNvSpPr>
          <p:nvPr/>
        </p:nvSpPr>
        <p:spPr>
          <a:xfrm>
            <a:off x="1751941" y="581241"/>
            <a:ext cx="7151914" cy="469223"/>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2000" kern="1200">
                <a:solidFill>
                  <a:schemeClr val="tx1">
                    <a:lumMod val="75000"/>
                    <a:lumOff val="25000"/>
                  </a:schemeClr>
                </a:solidFill>
                <a:latin typeface="Franklin Gothic Book" panose="020B05030201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ru-RU" dirty="0"/>
              <a:t>Разбор ошибок </a:t>
            </a:r>
            <a:r>
              <a:rPr lang="en-US" dirty="0"/>
              <a:t>BPMN</a:t>
            </a:r>
            <a:endParaRPr lang="ru-RU" dirty="0"/>
          </a:p>
        </p:txBody>
      </p:sp>
      <p:sp>
        <p:nvSpPr>
          <p:cNvPr id="2" name="Прямоугольник 1">
            <a:extLst>
              <a:ext uri="{FF2B5EF4-FFF2-40B4-BE49-F238E27FC236}">
                <a16:creationId xmlns:a16="http://schemas.microsoft.com/office/drawing/2014/main" id="{72565293-65AF-4FA8-9E0A-749937E43259}"/>
              </a:ext>
            </a:extLst>
          </p:cNvPr>
          <p:cNvSpPr/>
          <p:nvPr/>
        </p:nvSpPr>
        <p:spPr>
          <a:xfrm>
            <a:off x="6262255" y="1414819"/>
            <a:ext cx="2526145" cy="4616648"/>
          </a:xfrm>
          <a:prstGeom prst="rect">
            <a:avLst/>
          </a:prstGeom>
        </p:spPr>
        <p:txBody>
          <a:bodyPr wrap="square">
            <a:spAutoFit/>
          </a:bodyPr>
          <a:lstStyle/>
          <a:p>
            <a:pPr algn="just"/>
            <a:r>
              <a:rPr lang="ru-RU" sz="1400" dirty="0">
                <a:solidFill>
                  <a:schemeClr val="bg1"/>
                </a:solidFill>
                <a:latin typeface="Franklin Gothic Book" panose="020B0503020102020204" pitchFamily="34" charset="0"/>
              </a:rPr>
              <a:t>События могут располагаться в потоке управления между действиями процесса или на границе действия — в этом случае они считаются граничными.</a:t>
            </a:r>
          </a:p>
          <a:p>
            <a:pPr algn="just"/>
            <a:r>
              <a:rPr lang="ru-RU" sz="1400" dirty="0">
                <a:solidFill>
                  <a:schemeClr val="bg1"/>
                </a:solidFill>
                <a:latin typeface="Franklin Gothic Book" panose="020B0503020102020204" pitchFamily="34" charset="0"/>
              </a:rPr>
              <a:t>Граничные события являются промежуточными, они находятся на границе действия, обозначая те факты, которые случились при его выполнении. Они могут прерывать процесс (граничные прерывающие события) или активировать дополнительный поток управления, который выполняется одновременно с выполнением подпроцесса (граничные не прерывающие события).</a:t>
            </a:r>
          </a:p>
        </p:txBody>
      </p:sp>
      <p:sp>
        <p:nvSpPr>
          <p:cNvPr id="3" name="AutoShape 2">
            <a:extLst>
              <a:ext uri="{FF2B5EF4-FFF2-40B4-BE49-F238E27FC236}">
                <a16:creationId xmlns:a16="http://schemas.microsoft.com/office/drawing/2014/main" id="{8DDDFFB9-B98F-4CE1-9D2D-BFAEC9C425A5}"/>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9" name="Рисунок 8">
            <a:extLst>
              <a:ext uri="{FF2B5EF4-FFF2-40B4-BE49-F238E27FC236}">
                <a16:creationId xmlns:a16="http://schemas.microsoft.com/office/drawing/2014/main" id="{7366E737-0F09-42B0-AD43-746139C7E818}"/>
              </a:ext>
            </a:extLst>
          </p:cNvPr>
          <p:cNvPicPr>
            <a:picLocks noChangeAspect="1"/>
          </p:cNvPicPr>
          <p:nvPr/>
        </p:nvPicPr>
        <p:blipFill rotWithShape="1">
          <a:blip r:embed="rId2"/>
          <a:srcRect l="13793" t="31754" r="35862" b="15807"/>
          <a:stretch/>
        </p:blipFill>
        <p:spPr>
          <a:xfrm>
            <a:off x="55016" y="1649427"/>
            <a:ext cx="6014708" cy="4010394"/>
          </a:xfrm>
          <a:prstGeom prst="rect">
            <a:avLst/>
          </a:prstGeom>
        </p:spPr>
      </p:pic>
    </p:spTree>
    <p:extLst>
      <p:ext uri="{BB962C8B-B14F-4D97-AF65-F5344CB8AC3E}">
        <p14:creationId xmlns:p14="http://schemas.microsoft.com/office/powerpoint/2010/main" val="29845280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p:txBody>
          <a:bodyPr/>
          <a:lstStyle/>
          <a:p>
            <a:r>
              <a:rPr lang="en-US" dirty="0"/>
              <a:t>BPMN 2.0</a:t>
            </a:r>
            <a:r>
              <a:rPr lang="ru-RU" dirty="0"/>
              <a:t>. Маркеры подпроцессов</a:t>
            </a:r>
            <a:r>
              <a:rPr lang="en-US" dirty="0"/>
              <a:t> </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2">
            <a:extLst>
              <a:ext uri="{FF2B5EF4-FFF2-40B4-BE49-F238E27FC236}">
                <a16:creationId xmlns:a16="http://schemas.microsoft.com/office/drawing/2014/main" id="{3A6C7BA5-FBEB-4567-9F99-D06DEDB94FDD}"/>
              </a:ext>
            </a:extLst>
          </p:cNvPr>
          <p:cNvSpPr>
            <a:spLocks noChangeAspect="1" noChangeArrowheads="1"/>
          </p:cNvSpPr>
          <p:nvPr/>
        </p:nvSpPr>
        <p:spPr bwMode="auto">
          <a:xfrm>
            <a:off x="5029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a:extLst>
              <a:ext uri="{FF2B5EF4-FFF2-40B4-BE49-F238E27FC236}">
                <a16:creationId xmlns:a16="http://schemas.microsoft.com/office/drawing/2014/main" id="{67FEEC1A-4ABC-49EF-B4CF-4A3C61966096}"/>
              </a:ext>
            </a:extLst>
          </p:cNvPr>
          <p:cNvSpPr/>
          <p:nvPr/>
        </p:nvSpPr>
        <p:spPr>
          <a:xfrm>
            <a:off x="559049" y="1188711"/>
            <a:ext cx="7378465" cy="1169551"/>
          </a:xfrm>
          <a:prstGeom prst="rect">
            <a:avLst/>
          </a:prstGeom>
        </p:spPr>
        <p:txBody>
          <a:bodyPr wrap="square">
            <a:spAutoFit/>
          </a:bodyPr>
          <a:lstStyle/>
          <a:p>
            <a:pPr algn="just"/>
            <a:r>
              <a:rPr lang="ru-RU" sz="1400" b="1" dirty="0">
                <a:solidFill>
                  <a:srgbClr val="000000"/>
                </a:solidFill>
                <a:latin typeface="Roboto"/>
              </a:rPr>
              <a:t>Маркер компенсации BPMN </a:t>
            </a:r>
            <a:r>
              <a:rPr lang="ru-RU" sz="1400" dirty="0">
                <a:solidFill>
                  <a:srgbClr val="000000"/>
                </a:solidFill>
                <a:latin typeface="Roboto"/>
              </a:rPr>
              <a:t>может использоваться совместно с другими маркерами</a:t>
            </a:r>
            <a:r>
              <a:rPr lang="ru-RU" sz="1400" b="1" dirty="0">
                <a:solidFill>
                  <a:srgbClr val="000000"/>
                </a:solidFill>
                <a:latin typeface="Roboto"/>
              </a:rPr>
              <a:t>. </a:t>
            </a:r>
            <a:r>
              <a:rPr lang="ru-RU" sz="1400" dirty="0">
                <a:solidFill>
                  <a:srgbClr val="000000"/>
                </a:solidFill>
                <a:latin typeface="Roboto"/>
              </a:rPr>
              <a:t>Запуск компенсации всегда происходит с помощью события-компенсации, помещаемом на действии, которое может быть отменено. Запускаемая задача с маркером компенсации отображается на диаграмме с помощью связи-ассоциации. Примеры использования маркера компенсации приведены на рисунке ниже:</a:t>
            </a:r>
            <a:endParaRPr lang="ru-RU" sz="1400" dirty="0"/>
          </a:p>
        </p:txBody>
      </p:sp>
      <p:pic>
        <p:nvPicPr>
          <p:cNvPr id="9" name="Рисунок 8">
            <a:extLst>
              <a:ext uri="{FF2B5EF4-FFF2-40B4-BE49-F238E27FC236}">
                <a16:creationId xmlns:a16="http://schemas.microsoft.com/office/drawing/2014/main" id="{D6623D3F-E1A5-4724-8342-9715254AD25F}"/>
              </a:ext>
            </a:extLst>
          </p:cNvPr>
          <p:cNvPicPr>
            <a:picLocks noChangeAspect="1"/>
          </p:cNvPicPr>
          <p:nvPr/>
        </p:nvPicPr>
        <p:blipFill rotWithShape="1">
          <a:blip r:embed="rId2"/>
          <a:srcRect l="32500" t="34684" r="32500" b="31719"/>
          <a:stretch/>
        </p:blipFill>
        <p:spPr>
          <a:xfrm>
            <a:off x="1600200" y="2761875"/>
            <a:ext cx="5296164" cy="2858249"/>
          </a:xfrm>
          <a:prstGeom prst="rect">
            <a:avLst/>
          </a:prstGeom>
        </p:spPr>
      </p:pic>
      <p:sp>
        <p:nvSpPr>
          <p:cNvPr id="10" name="Прямоугольник 9">
            <a:extLst>
              <a:ext uri="{FF2B5EF4-FFF2-40B4-BE49-F238E27FC236}">
                <a16:creationId xmlns:a16="http://schemas.microsoft.com/office/drawing/2014/main" id="{3ADF636A-993A-4D75-BCFB-2CD0E1013347}"/>
              </a:ext>
            </a:extLst>
          </p:cNvPr>
          <p:cNvSpPr/>
          <p:nvPr/>
        </p:nvSpPr>
        <p:spPr>
          <a:xfrm>
            <a:off x="2313084" y="5703377"/>
            <a:ext cx="3578031" cy="369332"/>
          </a:xfrm>
          <a:prstGeom prst="rect">
            <a:avLst/>
          </a:prstGeom>
        </p:spPr>
        <p:txBody>
          <a:bodyPr wrap="none">
            <a:spAutoFit/>
          </a:bodyPr>
          <a:lstStyle/>
          <a:p>
            <a:r>
              <a:rPr lang="ru-RU" b="1" dirty="0">
                <a:solidFill>
                  <a:srgbClr val="222222"/>
                </a:solidFill>
                <a:latin typeface="Roboto"/>
              </a:rPr>
              <a:t>Компенсация с циклом </a:t>
            </a:r>
            <a:r>
              <a:rPr lang="en-US" b="1" dirty="0">
                <a:solidFill>
                  <a:srgbClr val="222222"/>
                </a:solidFill>
                <a:latin typeface="Roboto"/>
              </a:rPr>
              <a:t>BPMN</a:t>
            </a:r>
            <a:endParaRPr lang="ru-RU" dirty="0"/>
          </a:p>
        </p:txBody>
      </p:sp>
    </p:spTree>
    <p:extLst>
      <p:ext uri="{BB962C8B-B14F-4D97-AF65-F5344CB8AC3E}">
        <p14:creationId xmlns:p14="http://schemas.microsoft.com/office/powerpoint/2010/main" val="40169274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p:txBody>
          <a:bodyPr/>
          <a:lstStyle/>
          <a:p>
            <a:r>
              <a:rPr lang="en-US" dirty="0"/>
              <a:t>BPMN 2.0</a:t>
            </a:r>
            <a:r>
              <a:rPr lang="ru-RU" dirty="0"/>
              <a:t>. Маркеры подпроцессов</a:t>
            </a:r>
            <a:r>
              <a:rPr lang="en-US" dirty="0"/>
              <a:t> </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2">
            <a:extLst>
              <a:ext uri="{FF2B5EF4-FFF2-40B4-BE49-F238E27FC236}">
                <a16:creationId xmlns:a16="http://schemas.microsoft.com/office/drawing/2014/main" id="{3A6C7BA5-FBEB-4567-9F99-D06DEDB94FDD}"/>
              </a:ext>
            </a:extLst>
          </p:cNvPr>
          <p:cNvSpPr>
            <a:spLocks noChangeAspect="1" noChangeArrowheads="1"/>
          </p:cNvSpPr>
          <p:nvPr/>
        </p:nvSpPr>
        <p:spPr bwMode="auto">
          <a:xfrm>
            <a:off x="5029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a:extLst>
              <a:ext uri="{FF2B5EF4-FFF2-40B4-BE49-F238E27FC236}">
                <a16:creationId xmlns:a16="http://schemas.microsoft.com/office/drawing/2014/main" id="{67FEEC1A-4ABC-49EF-B4CF-4A3C61966096}"/>
              </a:ext>
            </a:extLst>
          </p:cNvPr>
          <p:cNvSpPr/>
          <p:nvPr/>
        </p:nvSpPr>
        <p:spPr>
          <a:xfrm>
            <a:off x="576592" y="1193534"/>
            <a:ext cx="7378465" cy="1169551"/>
          </a:xfrm>
          <a:prstGeom prst="rect">
            <a:avLst/>
          </a:prstGeom>
        </p:spPr>
        <p:txBody>
          <a:bodyPr wrap="square">
            <a:spAutoFit/>
          </a:bodyPr>
          <a:lstStyle/>
          <a:p>
            <a:pPr algn="just"/>
            <a:r>
              <a:rPr lang="ru-RU" sz="1400" b="1" dirty="0">
                <a:solidFill>
                  <a:srgbClr val="000000"/>
                </a:solidFill>
                <a:latin typeface="Roboto"/>
              </a:rPr>
              <a:t>Маркер компенсации BPMN </a:t>
            </a:r>
            <a:r>
              <a:rPr lang="ru-RU" sz="1400" dirty="0">
                <a:solidFill>
                  <a:srgbClr val="000000"/>
                </a:solidFill>
                <a:latin typeface="Roboto"/>
              </a:rPr>
              <a:t>может использоваться совместно с другими маркерами</a:t>
            </a:r>
            <a:r>
              <a:rPr lang="ru-RU" sz="1400" b="1" dirty="0">
                <a:solidFill>
                  <a:srgbClr val="000000"/>
                </a:solidFill>
                <a:latin typeface="Roboto"/>
              </a:rPr>
              <a:t>. </a:t>
            </a:r>
            <a:r>
              <a:rPr lang="ru-RU" sz="1400" dirty="0">
                <a:solidFill>
                  <a:srgbClr val="000000"/>
                </a:solidFill>
                <a:latin typeface="Roboto"/>
              </a:rPr>
              <a:t>Запуск компенсации всегда происходит с помощью события-компенсации, помещаемом на действии, которое может быть отменено. Запускаемая задача с маркером компенсации отображается на диаграмме с помощью связи-ассоциации. Примеры использования маркера компенсации приведены на рисунке ниже:</a:t>
            </a:r>
            <a:endParaRPr lang="ru-RU" sz="1400" dirty="0"/>
          </a:p>
        </p:txBody>
      </p:sp>
      <p:sp>
        <p:nvSpPr>
          <p:cNvPr id="10" name="Прямоугольник 9">
            <a:extLst>
              <a:ext uri="{FF2B5EF4-FFF2-40B4-BE49-F238E27FC236}">
                <a16:creationId xmlns:a16="http://schemas.microsoft.com/office/drawing/2014/main" id="{3ADF636A-993A-4D75-BCFB-2CD0E1013347}"/>
              </a:ext>
            </a:extLst>
          </p:cNvPr>
          <p:cNvSpPr/>
          <p:nvPr/>
        </p:nvSpPr>
        <p:spPr>
          <a:xfrm>
            <a:off x="2066896" y="5703377"/>
            <a:ext cx="5619808" cy="369332"/>
          </a:xfrm>
          <a:prstGeom prst="rect">
            <a:avLst/>
          </a:prstGeom>
        </p:spPr>
        <p:txBody>
          <a:bodyPr wrap="none">
            <a:spAutoFit/>
          </a:bodyPr>
          <a:lstStyle/>
          <a:p>
            <a:r>
              <a:rPr lang="ru-RU" b="1" dirty="0"/>
              <a:t>Компенсация с многоэкземплярным событием BPMN</a:t>
            </a:r>
            <a:endParaRPr lang="ru-RU" dirty="0"/>
          </a:p>
        </p:txBody>
      </p:sp>
      <p:pic>
        <p:nvPicPr>
          <p:cNvPr id="6" name="Рисунок 5">
            <a:extLst>
              <a:ext uri="{FF2B5EF4-FFF2-40B4-BE49-F238E27FC236}">
                <a16:creationId xmlns:a16="http://schemas.microsoft.com/office/drawing/2014/main" id="{1BE8C76C-37BA-4EC7-ABC1-DB8D3B3B6AF7}"/>
              </a:ext>
            </a:extLst>
          </p:cNvPr>
          <p:cNvPicPr>
            <a:picLocks noChangeAspect="1"/>
          </p:cNvPicPr>
          <p:nvPr/>
        </p:nvPicPr>
        <p:blipFill rotWithShape="1">
          <a:blip r:embed="rId2"/>
          <a:srcRect l="32500" t="35574" r="32639" b="32156"/>
          <a:stretch/>
        </p:blipFill>
        <p:spPr>
          <a:xfrm>
            <a:off x="2066896" y="2924435"/>
            <a:ext cx="5067300" cy="2637280"/>
          </a:xfrm>
          <a:prstGeom prst="rect">
            <a:avLst/>
          </a:prstGeom>
        </p:spPr>
      </p:pic>
    </p:spTree>
    <p:extLst>
      <p:ext uri="{BB962C8B-B14F-4D97-AF65-F5344CB8AC3E}">
        <p14:creationId xmlns:p14="http://schemas.microsoft.com/office/powerpoint/2010/main" val="29471859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p:txBody>
          <a:bodyPr/>
          <a:lstStyle/>
          <a:p>
            <a:r>
              <a:rPr lang="en-US" dirty="0"/>
              <a:t>BPMN 2.0</a:t>
            </a:r>
            <a:r>
              <a:rPr lang="ru-RU" dirty="0"/>
              <a:t>. Маркеры подпроцессов</a:t>
            </a:r>
            <a:r>
              <a:rPr lang="en-US" dirty="0"/>
              <a:t> </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2">
            <a:extLst>
              <a:ext uri="{FF2B5EF4-FFF2-40B4-BE49-F238E27FC236}">
                <a16:creationId xmlns:a16="http://schemas.microsoft.com/office/drawing/2014/main" id="{3A6C7BA5-FBEB-4567-9F99-D06DEDB94FDD}"/>
              </a:ext>
            </a:extLst>
          </p:cNvPr>
          <p:cNvSpPr>
            <a:spLocks noChangeAspect="1" noChangeArrowheads="1"/>
          </p:cNvSpPr>
          <p:nvPr/>
        </p:nvSpPr>
        <p:spPr bwMode="auto">
          <a:xfrm>
            <a:off x="5029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a:extLst>
              <a:ext uri="{FF2B5EF4-FFF2-40B4-BE49-F238E27FC236}">
                <a16:creationId xmlns:a16="http://schemas.microsoft.com/office/drawing/2014/main" id="{67FEEC1A-4ABC-49EF-B4CF-4A3C61966096}"/>
              </a:ext>
            </a:extLst>
          </p:cNvPr>
          <p:cNvSpPr/>
          <p:nvPr/>
        </p:nvSpPr>
        <p:spPr>
          <a:xfrm>
            <a:off x="551192" y="1199354"/>
            <a:ext cx="7378465" cy="1169551"/>
          </a:xfrm>
          <a:prstGeom prst="rect">
            <a:avLst/>
          </a:prstGeom>
        </p:spPr>
        <p:txBody>
          <a:bodyPr wrap="square">
            <a:spAutoFit/>
          </a:bodyPr>
          <a:lstStyle/>
          <a:p>
            <a:pPr algn="just"/>
            <a:r>
              <a:rPr lang="ru-RU" sz="1400" b="1" dirty="0">
                <a:solidFill>
                  <a:srgbClr val="000000"/>
                </a:solidFill>
                <a:latin typeface="Roboto"/>
              </a:rPr>
              <a:t>Маркер компенсации BPMN </a:t>
            </a:r>
            <a:r>
              <a:rPr lang="ru-RU" sz="1400" dirty="0">
                <a:solidFill>
                  <a:srgbClr val="000000"/>
                </a:solidFill>
                <a:latin typeface="Roboto"/>
              </a:rPr>
              <a:t>может использоваться совместно с другими маркерами</a:t>
            </a:r>
            <a:r>
              <a:rPr lang="ru-RU" sz="1400" b="1" dirty="0">
                <a:solidFill>
                  <a:srgbClr val="000000"/>
                </a:solidFill>
                <a:latin typeface="Roboto"/>
              </a:rPr>
              <a:t>. </a:t>
            </a:r>
            <a:r>
              <a:rPr lang="ru-RU" sz="1400" dirty="0">
                <a:solidFill>
                  <a:srgbClr val="000000"/>
                </a:solidFill>
                <a:latin typeface="Roboto"/>
              </a:rPr>
              <a:t>Запуск компенсации всегда происходит с помощью события-компенсации, помещаемом на действии, которое может быть отменено. Запускаемая задача с маркером компенсации отображается на диаграмме с помощью связи-ассоциации. Примеры использования маркера компенсации приведены на рисунке ниже:</a:t>
            </a:r>
            <a:endParaRPr lang="ru-RU" sz="1400" dirty="0"/>
          </a:p>
        </p:txBody>
      </p:sp>
      <p:pic>
        <p:nvPicPr>
          <p:cNvPr id="2" name="Рисунок 1">
            <a:extLst>
              <a:ext uri="{FF2B5EF4-FFF2-40B4-BE49-F238E27FC236}">
                <a16:creationId xmlns:a16="http://schemas.microsoft.com/office/drawing/2014/main" id="{8F6D5CA6-1356-4F70-A4C6-7B8BD3F15515}"/>
              </a:ext>
            </a:extLst>
          </p:cNvPr>
          <p:cNvPicPr>
            <a:picLocks noChangeAspect="1"/>
          </p:cNvPicPr>
          <p:nvPr/>
        </p:nvPicPr>
        <p:blipFill rotWithShape="1">
          <a:blip r:embed="rId2"/>
          <a:srcRect l="22604" t="29380" r="8276" b="18873"/>
          <a:stretch/>
        </p:blipFill>
        <p:spPr>
          <a:xfrm>
            <a:off x="1113145" y="2872875"/>
            <a:ext cx="7733252" cy="3254994"/>
          </a:xfrm>
          <a:prstGeom prst="rect">
            <a:avLst/>
          </a:prstGeom>
        </p:spPr>
      </p:pic>
    </p:spTree>
    <p:extLst>
      <p:ext uri="{BB962C8B-B14F-4D97-AF65-F5344CB8AC3E}">
        <p14:creationId xmlns:p14="http://schemas.microsoft.com/office/powerpoint/2010/main" val="42823109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p:txBody>
          <a:bodyPr/>
          <a:lstStyle/>
          <a:p>
            <a:r>
              <a:rPr lang="en-US" dirty="0"/>
              <a:t>BPMN 2.0</a:t>
            </a:r>
            <a:r>
              <a:rPr lang="ru-RU" dirty="0"/>
              <a:t>. Маркеры подпроцессов</a:t>
            </a:r>
            <a:r>
              <a:rPr lang="en-US" dirty="0"/>
              <a:t> </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2">
            <a:extLst>
              <a:ext uri="{FF2B5EF4-FFF2-40B4-BE49-F238E27FC236}">
                <a16:creationId xmlns:a16="http://schemas.microsoft.com/office/drawing/2014/main" id="{3A6C7BA5-FBEB-4567-9F99-D06DEDB94FDD}"/>
              </a:ext>
            </a:extLst>
          </p:cNvPr>
          <p:cNvSpPr>
            <a:spLocks noChangeAspect="1" noChangeArrowheads="1"/>
          </p:cNvSpPr>
          <p:nvPr/>
        </p:nvSpPr>
        <p:spPr bwMode="auto">
          <a:xfrm>
            <a:off x="5029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a:extLst>
              <a:ext uri="{FF2B5EF4-FFF2-40B4-BE49-F238E27FC236}">
                <a16:creationId xmlns:a16="http://schemas.microsoft.com/office/drawing/2014/main" id="{67FEEC1A-4ABC-49EF-B4CF-4A3C61966096}"/>
              </a:ext>
            </a:extLst>
          </p:cNvPr>
          <p:cNvSpPr/>
          <p:nvPr/>
        </p:nvSpPr>
        <p:spPr>
          <a:xfrm>
            <a:off x="559049" y="1188711"/>
            <a:ext cx="7378465" cy="523220"/>
          </a:xfrm>
          <a:prstGeom prst="rect">
            <a:avLst/>
          </a:prstGeom>
        </p:spPr>
        <p:txBody>
          <a:bodyPr wrap="square">
            <a:spAutoFit/>
          </a:bodyPr>
          <a:lstStyle/>
          <a:p>
            <a:pPr algn="just"/>
            <a:r>
              <a:rPr lang="ru-RU" sz="1400" dirty="0">
                <a:solidFill>
                  <a:srgbClr val="000000"/>
                </a:solidFill>
                <a:latin typeface="Roboto"/>
              </a:rPr>
              <a:t>Иногда нам нужно только начать процесс или продолжить, если какое-то условие истинно. Все может быть условием, и условия не зависят от процессов</a:t>
            </a:r>
            <a:r>
              <a:rPr lang="en-US" sz="1400" dirty="0">
                <a:solidFill>
                  <a:srgbClr val="000000"/>
                </a:solidFill>
                <a:latin typeface="Roboto"/>
              </a:rPr>
              <a:t>.</a:t>
            </a:r>
            <a:endParaRPr lang="ru-RU" sz="1400" dirty="0"/>
          </a:p>
        </p:txBody>
      </p:sp>
      <p:pic>
        <p:nvPicPr>
          <p:cNvPr id="10" name="Рисунок 9">
            <a:extLst>
              <a:ext uri="{FF2B5EF4-FFF2-40B4-BE49-F238E27FC236}">
                <a16:creationId xmlns:a16="http://schemas.microsoft.com/office/drawing/2014/main" id="{7A53F755-EB09-4516-88DC-26AC1A185D31}"/>
              </a:ext>
            </a:extLst>
          </p:cNvPr>
          <p:cNvPicPr>
            <a:picLocks noChangeAspect="1"/>
          </p:cNvPicPr>
          <p:nvPr/>
        </p:nvPicPr>
        <p:blipFill rotWithShape="1">
          <a:blip r:embed="rId3"/>
          <a:srcRect l="35172" t="52964" r="16552" b="35178"/>
          <a:stretch/>
        </p:blipFill>
        <p:spPr>
          <a:xfrm>
            <a:off x="100890" y="2041722"/>
            <a:ext cx="8942219" cy="1234878"/>
          </a:xfrm>
          <a:prstGeom prst="rect">
            <a:avLst/>
          </a:prstGeom>
          <a:ln>
            <a:noFill/>
          </a:ln>
          <a:effectLst>
            <a:outerShdw blurRad="292100" dist="139700" dir="2700000" algn="tl" rotWithShape="0">
              <a:srgbClr val="333333">
                <a:alpha val="65000"/>
              </a:srgbClr>
            </a:outerShdw>
          </a:effectLst>
        </p:spPr>
      </p:pic>
      <p:pic>
        <p:nvPicPr>
          <p:cNvPr id="14" name="Рисунок 13">
            <a:extLst>
              <a:ext uri="{FF2B5EF4-FFF2-40B4-BE49-F238E27FC236}">
                <a16:creationId xmlns:a16="http://schemas.microsoft.com/office/drawing/2014/main" id="{93214D0F-C3EA-491D-A12D-0437DA422BD6}"/>
              </a:ext>
            </a:extLst>
          </p:cNvPr>
          <p:cNvPicPr>
            <a:picLocks noChangeAspect="1"/>
          </p:cNvPicPr>
          <p:nvPr/>
        </p:nvPicPr>
        <p:blipFill>
          <a:blip r:embed="rId4"/>
          <a:stretch>
            <a:fillRect/>
          </a:stretch>
        </p:blipFill>
        <p:spPr>
          <a:xfrm>
            <a:off x="1082731" y="3768528"/>
            <a:ext cx="5591175" cy="2095500"/>
          </a:xfrm>
          <a:prstGeom prst="rect">
            <a:avLst/>
          </a:prstGeom>
        </p:spPr>
      </p:pic>
    </p:spTree>
    <p:extLst>
      <p:ext uri="{BB962C8B-B14F-4D97-AF65-F5344CB8AC3E}">
        <p14:creationId xmlns:p14="http://schemas.microsoft.com/office/powerpoint/2010/main" val="19595642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p:txBody>
          <a:bodyPr/>
          <a:lstStyle/>
          <a:p>
            <a:r>
              <a:rPr lang="en-US" dirty="0"/>
              <a:t>BPMN 2.0</a:t>
            </a:r>
            <a:r>
              <a:rPr lang="ru-RU" dirty="0"/>
              <a:t>. Маркеры подпроцессов</a:t>
            </a:r>
            <a:r>
              <a:rPr lang="en-US" dirty="0"/>
              <a:t> </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2">
            <a:extLst>
              <a:ext uri="{FF2B5EF4-FFF2-40B4-BE49-F238E27FC236}">
                <a16:creationId xmlns:a16="http://schemas.microsoft.com/office/drawing/2014/main" id="{3A6C7BA5-FBEB-4567-9F99-D06DEDB94FDD}"/>
              </a:ext>
            </a:extLst>
          </p:cNvPr>
          <p:cNvSpPr>
            <a:spLocks noChangeAspect="1" noChangeArrowheads="1"/>
          </p:cNvSpPr>
          <p:nvPr/>
        </p:nvSpPr>
        <p:spPr bwMode="auto">
          <a:xfrm>
            <a:off x="5029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a:extLst>
              <a:ext uri="{FF2B5EF4-FFF2-40B4-BE49-F238E27FC236}">
                <a16:creationId xmlns:a16="http://schemas.microsoft.com/office/drawing/2014/main" id="{67FEEC1A-4ABC-49EF-B4CF-4A3C61966096}"/>
              </a:ext>
            </a:extLst>
          </p:cNvPr>
          <p:cNvSpPr/>
          <p:nvPr/>
        </p:nvSpPr>
        <p:spPr>
          <a:xfrm>
            <a:off x="559049" y="1188711"/>
            <a:ext cx="7378465" cy="523220"/>
          </a:xfrm>
          <a:prstGeom prst="rect">
            <a:avLst/>
          </a:prstGeom>
        </p:spPr>
        <p:txBody>
          <a:bodyPr wrap="square">
            <a:spAutoFit/>
          </a:bodyPr>
          <a:lstStyle/>
          <a:p>
            <a:pPr algn="just"/>
            <a:r>
              <a:rPr lang="ru-RU" sz="1400" dirty="0">
                <a:solidFill>
                  <a:srgbClr val="000000"/>
                </a:solidFill>
                <a:latin typeface="Roboto"/>
              </a:rPr>
              <a:t>Иногда нам нужно только начать процесс или продолжить, если какое-то условие истинно. Все может быть условием, и условия не зависят от процессов</a:t>
            </a:r>
            <a:r>
              <a:rPr lang="en-US" sz="1400" dirty="0">
                <a:solidFill>
                  <a:srgbClr val="000000"/>
                </a:solidFill>
                <a:latin typeface="Roboto"/>
              </a:rPr>
              <a:t>.</a:t>
            </a:r>
            <a:endParaRPr lang="ru-RU" sz="1400" dirty="0"/>
          </a:p>
        </p:txBody>
      </p:sp>
      <p:sp>
        <p:nvSpPr>
          <p:cNvPr id="2" name="AutoShape 2">
            <a:extLst>
              <a:ext uri="{FF2B5EF4-FFF2-40B4-BE49-F238E27FC236}">
                <a16:creationId xmlns:a16="http://schemas.microsoft.com/office/drawing/2014/main" id="{D9CB9AD8-A158-4610-988B-4E87DE5EE5E4}"/>
              </a:ext>
            </a:extLst>
          </p:cNvPr>
          <p:cNvSpPr>
            <a:spLocks noChangeAspect="1" noChangeArrowheads="1"/>
          </p:cNvSpPr>
          <p:nvPr/>
        </p:nvSpPr>
        <p:spPr bwMode="auto">
          <a:xfrm>
            <a:off x="5181600" y="4038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6" name="Рисунок 5">
            <a:extLst>
              <a:ext uri="{FF2B5EF4-FFF2-40B4-BE49-F238E27FC236}">
                <a16:creationId xmlns:a16="http://schemas.microsoft.com/office/drawing/2014/main" id="{EF03B5F5-99EC-4906-89E9-785F92D00F24}"/>
              </a:ext>
            </a:extLst>
          </p:cNvPr>
          <p:cNvPicPr>
            <a:picLocks noChangeAspect="1"/>
          </p:cNvPicPr>
          <p:nvPr/>
        </p:nvPicPr>
        <p:blipFill>
          <a:blip r:embed="rId3"/>
          <a:stretch>
            <a:fillRect/>
          </a:stretch>
        </p:blipFill>
        <p:spPr>
          <a:xfrm>
            <a:off x="1452693" y="1945728"/>
            <a:ext cx="5591175" cy="2095500"/>
          </a:xfrm>
          <a:prstGeom prst="rect">
            <a:avLst/>
          </a:prstGeom>
        </p:spPr>
      </p:pic>
    </p:spTree>
    <p:extLst>
      <p:ext uri="{BB962C8B-B14F-4D97-AF65-F5344CB8AC3E}">
        <p14:creationId xmlns:p14="http://schemas.microsoft.com/office/powerpoint/2010/main" val="35478932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p:txBody>
          <a:bodyPr/>
          <a:lstStyle/>
          <a:p>
            <a:r>
              <a:rPr lang="en-US" dirty="0"/>
              <a:t>BPMN 2.0</a:t>
            </a:r>
            <a:r>
              <a:rPr lang="ru-RU" dirty="0"/>
              <a:t>. Маркеры подпроцессов</a:t>
            </a:r>
            <a:r>
              <a:rPr lang="en-US" dirty="0"/>
              <a:t> </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2">
            <a:extLst>
              <a:ext uri="{FF2B5EF4-FFF2-40B4-BE49-F238E27FC236}">
                <a16:creationId xmlns:a16="http://schemas.microsoft.com/office/drawing/2014/main" id="{3A6C7BA5-FBEB-4567-9F99-D06DEDB94FDD}"/>
              </a:ext>
            </a:extLst>
          </p:cNvPr>
          <p:cNvSpPr>
            <a:spLocks noChangeAspect="1" noChangeArrowheads="1"/>
          </p:cNvSpPr>
          <p:nvPr/>
        </p:nvSpPr>
        <p:spPr bwMode="auto">
          <a:xfrm>
            <a:off x="5029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a:extLst>
              <a:ext uri="{FF2B5EF4-FFF2-40B4-BE49-F238E27FC236}">
                <a16:creationId xmlns:a16="http://schemas.microsoft.com/office/drawing/2014/main" id="{67FEEC1A-4ABC-49EF-B4CF-4A3C61966096}"/>
              </a:ext>
            </a:extLst>
          </p:cNvPr>
          <p:cNvSpPr/>
          <p:nvPr/>
        </p:nvSpPr>
        <p:spPr>
          <a:xfrm>
            <a:off x="551192" y="1199354"/>
            <a:ext cx="7993718" cy="2031325"/>
          </a:xfrm>
          <a:prstGeom prst="rect">
            <a:avLst/>
          </a:prstGeom>
        </p:spPr>
        <p:txBody>
          <a:bodyPr wrap="square">
            <a:spAutoFit/>
          </a:bodyPr>
          <a:lstStyle/>
          <a:p>
            <a:pPr algn="just"/>
            <a:r>
              <a:rPr lang="ru-RU" sz="1400" dirty="0">
                <a:solidFill>
                  <a:srgbClr val="000000"/>
                </a:solidFill>
                <a:latin typeface="Roboto"/>
              </a:rPr>
              <a:t>Событие BPMN с типом «Эскалация» используется для безусловной передачи управления на уровень родительского бизнес-процесса относительно текущего, а также для обработки таких передач управления.</a:t>
            </a:r>
            <a:endParaRPr lang="en-US" sz="1400" dirty="0">
              <a:solidFill>
                <a:srgbClr val="000000"/>
              </a:solidFill>
              <a:latin typeface="Roboto"/>
            </a:endParaRPr>
          </a:p>
          <a:p>
            <a:pPr algn="just"/>
            <a:r>
              <a:rPr lang="ru-RU" sz="1400" dirty="0">
                <a:solidFill>
                  <a:srgbClr val="000000"/>
                </a:solidFill>
                <a:latin typeface="Roboto"/>
              </a:rPr>
              <a:t>На диаграмме показан развернутый подпроцесс «Формирование отчета». В этом подпроцессе, после выгрузки данных выполняется проверка, хватает ли их для построения отчета? Если да, то отчет сначала формируется, а потом отправляется заказчику. Если нет – то срабатывает завершающее событие BPMN с типом «Эскалация». Оно обрабатывается соответствующим граничным событием, и затем заказчик отчета уведомляется о невозможности создать отчет и процесс завершается.</a:t>
            </a:r>
          </a:p>
        </p:txBody>
      </p:sp>
      <p:pic>
        <p:nvPicPr>
          <p:cNvPr id="6" name="Рисунок 5">
            <a:extLst>
              <a:ext uri="{FF2B5EF4-FFF2-40B4-BE49-F238E27FC236}">
                <a16:creationId xmlns:a16="http://schemas.microsoft.com/office/drawing/2014/main" id="{2AE81E0F-0638-4922-9EFA-B1BC601E0BCA}"/>
              </a:ext>
            </a:extLst>
          </p:cNvPr>
          <p:cNvPicPr>
            <a:picLocks noChangeAspect="1"/>
          </p:cNvPicPr>
          <p:nvPr/>
        </p:nvPicPr>
        <p:blipFill>
          <a:blip r:embed="rId2"/>
          <a:stretch>
            <a:fillRect/>
          </a:stretch>
        </p:blipFill>
        <p:spPr>
          <a:xfrm>
            <a:off x="831878" y="3407461"/>
            <a:ext cx="8089843" cy="320859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5613450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p:txBody>
          <a:bodyPr/>
          <a:lstStyle/>
          <a:p>
            <a:r>
              <a:rPr lang="en-US" dirty="0"/>
              <a:t>BPMN 2.0</a:t>
            </a:r>
            <a:r>
              <a:rPr lang="ru-RU" dirty="0"/>
              <a:t>. Маркеры подпроцессов</a:t>
            </a:r>
            <a:r>
              <a:rPr lang="en-US" dirty="0"/>
              <a:t> </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2">
            <a:extLst>
              <a:ext uri="{FF2B5EF4-FFF2-40B4-BE49-F238E27FC236}">
                <a16:creationId xmlns:a16="http://schemas.microsoft.com/office/drawing/2014/main" id="{3A6C7BA5-FBEB-4567-9F99-D06DEDB94FDD}"/>
              </a:ext>
            </a:extLst>
          </p:cNvPr>
          <p:cNvSpPr>
            <a:spLocks noChangeAspect="1" noChangeArrowheads="1"/>
          </p:cNvSpPr>
          <p:nvPr/>
        </p:nvSpPr>
        <p:spPr bwMode="auto">
          <a:xfrm>
            <a:off x="5029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a:extLst>
              <a:ext uri="{FF2B5EF4-FFF2-40B4-BE49-F238E27FC236}">
                <a16:creationId xmlns:a16="http://schemas.microsoft.com/office/drawing/2014/main" id="{67FEEC1A-4ABC-49EF-B4CF-4A3C61966096}"/>
              </a:ext>
            </a:extLst>
          </p:cNvPr>
          <p:cNvSpPr/>
          <p:nvPr/>
        </p:nvSpPr>
        <p:spPr>
          <a:xfrm>
            <a:off x="551192" y="1104758"/>
            <a:ext cx="7993718" cy="2246769"/>
          </a:xfrm>
          <a:prstGeom prst="rect">
            <a:avLst/>
          </a:prstGeom>
        </p:spPr>
        <p:txBody>
          <a:bodyPr wrap="square">
            <a:spAutoFit/>
          </a:bodyPr>
          <a:lstStyle/>
          <a:p>
            <a:pPr algn="just"/>
            <a:r>
              <a:rPr lang="en-US" sz="1400" b="1" dirty="0">
                <a:solidFill>
                  <a:srgbClr val="000000"/>
                </a:solidFill>
                <a:latin typeface="Roboto"/>
              </a:rPr>
              <a:t>C</a:t>
            </a:r>
            <a:r>
              <a:rPr lang="ru-RU" sz="1400" b="1" dirty="0" err="1">
                <a:solidFill>
                  <a:srgbClr val="000000"/>
                </a:solidFill>
                <a:latin typeface="Roboto"/>
              </a:rPr>
              <a:t>обытие</a:t>
            </a:r>
            <a:r>
              <a:rPr lang="ru-RU" sz="1400" b="1" dirty="0">
                <a:solidFill>
                  <a:srgbClr val="000000"/>
                </a:solidFill>
                <a:latin typeface="Roboto"/>
              </a:rPr>
              <a:t>-эскалация BPMN </a:t>
            </a:r>
            <a:r>
              <a:rPr lang="ru-RU" sz="1400" dirty="0">
                <a:solidFill>
                  <a:srgbClr val="000000"/>
                </a:solidFill>
                <a:latin typeface="Roboto"/>
              </a:rPr>
              <a:t>ведет себя почти также, как и событие-ошибка. Но между этими двумя типами событий есть разница.</a:t>
            </a:r>
          </a:p>
          <a:p>
            <a:pPr algn="just"/>
            <a:endParaRPr lang="ru-RU" sz="1400" dirty="0">
              <a:solidFill>
                <a:srgbClr val="000000"/>
              </a:solidFill>
              <a:latin typeface="Roboto"/>
            </a:endParaRPr>
          </a:p>
          <a:p>
            <a:pPr algn="just"/>
            <a:r>
              <a:rPr lang="ru-RU" sz="1400" dirty="0">
                <a:solidFill>
                  <a:srgbClr val="000000"/>
                </a:solidFill>
                <a:latin typeface="Roboto"/>
              </a:rPr>
              <a:t>Во-первых, событие-обработчик с типом «</a:t>
            </a:r>
            <a:r>
              <a:rPr lang="ru-RU" sz="1400" b="1" dirty="0">
                <a:solidFill>
                  <a:srgbClr val="000000"/>
                </a:solidFill>
                <a:latin typeface="Roboto"/>
              </a:rPr>
              <a:t>Эскалация</a:t>
            </a:r>
            <a:r>
              <a:rPr lang="ru-RU" sz="1400" dirty="0">
                <a:solidFill>
                  <a:srgbClr val="000000"/>
                </a:solidFill>
                <a:latin typeface="Roboto"/>
              </a:rPr>
              <a:t>» всегда должно находиться на родительском уровне относительно связанного события-инициатора. Таким образом, при наступлении инициирующего события-эскалации управление всегда передается родительскому процессу.</a:t>
            </a:r>
          </a:p>
          <a:p>
            <a:pPr algn="just"/>
            <a:r>
              <a:rPr lang="ru-RU" sz="1400" dirty="0">
                <a:solidFill>
                  <a:srgbClr val="000000"/>
                </a:solidFill>
                <a:latin typeface="Roboto"/>
              </a:rPr>
              <a:t>Во-вторых, наступление события-эскалации, в отличие от события-ошибки, может приводить к положительному результату, в то время как событие «</a:t>
            </a:r>
            <a:r>
              <a:rPr lang="ru-RU" sz="1400" b="1" dirty="0">
                <a:solidFill>
                  <a:srgbClr val="000000"/>
                </a:solidFill>
                <a:latin typeface="Roboto"/>
              </a:rPr>
              <a:t>Ошибка</a:t>
            </a:r>
            <a:r>
              <a:rPr lang="ru-RU" sz="1400" dirty="0">
                <a:solidFill>
                  <a:srgbClr val="000000"/>
                </a:solidFill>
                <a:latin typeface="Roboto"/>
              </a:rPr>
              <a:t>» подразумевает, что в процессе произошла нештатная ситуация.</a:t>
            </a:r>
          </a:p>
        </p:txBody>
      </p:sp>
      <p:pic>
        <p:nvPicPr>
          <p:cNvPr id="6" name="Рисунок 5">
            <a:extLst>
              <a:ext uri="{FF2B5EF4-FFF2-40B4-BE49-F238E27FC236}">
                <a16:creationId xmlns:a16="http://schemas.microsoft.com/office/drawing/2014/main" id="{2AE81E0F-0638-4922-9EFA-B1BC601E0BCA}"/>
              </a:ext>
            </a:extLst>
          </p:cNvPr>
          <p:cNvPicPr>
            <a:picLocks noChangeAspect="1"/>
          </p:cNvPicPr>
          <p:nvPr/>
        </p:nvPicPr>
        <p:blipFill>
          <a:blip r:embed="rId2"/>
          <a:stretch>
            <a:fillRect/>
          </a:stretch>
        </p:blipFill>
        <p:spPr>
          <a:xfrm>
            <a:off x="831878" y="3407461"/>
            <a:ext cx="8089843" cy="320859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070555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p:txBody>
          <a:bodyPr/>
          <a:lstStyle/>
          <a:p>
            <a:r>
              <a:rPr lang="en-US" dirty="0"/>
              <a:t>BPMN 2.0</a:t>
            </a:r>
            <a:r>
              <a:rPr lang="ru-RU" dirty="0"/>
              <a:t>. Маркеры подпроцессов</a:t>
            </a:r>
            <a:r>
              <a:rPr lang="en-US" dirty="0"/>
              <a:t> </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2">
            <a:extLst>
              <a:ext uri="{FF2B5EF4-FFF2-40B4-BE49-F238E27FC236}">
                <a16:creationId xmlns:a16="http://schemas.microsoft.com/office/drawing/2014/main" id="{3A6C7BA5-FBEB-4567-9F99-D06DEDB94FDD}"/>
              </a:ext>
            </a:extLst>
          </p:cNvPr>
          <p:cNvSpPr>
            <a:spLocks noChangeAspect="1" noChangeArrowheads="1"/>
          </p:cNvSpPr>
          <p:nvPr/>
        </p:nvSpPr>
        <p:spPr bwMode="auto">
          <a:xfrm>
            <a:off x="5029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a:extLst>
              <a:ext uri="{FF2B5EF4-FFF2-40B4-BE49-F238E27FC236}">
                <a16:creationId xmlns:a16="http://schemas.microsoft.com/office/drawing/2014/main" id="{67FEEC1A-4ABC-49EF-B4CF-4A3C61966096}"/>
              </a:ext>
            </a:extLst>
          </p:cNvPr>
          <p:cNvSpPr/>
          <p:nvPr/>
        </p:nvSpPr>
        <p:spPr>
          <a:xfrm>
            <a:off x="559049" y="1188711"/>
            <a:ext cx="7378465" cy="954107"/>
          </a:xfrm>
          <a:prstGeom prst="rect">
            <a:avLst/>
          </a:prstGeom>
        </p:spPr>
        <p:txBody>
          <a:bodyPr wrap="square">
            <a:spAutoFit/>
          </a:bodyPr>
          <a:lstStyle/>
          <a:p>
            <a:pPr algn="just"/>
            <a:r>
              <a:rPr lang="ru-RU" sz="1400" dirty="0">
                <a:solidFill>
                  <a:srgbClr val="000000"/>
                </a:solidFill>
                <a:latin typeface="Roboto"/>
              </a:rPr>
              <a:t>Событие BPMN с типом «</a:t>
            </a:r>
            <a:r>
              <a:rPr lang="ru-RU" sz="1400" b="1" dirty="0">
                <a:solidFill>
                  <a:srgbClr val="000000"/>
                </a:solidFill>
                <a:latin typeface="Roboto"/>
              </a:rPr>
              <a:t>Отмена</a:t>
            </a:r>
            <a:r>
              <a:rPr lang="ru-RU" sz="1400" dirty="0">
                <a:solidFill>
                  <a:srgbClr val="000000"/>
                </a:solidFill>
                <a:latin typeface="Roboto"/>
              </a:rPr>
              <a:t>» используется только в подпроцессах "</a:t>
            </a:r>
            <a:r>
              <a:rPr lang="ru-RU" sz="1400" b="1" dirty="0">
                <a:solidFill>
                  <a:srgbClr val="000000"/>
                </a:solidFill>
                <a:latin typeface="Roboto"/>
              </a:rPr>
              <a:t>Транзакция</a:t>
            </a:r>
            <a:r>
              <a:rPr lang="ru-RU" sz="1400" dirty="0">
                <a:solidFill>
                  <a:srgbClr val="000000"/>
                </a:solidFill>
                <a:latin typeface="Roboto"/>
              </a:rPr>
              <a:t>" для инициирования и обработки отмены транзакций. При возникновении события «</a:t>
            </a:r>
            <a:r>
              <a:rPr lang="ru-RU" sz="1400" b="1" dirty="0">
                <a:solidFill>
                  <a:srgbClr val="000000"/>
                </a:solidFill>
                <a:latin typeface="Roboto"/>
              </a:rPr>
              <a:t>Отмена</a:t>
            </a:r>
            <a:r>
              <a:rPr lang="ru-RU" sz="1400" dirty="0">
                <a:solidFill>
                  <a:srgbClr val="000000"/>
                </a:solidFill>
                <a:latin typeface="Roboto"/>
              </a:rPr>
              <a:t>» произойдет компенсация («откат назад») определенных действия транзакции, либо возврат к началу процесса.</a:t>
            </a:r>
            <a:endParaRPr lang="ru-RU" sz="1400" dirty="0"/>
          </a:p>
        </p:txBody>
      </p:sp>
      <p:pic>
        <p:nvPicPr>
          <p:cNvPr id="6" name="Рисунок 5">
            <a:extLst>
              <a:ext uri="{FF2B5EF4-FFF2-40B4-BE49-F238E27FC236}">
                <a16:creationId xmlns:a16="http://schemas.microsoft.com/office/drawing/2014/main" id="{49B7B9C1-B969-4797-B956-1F361B88EFBD}"/>
              </a:ext>
            </a:extLst>
          </p:cNvPr>
          <p:cNvPicPr>
            <a:picLocks noChangeAspect="1"/>
          </p:cNvPicPr>
          <p:nvPr/>
        </p:nvPicPr>
        <p:blipFill rotWithShape="1">
          <a:blip r:embed="rId2"/>
          <a:srcRect l="25518" t="28213" r="25517" b="24982"/>
          <a:stretch/>
        </p:blipFill>
        <p:spPr>
          <a:xfrm>
            <a:off x="3762905" y="3136003"/>
            <a:ext cx="5381095" cy="2891882"/>
          </a:xfrm>
          <a:prstGeom prst="rect">
            <a:avLst/>
          </a:prstGeom>
          <a:ln>
            <a:noFill/>
          </a:ln>
          <a:effectLst>
            <a:outerShdw blurRad="292100" dist="139700" dir="2700000" algn="tl" rotWithShape="0">
              <a:srgbClr val="333333">
                <a:alpha val="65000"/>
              </a:srgbClr>
            </a:outerShdw>
          </a:effectLst>
        </p:spPr>
      </p:pic>
      <p:pic>
        <p:nvPicPr>
          <p:cNvPr id="2" name="Рисунок 1">
            <a:extLst>
              <a:ext uri="{FF2B5EF4-FFF2-40B4-BE49-F238E27FC236}">
                <a16:creationId xmlns:a16="http://schemas.microsoft.com/office/drawing/2014/main" id="{EA77FB05-F486-484A-A2FC-5F5FBFBE6C6D}"/>
              </a:ext>
            </a:extLst>
          </p:cNvPr>
          <p:cNvPicPr>
            <a:picLocks noChangeAspect="1"/>
          </p:cNvPicPr>
          <p:nvPr/>
        </p:nvPicPr>
        <p:blipFill rotWithShape="1">
          <a:blip r:embed="rId3"/>
          <a:srcRect l="35862" t="32269" r="37931" b="38142"/>
          <a:stretch/>
        </p:blipFill>
        <p:spPr>
          <a:xfrm>
            <a:off x="254251" y="2264288"/>
            <a:ext cx="3860550" cy="245059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7221924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p:txBody>
          <a:bodyPr/>
          <a:lstStyle/>
          <a:p>
            <a:r>
              <a:rPr lang="en-US" dirty="0"/>
              <a:t>BPMN 2.0</a:t>
            </a:r>
            <a:r>
              <a:rPr lang="ru-RU" dirty="0"/>
              <a:t>. Маркеры подпроцессов</a:t>
            </a:r>
            <a:r>
              <a:rPr lang="en-US" dirty="0"/>
              <a:t> </a:t>
            </a:r>
            <a:endParaRPr lang="ru-RU" dirty="0"/>
          </a:p>
        </p:txBody>
      </p:sp>
      <p:sp>
        <p:nvSpPr>
          <p:cNvPr id="8" name="AutoShape 2" descr="Виды действий BPMN">
            <a:extLst>
              <a:ext uri="{FF2B5EF4-FFF2-40B4-BE49-F238E27FC236}">
                <a16:creationId xmlns:a16="http://schemas.microsoft.com/office/drawing/2014/main" id="{6668B600-1E54-4746-A9C2-7EB7E90E34A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AutoShape 4" descr="Виды действий BPMN">
            <a:extLst>
              <a:ext uri="{FF2B5EF4-FFF2-40B4-BE49-F238E27FC236}">
                <a16:creationId xmlns:a16="http://schemas.microsoft.com/office/drawing/2014/main" id="{91F02606-B66D-4400-ABC7-4A342C34637C}"/>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2">
            <a:extLst>
              <a:ext uri="{FF2B5EF4-FFF2-40B4-BE49-F238E27FC236}">
                <a16:creationId xmlns:a16="http://schemas.microsoft.com/office/drawing/2014/main" id="{79AE1563-F8DB-42FF-B2C9-3F0E1E060938}"/>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AutoShape 4">
            <a:extLst>
              <a:ext uri="{FF2B5EF4-FFF2-40B4-BE49-F238E27FC236}">
                <a16:creationId xmlns:a16="http://schemas.microsoft.com/office/drawing/2014/main" id="{B04621EA-21C2-43BF-A97E-E62212CC559F}"/>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2">
            <a:extLst>
              <a:ext uri="{FF2B5EF4-FFF2-40B4-BE49-F238E27FC236}">
                <a16:creationId xmlns:a16="http://schemas.microsoft.com/office/drawing/2014/main" id="{3A6C7BA5-FBEB-4567-9F99-D06DEDB94FDD}"/>
              </a:ext>
            </a:extLst>
          </p:cNvPr>
          <p:cNvSpPr>
            <a:spLocks noChangeAspect="1" noChangeArrowheads="1"/>
          </p:cNvSpPr>
          <p:nvPr/>
        </p:nvSpPr>
        <p:spPr bwMode="auto">
          <a:xfrm>
            <a:off x="5029200" y="3886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a:extLst>
              <a:ext uri="{FF2B5EF4-FFF2-40B4-BE49-F238E27FC236}">
                <a16:creationId xmlns:a16="http://schemas.microsoft.com/office/drawing/2014/main" id="{67FEEC1A-4ABC-49EF-B4CF-4A3C61966096}"/>
              </a:ext>
            </a:extLst>
          </p:cNvPr>
          <p:cNvSpPr/>
          <p:nvPr/>
        </p:nvSpPr>
        <p:spPr>
          <a:xfrm>
            <a:off x="559049" y="1188711"/>
            <a:ext cx="7378465" cy="1384995"/>
          </a:xfrm>
          <a:prstGeom prst="rect">
            <a:avLst/>
          </a:prstGeom>
        </p:spPr>
        <p:txBody>
          <a:bodyPr wrap="square">
            <a:spAutoFit/>
          </a:bodyPr>
          <a:lstStyle/>
          <a:p>
            <a:pPr algn="just"/>
            <a:r>
              <a:rPr lang="ru-RU" sz="1400" dirty="0">
                <a:solidFill>
                  <a:srgbClr val="000000"/>
                </a:solidFill>
                <a:latin typeface="Roboto"/>
              </a:rPr>
              <a:t>Основное отличие события BPMN «Сигнал» от события «Сообщение» в том, что сообщение направлено конкретному получателю (электронный адрес определенного получателя, звонок на конкретный номер и т.п.). В свою очередь, событие BPMN «Сигнал» не имеет конкретного получателя и направлено на рассылку неопределенному количеству получателей в процессе. Его может получить любой участник процесса и среагировать на него. Сигнал относительно не ориентирован.</a:t>
            </a:r>
            <a:endParaRPr lang="ru-RU" sz="1400" dirty="0"/>
          </a:p>
        </p:txBody>
      </p:sp>
      <p:pic>
        <p:nvPicPr>
          <p:cNvPr id="6" name="Рисунок 5">
            <a:extLst>
              <a:ext uri="{FF2B5EF4-FFF2-40B4-BE49-F238E27FC236}">
                <a16:creationId xmlns:a16="http://schemas.microsoft.com/office/drawing/2014/main" id="{CB834484-B11D-49E8-9D8E-80C363B4AE28}"/>
              </a:ext>
            </a:extLst>
          </p:cNvPr>
          <p:cNvPicPr>
            <a:picLocks noChangeAspect="1"/>
          </p:cNvPicPr>
          <p:nvPr/>
        </p:nvPicPr>
        <p:blipFill rotWithShape="1">
          <a:blip r:embed="rId2"/>
          <a:srcRect l="33793" t="45979" r="33449" b="42946"/>
          <a:stretch/>
        </p:blipFill>
        <p:spPr>
          <a:xfrm>
            <a:off x="559048" y="2739845"/>
            <a:ext cx="6833283" cy="1298755"/>
          </a:xfrm>
          <a:prstGeom prst="rect">
            <a:avLst/>
          </a:prstGeom>
          <a:ln>
            <a:noFill/>
          </a:ln>
          <a:effectLst>
            <a:outerShdw blurRad="292100" dist="139700" dir="2700000" algn="tl" rotWithShape="0">
              <a:srgbClr val="333333">
                <a:alpha val="65000"/>
              </a:srgbClr>
            </a:outerShdw>
          </a:effectLst>
        </p:spPr>
      </p:pic>
      <p:pic>
        <p:nvPicPr>
          <p:cNvPr id="9" name="Рисунок 8">
            <a:extLst>
              <a:ext uri="{FF2B5EF4-FFF2-40B4-BE49-F238E27FC236}">
                <a16:creationId xmlns:a16="http://schemas.microsoft.com/office/drawing/2014/main" id="{87BB9BD1-17E5-4946-8043-C3B88A216172}"/>
              </a:ext>
            </a:extLst>
          </p:cNvPr>
          <p:cNvPicPr>
            <a:picLocks noChangeAspect="1"/>
          </p:cNvPicPr>
          <p:nvPr/>
        </p:nvPicPr>
        <p:blipFill rotWithShape="1">
          <a:blip r:embed="rId3"/>
          <a:srcRect l="33793" t="45631" r="34065" b="41379"/>
          <a:stretch/>
        </p:blipFill>
        <p:spPr>
          <a:xfrm>
            <a:off x="2517664" y="4370534"/>
            <a:ext cx="6626336" cy="150560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2050969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одзаголовок 2">
            <a:extLst>
              <a:ext uri="{FF2B5EF4-FFF2-40B4-BE49-F238E27FC236}">
                <a16:creationId xmlns:a16="http://schemas.microsoft.com/office/drawing/2014/main" id="{458E7102-819B-4901-8B99-09765F432E21}"/>
              </a:ext>
            </a:extLst>
          </p:cNvPr>
          <p:cNvSpPr txBox="1">
            <a:spLocks/>
          </p:cNvSpPr>
          <p:nvPr/>
        </p:nvSpPr>
        <p:spPr>
          <a:xfrm>
            <a:off x="1600200" y="505724"/>
            <a:ext cx="7151914" cy="469223"/>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2000" kern="1200">
                <a:solidFill>
                  <a:schemeClr val="tx1">
                    <a:lumMod val="75000"/>
                    <a:lumOff val="25000"/>
                  </a:schemeClr>
                </a:solidFill>
                <a:latin typeface="Franklin Gothic Book" panose="020B05030201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BPMN 2.0</a:t>
            </a:r>
            <a:r>
              <a:rPr lang="ru-RU" dirty="0"/>
              <a:t>. ШЛЮЗЫ</a:t>
            </a:r>
          </a:p>
        </p:txBody>
      </p:sp>
      <p:sp>
        <p:nvSpPr>
          <p:cNvPr id="10" name="Прямоугольник 9">
            <a:extLst>
              <a:ext uri="{FF2B5EF4-FFF2-40B4-BE49-F238E27FC236}">
                <a16:creationId xmlns:a16="http://schemas.microsoft.com/office/drawing/2014/main" id="{94D6EAA8-A24A-4B76-A7EB-F88893BA7781}"/>
              </a:ext>
            </a:extLst>
          </p:cNvPr>
          <p:cNvSpPr/>
          <p:nvPr/>
        </p:nvSpPr>
        <p:spPr>
          <a:xfrm>
            <a:off x="4571999" y="962081"/>
            <a:ext cx="4250871" cy="1600438"/>
          </a:xfrm>
          <a:prstGeom prst="rect">
            <a:avLst/>
          </a:prstGeom>
        </p:spPr>
        <p:txBody>
          <a:bodyPr wrap="square">
            <a:spAutoFit/>
          </a:bodyPr>
          <a:lstStyle/>
          <a:p>
            <a:pPr algn="just"/>
            <a:r>
              <a:rPr lang="ru-RU" sz="1400" dirty="0">
                <a:latin typeface="Franklin Gothic Book" panose="020B0503020102020204" pitchFamily="34" charset="0"/>
              </a:rPr>
              <a:t>Шлюзы единственного выбора разделяются на </a:t>
            </a:r>
            <a:r>
              <a:rPr lang="ru-RU" sz="1400" dirty="0">
                <a:solidFill>
                  <a:schemeClr val="accent5"/>
                </a:solidFill>
                <a:latin typeface="Franklin Gothic Book" panose="020B0503020102020204" pitchFamily="34" charset="0"/>
              </a:rPr>
              <a:t>основанные на данных </a:t>
            </a:r>
            <a:r>
              <a:rPr lang="ru-RU" sz="1400" dirty="0">
                <a:latin typeface="Franklin Gothic Book" panose="020B0503020102020204" pitchFamily="34" charset="0"/>
              </a:rPr>
              <a:t>(решение о дальнейшем ходе процесса принимается на основе проверки условий, заданных для переходов) и </a:t>
            </a:r>
            <a:r>
              <a:rPr lang="ru-RU" sz="1400" dirty="0">
                <a:solidFill>
                  <a:schemeClr val="accent5"/>
                </a:solidFill>
                <a:latin typeface="Franklin Gothic Book" panose="020B0503020102020204" pitchFamily="34" charset="0"/>
              </a:rPr>
              <a:t>основанные на </a:t>
            </a:r>
          </a:p>
          <a:p>
            <a:pPr algn="just"/>
            <a:r>
              <a:rPr lang="ru-RU" sz="1400" dirty="0">
                <a:solidFill>
                  <a:schemeClr val="accent5"/>
                </a:solidFill>
                <a:latin typeface="Franklin Gothic Book" panose="020B0503020102020204" pitchFamily="34" charset="0"/>
              </a:rPr>
              <a:t>событиях</a:t>
            </a:r>
            <a:r>
              <a:rPr lang="ru-RU" sz="1400" dirty="0">
                <a:latin typeface="Franklin Gothic Book" panose="020B0503020102020204" pitchFamily="34" charset="0"/>
              </a:rPr>
              <a:t> (решение принимается исходя из происходящего в данной точке события, например</a:t>
            </a:r>
          </a:p>
          <a:p>
            <a:pPr algn="just"/>
            <a:r>
              <a:rPr lang="ru-RU" sz="1400" dirty="0">
                <a:latin typeface="Franklin Gothic Book" panose="020B0503020102020204" pitchFamily="34" charset="0"/>
              </a:rPr>
              <a:t>получения сообщения или срабатывания таймера). </a:t>
            </a:r>
          </a:p>
        </p:txBody>
      </p:sp>
      <p:pic>
        <p:nvPicPr>
          <p:cNvPr id="11" name="Рисунок 10">
            <a:extLst>
              <a:ext uri="{FF2B5EF4-FFF2-40B4-BE49-F238E27FC236}">
                <a16:creationId xmlns:a16="http://schemas.microsoft.com/office/drawing/2014/main" id="{63EDEEE8-7472-43BF-8D5F-95B6696C3660}"/>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14862" t="33145" r="56666" b="33146"/>
          <a:stretch/>
        </p:blipFill>
        <p:spPr>
          <a:xfrm>
            <a:off x="-44450" y="2562518"/>
            <a:ext cx="2603500" cy="1732963"/>
          </a:xfrm>
          <a:prstGeom prst="rect">
            <a:avLst/>
          </a:prstGeom>
          <a:ln>
            <a:noFill/>
          </a:ln>
          <a:effectLst>
            <a:outerShdw blurRad="292100" dist="139700" dir="2700000" algn="tl" rotWithShape="0">
              <a:srgbClr val="333333">
                <a:alpha val="65000"/>
              </a:srgbClr>
            </a:outerShdw>
          </a:effectLst>
        </p:spPr>
      </p:pic>
      <p:pic>
        <p:nvPicPr>
          <p:cNvPr id="3" name="Рисунок 2"/>
          <p:cNvPicPr>
            <a:picLocks noChangeAspect="1"/>
          </p:cNvPicPr>
          <p:nvPr/>
        </p:nvPicPr>
        <p:blipFill rotWithShape="1">
          <a:blip r:embed="rId4"/>
          <a:srcRect t="34731" r="55484" b="5341"/>
          <a:stretch/>
        </p:blipFill>
        <p:spPr>
          <a:xfrm>
            <a:off x="4347728" y="2917276"/>
            <a:ext cx="4796272" cy="3631960"/>
          </a:xfrm>
          <a:prstGeom prst="rect">
            <a:avLst/>
          </a:prstGeom>
          <a:ln>
            <a:noFill/>
          </a:ln>
          <a:effectLst>
            <a:outerShdw blurRad="190500" algn="tl" rotWithShape="0">
              <a:srgbClr val="000000">
                <a:alpha val="70000"/>
              </a:srgbClr>
            </a:outerShdw>
          </a:effectLst>
        </p:spPr>
      </p:pic>
      <p:pic>
        <p:nvPicPr>
          <p:cNvPr id="6" name="Рисунок 5"/>
          <p:cNvPicPr>
            <a:picLocks noChangeAspect="1"/>
          </p:cNvPicPr>
          <p:nvPr/>
        </p:nvPicPr>
        <p:blipFill rotWithShape="1">
          <a:blip r:embed="rId5"/>
          <a:srcRect l="2302" t="36420" r="69795" b="42134"/>
          <a:stretch/>
        </p:blipFill>
        <p:spPr>
          <a:xfrm>
            <a:off x="1033309" y="1194084"/>
            <a:ext cx="2853559" cy="1233714"/>
          </a:xfrm>
          <a:prstGeom prst="rect">
            <a:avLst/>
          </a:prstGeom>
          <a:ln>
            <a:noFill/>
          </a:ln>
          <a:effectLst>
            <a:outerShdw blurRad="190500" algn="tl" rotWithShape="0">
              <a:srgbClr val="000000">
                <a:alpha val="70000"/>
              </a:srgbClr>
            </a:outerShdw>
          </a:effectLst>
        </p:spPr>
      </p:pic>
      <p:sp>
        <p:nvSpPr>
          <p:cNvPr id="7" name="TextBox 6"/>
          <p:cNvSpPr txBox="1"/>
          <p:nvPr/>
        </p:nvSpPr>
        <p:spPr>
          <a:xfrm>
            <a:off x="696686" y="740335"/>
            <a:ext cx="2452914" cy="369332"/>
          </a:xfrm>
          <a:prstGeom prst="rect">
            <a:avLst/>
          </a:prstGeom>
          <a:noFill/>
        </p:spPr>
        <p:txBody>
          <a:bodyPr wrap="square" rtlCol="0">
            <a:spAutoFit/>
          </a:bodyPr>
          <a:lstStyle/>
          <a:p>
            <a:pPr algn="ctr"/>
            <a:r>
              <a:rPr lang="ru-RU" dirty="0">
                <a:solidFill>
                  <a:schemeClr val="bg1"/>
                </a:solidFill>
                <a:latin typeface="Franklin Gothic Book" panose="020B0503020102020204" pitchFamily="34" charset="0"/>
              </a:rPr>
              <a:t>ПОТОКИ</a:t>
            </a:r>
          </a:p>
        </p:txBody>
      </p:sp>
      <p:pic>
        <p:nvPicPr>
          <p:cNvPr id="2" name="Рисунок 1">
            <a:extLst>
              <a:ext uri="{FF2B5EF4-FFF2-40B4-BE49-F238E27FC236}">
                <a16:creationId xmlns:a16="http://schemas.microsoft.com/office/drawing/2014/main" id="{DD0392E0-A933-4CD2-BBA9-53A2ADC05548}"/>
              </a:ext>
            </a:extLst>
          </p:cNvPr>
          <p:cNvPicPr>
            <a:picLocks noChangeAspect="1"/>
          </p:cNvPicPr>
          <p:nvPr/>
        </p:nvPicPr>
        <p:blipFill rotWithShape="1">
          <a:blip r:embed="rId6"/>
          <a:srcRect l="17500" t="33145" r="33056" b="23073"/>
          <a:stretch/>
        </p:blipFill>
        <p:spPr>
          <a:xfrm>
            <a:off x="1238042" y="4327919"/>
            <a:ext cx="3109686" cy="1808213"/>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C7934389-6A95-4E6C-B92A-D882B6E0DE79}"/>
              </a:ext>
            </a:extLst>
          </p:cNvPr>
          <p:cNvSpPr txBox="1"/>
          <p:nvPr/>
        </p:nvSpPr>
        <p:spPr>
          <a:xfrm>
            <a:off x="1257300" y="4368800"/>
            <a:ext cx="1892300" cy="230832"/>
          </a:xfrm>
          <a:prstGeom prst="rect">
            <a:avLst/>
          </a:prstGeom>
          <a:noFill/>
        </p:spPr>
        <p:txBody>
          <a:bodyPr wrap="square" rtlCol="0">
            <a:spAutoFit/>
          </a:bodyPr>
          <a:lstStyle/>
          <a:p>
            <a:r>
              <a:rPr lang="ru-RU" sz="900" dirty="0">
                <a:latin typeface="Franklin Gothic Book" panose="020B0503020102020204" pitchFamily="34" charset="0"/>
              </a:rPr>
              <a:t>Исключающее ИЛИ событийное</a:t>
            </a:r>
          </a:p>
        </p:txBody>
      </p:sp>
      <p:sp>
        <p:nvSpPr>
          <p:cNvPr id="12" name="TextBox 11">
            <a:extLst>
              <a:ext uri="{FF2B5EF4-FFF2-40B4-BE49-F238E27FC236}">
                <a16:creationId xmlns:a16="http://schemas.microsoft.com/office/drawing/2014/main" id="{AC2CCA1A-F622-462A-9747-EF5D74BE3E5B}"/>
              </a:ext>
            </a:extLst>
          </p:cNvPr>
          <p:cNvSpPr txBox="1"/>
          <p:nvPr/>
        </p:nvSpPr>
        <p:spPr>
          <a:xfrm>
            <a:off x="0" y="2562518"/>
            <a:ext cx="1892300" cy="230832"/>
          </a:xfrm>
          <a:prstGeom prst="rect">
            <a:avLst/>
          </a:prstGeom>
          <a:noFill/>
        </p:spPr>
        <p:txBody>
          <a:bodyPr wrap="square" rtlCol="0">
            <a:spAutoFit/>
          </a:bodyPr>
          <a:lstStyle/>
          <a:p>
            <a:r>
              <a:rPr lang="ru-RU" sz="900" dirty="0">
                <a:latin typeface="Franklin Gothic Book" panose="020B0503020102020204" pitchFamily="34" charset="0"/>
              </a:rPr>
              <a:t>Исключающее ИЛИ</a:t>
            </a:r>
          </a:p>
        </p:txBody>
      </p:sp>
    </p:spTree>
    <p:extLst>
      <p:ext uri="{BB962C8B-B14F-4D97-AF65-F5344CB8AC3E}">
        <p14:creationId xmlns:p14="http://schemas.microsoft.com/office/powerpoint/2010/main" val="176131037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одзаголовок 8">
            <a:extLst>
              <a:ext uri="{FF2B5EF4-FFF2-40B4-BE49-F238E27FC236}">
                <a16:creationId xmlns:a16="http://schemas.microsoft.com/office/drawing/2014/main" id="{C29B7F39-2615-4D97-9F7C-50DA806AFAFF}"/>
              </a:ext>
            </a:extLst>
          </p:cNvPr>
          <p:cNvSpPr>
            <a:spLocks noGrp="1"/>
          </p:cNvSpPr>
          <p:nvPr>
            <p:ph type="subTitle" idx="1"/>
          </p:nvPr>
        </p:nvSpPr>
        <p:spPr/>
        <p:txBody>
          <a:bodyPr/>
          <a:lstStyle/>
          <a:p>
            <a:r>
              <a:rPr lang="en-US" dirty="0"/>
              <a:t>BPMN 2.0</a:t>
            </a:r>
            <a:r>
              <a:rPr lang="ru-RU" dirty="0"/>
              <a:t>. ШЛЮЗЫ</a:t>
            </a:r>
          </a:p>
          <a:p>
            <a:endParaRPr lang="ru-RU" dirty="0"/>
          </a:p>
        </p:txBody>
      </p:sp>
      <p:pic>
        <p:nvPicPr>
          <p:cNvPr id="2" name="Рисунок 1">
            <a:extLst>
              <a:ext uri="{FF2B5EF4-FFF2-40B4-BE49-F238E27FC236}">
                <a16:creationId xmlns:a16="http://schemas.microsoft.com/office/drawing/2014/main" id="{F37630C8-232B-422C-A85D-17EB9C447DCA}"/>
              </a:ext>
            </a:extLst>
          </p:cNvPr>
          <p:cNvPicPr>
            <a:picLocks noChangeAspect="1"/>
          </p:cNvPicPr>
          <p:nvPr/>
        </p:nvPicPr>
        <p:blipFill rotWithShape="1">
          <a:blip r:embed="rId2"/>
          <a:srcRect l="35645" t="17726" r="26129" b="45347"/>
          <a:stretch/>
        </p:blipFill>
        <p:spPr>
          <a:xfrm>
            <a:off x="705875" y="705749"/>
            <a:ext cx="5294670" cy="2875651"/>
          </a:xfrm>
          <a:prstGeom prst="rect">
            <a:avLst/>
          </a:prstGeom>
        </p:spPr>
      </p:pic>
      <p:pic>
        <p:nvPicPr>
          <p:cNvPr id="7" name="Рисунок 6">
            <a:extLst>
              <a:ext uri="{FF2B5EF4-FFF2-40B4-BE49-F238E27FC236}">
                <a16:creationId xmlns:a16="http://schemas.microsoft.com/office/drawing/2014/main" id="{5F047B0D-51A8-436E-8EAE-39AFEF622B31}"/>
              </a:ext>
            </a:extLst>
          </p:cNvPr>
          <p:cNvPicPr>
            <a:picLocks noChangeAspect="1"/>
          </p:cNvPicPr>
          <p:nvPr/>
        </p:nvPicPr>
        <p:blipFill rotWithShape="1">
          <a:blip r:embed="rId2"/>
          <a:srcRect l="35645" t="54475" r="32272" b="10554"/>
          <a:stretch/>
        </p:blipFill>
        <p:spPr>
          <a:xfrm>
            <a:off x="4572000" y="3429000"/>
            <a:ext cx="4443770" cy="2723251"/>
          </a:xfrm>
          <a:prstGeom prst="rect">
            <a:avLst/>
          </a:prstGeom>
        </p:spPr>
      </p:pic>
      <p:sp>
        <p:nvSpPr>
          <p:cNvPr id="3" name="Прямоугольник 2">
            <a:extLst>
              <a:ext uri="{FF2B5EF4-FFF2-40B4-BE49-F238E27FC236}">
                <a16:creationId xmlns:a16="http://schemas.microsoft.com/office/drawing/2014/main" id="{394E7099-5056-4BB4-8714-ED2DC20F65A0}"/>
              </a:ext>
            </a:extLst>
          </p:cNvPr>
          <p:cNvSpPr/>
          <p:nvPr/>
        </p:nvSpPr>
        <p:spPr>
          <a:xfrm>
            <a:off x="322476" y="3643086"/>
            <a:ext cx="3857638" cy="2123658"/>
          </a:xfrm>
          <a:prstGeom prst="rect">
            <a:avLst/>
          </a:prstGeom>
        </p:spPr>
        <p:txBody>
          <a:bodyPr wrap="square">
            <a:spAutoFit/>
          </a:bodyPr>
          <a:lstStyle/>
          <a:p>
            <a:pPr marL="171450" indent="-171450" algn="just">
              <a:buFont typeface="Arial" panose="020B0604020202020204" pitchFamily="34" charset="0"/>
              <a:buChar char="•"/>
            </a:pPr>
            <a:r>
              <a:rPr lang="ru-RU" sz="1200" dirty="0">
                <a:latin typeface="Franklin Gothic Book" panose="020B0503020102020204" pitchFamily="34" charset="0"/>
              </a:rPr>
              <a:t>перед шлюзом должна находиться задача, после которой необходимо принять определенное решение</a:t>
            </a:r>
            <a:endParaRPr lang="ru-RU" sz="1200" dirty="0">
              <a:solidFill>
                <a:srgbClr val="000000"/>
              </a:solidFill>
              <a:latin typeface="Franklin Gothic Book" panose="020B0503020102020204" pitchFamily="34" charset="0"/>
            </a:endParaRPr>
          </a:p>
          <a:p>
            <a:pPr marL="171450" indent="-171450" algn="just">
              <a:buFont typeface="Arial" panose="020B0604020202020204" pitchFamily="34" charset="0"/>
              <a:buChar char="•"/>
            </a:pPr>
            <a:r>
              <a:rPr lang="ru-RU" sz="1200" dirty="0">
                <a:solidFill>
                  <a:srgbClr val="000000"/>
                </a:solidFill>
                <a:latin typeface="Franklin Gothic Book" panose="020B0503020102020204" pitchFamily="34" charset="0"/>
              </a:rPr>
              <a:t>ошибкой является отсутствие наименования у эксклюзивного шлюза BPMN (даже если кажется, что смысл шлюза очевиден), или неполное, неточное наименование</a:t>
            </a:r>
          </a:p>
          <a:p>
            <a:pPr marL="171450" indent="-171450" algn="just">
              <a:buFont typeface="Arial" panose="020B0604020202020204" pitchFamily="34" charset="0"/>
              <a:buChar char="•"/>
            </a:pPr>
            <a:r>
              <a:rPr lang="ru-RU" sz="1200" dirty="0">
                <a:solidFill>
                  <a:srgbClr val="000000"/>
                </a:solidFill>
                <a:latin typeface="Franklin Gothic Book" panose="020B0503020102020204" pitchFamily="34" charset="0"/>
              </a:rPr>
              <a:t>каждый поток управления, выходящий из шлюза, должен быть подписан соответствующим решением.</a:t>
            </a:r>
          </a:p>
          <a:p>
            <a:pPr marL="171450" indent="-171450" algn="just">
              <a:buFont typeface="Arial" panose="020B0604020202020204" pitchFamily="34" charset="0"/>
              <a:buChar char="•"/>
            </a:pPr>
            <a:r>
              <a:rPr lang="ru-RU" sz="1200" dirty="0">
                <a:solidFill>
                  <a:srgbClr val="000000"/>
                </a:solidFill>
                <a:latin typeface="Franklin Gothic Book" panose="020B0503020102020204" pitchFamily="34" charset="0"/>
              </a:rPr>
              <a:t>к шлюзу должны присоединяться взаимоисключающие варианты решения</a:t>
            </a:r>
          </a:p>
        </p:txBody>
      </p:sp>
      <p:pic>
        <p:nvPicPr>
          <p:cNvPr id="4" name="Рисунок 3">
            <a:extLst>
              <a:ext uri="{FF2B5EF4-FFF2-40B4-BE49-F238E27FC236}">
                <a16:creationId xmlns:a16="http://schemas.microsoft.com/office/drawing/2014/main" id="{C2E51FF0-69AC-4EBF-9ED4-F6A9B68199BA}"/>
              </a:ext>
            </a:extLst>
          </p:cNvPr>
          <p:cNvPicPr>
            <a:picLocks noChangeAspect="1"/>
          </p:cNvPicPr>
          <p:nvPr/>
        </p:nvPicPr>
        <p:blipFill rotWithShape="1">
          <a:blip r:embed="rId3"/>
          <a:srcRect l="42857" t="45835" r="47937" b="41601"/>
          <a:stretch/>
        </p:blipFill>
        <p:spPr>
          <a:xfrm>
            <a:off x="6720115" y="1022571"/>
            <a:ext cx="1244600" cy="954909"/>
          </a:xfrm>
          <a:prstGeom prst="rect">
            <a:avLst/>
          </a:prstGeom>
        </p:spPr>
      </p:pic>
      <p:sp>
        <p:nvSpPr>
          <p:cNvPr id="5" name="TextBox 4">
            <a:extLst>
              <a:ext uri="{FF2B5EF4-FFF2-40B4-BE49-F238E27FC236}">
                <a16:creationId xmlns:a16="http://schemas.microsoft.com/office/drawing/2014/main" id="{0E0AFA9D-D05B-4E14-98C2-C87923E9A184}"/>
              </a:ext>
            </a:extLst>
          </p:cNvPr>
          <p:cNvSpPr txBox="1"/>
          <p:nvPr/>
        </p:nvSpPr>
        <p:spPr>
          <a:xfrm>
            <a:off x="6415724" y="2026132"/>
            <a:ext cx="1921211" cy="338554"/>
          </a:xfrm>
          <a:prstGeom prst="rect">
            <a:avLst/>
          </a:prstGeom>
          <a:noFill/>
        </p:spPr>
        <p:txBody>
          <a:bodyPr wrap="square" rtlCol="0">
            <a:spAutoFit/>
          </a:bodyPr>
          <a:lstStyle/>
          <a:p>
            <a:pPr algn="ctr"/>
            <a:r>
              <a:rPr lang="ru-RU" sz="1600" dirty="0">
                <a:solidFill>
                  <a:srgbClr val="0070C0"/>
                </a:solidFill>
                <a:latin typeface="Franklin Gothic Book" panose="020B0503020102020204" pitchFamily="34" charset="0"/>
              </a:rPr>
              <a:t>Исключающее ИЛИ</a:t>
            </a:r>
          </a:p>
        </p:txBody>
      </p:sp>
    </p:spTree>
    <p:extLst>
      <p:ext uri="{BB962C8B-B14F-4D97-AF65-F5344CB8AC3E}">
        <p14:creationId xmlns:p14="http://schemas.microsoft.com/office/powerpoint/2010/main" val="13857734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одзаголовок 8">
            <a:extLst>
              <a:ext uri="{FF2B5EF4-FFF2-40B4-BE49-F238E27FC236}">
                <a16:creationId xmlns:a16="http://schemas.microsoft.com/office/drawing/2014/main" id="{C29B7F39-2615-4D97-9F7C-50DA806AFAFF}"/>
              </a:ext>
            </a:extLst>
          </p:cNvPr>
          <p:cNvSpPr>
            <a:spLocks noGrp="1"/>
          </p:cNvSpPr>
          <p:nvPr>
            <p:ph type="subTitle" idx="1"/>
          </p:nvPr>
        </p:nvSpPr>
        <p:spPr/>
        <p:txBody>
          <a:bodyPr/>
          <a:lstStyle/>
          <a:p>
            <a:r>
              <a:rPr lang="en-US" dirty="0"/>
              <a:t>BPMN 2.0</a:t>
            </a:r>
            <a:r>
              <a:rPr lang="ru-RU" dirty="0"/>
              <a:t>. ШЛЮЗЫ</a:t>
            </a:r>
          </a:p>
          <a:p>
            <a:endParaRPr lang="ru-RU" dirty="0"/>
          </a:p>
        </p:txBody>
      </p:sp>
      <p:pic>
        <p:nvPicPr>
          <p:cNvPr id="3" name="Рисунок 2">
            <a:extLst>
              <a:ext uri="{FF2B5EF4-FFF2-40B4-BE49-F238E27FC236}">
                <a16:creationId xmlns:a16="http://schemas.microsoft.com/office/drawing/2014/main" id="{A6A816DA-68E2-490D-9203-19B80816BF64}"/>
              </a:ext>
            </a:extLst>
          </p:cNvPr>
          <p:cNvPicPr>
            <a:picLocks noChangeAspect="1"/>
          </p:cNvPicPr>
          <p:nvPr/>
        </p:nvPicPr>
        <p:blipFill rotWithShape="1">
          <a:blip r:embed="rId2"/>
          <a:srcRect l="34584" t="34684" r="34722" b="31174"/>
          <a:stretch/>
        </p:blipFill>
        <p:spPr>
          <a:xfrm>
            <a:off x="1171121" y="1391903"/>
            <a:ext cx="5836557" cy="3649997"/>
          </a:xfrm>
          <a:prstGeom prst="rect">
            <a:avLst/>
          </a:prstGeom>
        </p:spPr>
      </p:pic>
      <p:sp>
        <p:nvSpPr>
          <p:cNvPr id="4" name="TextBox 3">
            <a:extLst>
              <a:ext uri="{FF2B5EF4-FFF2-40B4-BE49-F238E27FC236}">
                <a16:creationId xmlns:a16="http://schemas.microsoft.com/office/drawing/2014/main" id="{36418654-E48B-4386-866F-66461BFEEC0B}"/>
              </a:ext>
            </a:extLst>
          </p:cNvPr>
          <p:cNvSpPr txBox="1"/>
          <p:nvPr/>
        </p:nvSpPr>
        <p:spPr>
          <a:xfrm>
            <a:off x="667657" y="787960"/>
            <a:ext cx="4383314" cy="369332"/>
          </a:xfrm>
          <a:prstGeom prst="rect">
            <a:avLst/>
          </a:prstGeom>
          <a:noFill/>
        </p:spPr>
        <p:txBody>
          <a:bodyPr wrap="square" rtlCol="0">
            <a:spAutoFit/>
          </a:bodyPr>
          <a:lstStyle/>
          <a:p>
            <a:r>
              <a:rPr lang="ru-RU" dirty="0">
                <a:solidFill>
                  <a:srgbClr val="0070C0"/>
                </a:solidFill>
                <a:latin typeface="Franklin Gothic Book" panose="020B0503020102020204" pitchFamily="34" charset="0"/>
              </a:rPr>
              <a:t>Найди ошибку!</a:t>
            </a:r>
          </a:p>
        </p:txBody>
      </p:sp>
    </p:spTree>
    <p:extLst>
      <p:ext uri="{BB962C8B-B14F-4D97-AF65-F5344CB8AC3E}">
        <p14:creationId xmlns:p14="http://schemas.microsoft.com/office/powerpoint/2010/main" val="23010944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одзаголовок 8">
            <a:extLst>
              <a:ext uri="{FF2B5EF4-FFF2-40B4-BE49-F238E27FC236}">
                <a16:creationId xmlns:a16="http://schemas.microsoft.com/office/drawing/2014/main" id="{C29B7F39-2615-4D97-9F7C-50DA806AFAFF}"/>
              </a:ext>
            </a:extLst>
          </p:cNvPr>
          <p:cNvSpPr>
            <a:spLocks noGrp="1"/>
          </p:cNvSpPr>
          <p:nvPr>
            <p:ph type="subTitle" idx="1"/>
          </p:nvPr>
        </p:nvSpPr>
        <p:spPr/>
        <p:txBody>
          <a:bodyPr/>
          <a:lstStyle/>
          <a:p>
            <a:r>
              <a:rPr lang="en-US" dirty="0"/>
              <a:t>BPMN 2.0</a:t>
            </a:r>
            <a:r>
              <a:rPr lang="ru-RU" dirty="0"/>
              <a:t>. ШЛЮЗЫ</a:t>
            </a:r>
          </a:p>
          <a:p>
            <a:endParaRPr lang="ru-RU" dirty="0"/>
          </a:p>
        </p:txBody>
      </p:sp>
      <p:sp>
        <p:nvSpPr>
          <p:cNvPr id="4" name="TextBox 3">
            <a:extLst>
              <a:ext uri="{FF2B5EF4-FFF2-40B4-BE49-F238E27FC236}">
                <a16:creationId xmlns:a16="http://schemas.microsoft.com/office/drawing/2014/main" id="{36418654-E48B-4386-866F-66461BFEEC0B}"/>
              </a:ext>
            </a:extLst>
          </p:cNvPr>
          <p:cNvSpPr txBox="1"/>
          <p:nvPr/>
        </p:nvSpPr>
        <p:spPr>
          <a:xfrm>
            <a:off x="667657" y="787960"/>
            <a:ext cx="4383314" cy="369332"/>
          </a:xfrm>
          <a:prstGeom prst="rect">
            <a:avLst/>
          </a:prstGeom>
          <a:noFill/>
        </p:spPr>
        <p:txBody>
          <a:bodyPr wrap="square" rtlCol="0">
            <a:spAutoFit/>
          </a:bodyPr>
          <a:lstStyle/>
          <a:p>
            <a:r>
              <a:rPr lang="ru-RU" dirty="0">
                <a:solidFill>
                  <a:srgbClr val="0070C0"/>
                </a:solidFill>
                <a:latin typeface="Franklin Gothic Book" panose="020B0503020102020204" pitchFamily="34" charset="0"/>
              </a:rPr>
              <a:t>Найди ошибку!</a:t>
            </a:r>
          </a:p>
        </p:txBody>
      </p:sp>
      <p:pic>
        <p:nvPicPr>
          <p:cNvPr id="2" name="Рисунок 1">
            <a:extLst>
              <a:ext uri="{FF2B5EF4-FFF2-40B4-BE49-F238E27FC236}">
                <a16:creationId xmlns:a16="http://schemas.microsoft.com/office/drawing/2014/main" id="{3EFEFE14-53B1-4A6B-B986-1964A4D05083}"/>
              </a:ext>
            </a:extLst>
          </p:cNvPr>
          <p:cNvPicPr>
            <a:picLocks noChangeAspect="1"/>
          </p:cNvPicPr>
          <p:nvPr/>
        </p:nvPicPr>
        <p:blipFill rotWithShape="1">
          <a:blip r:embed="rId2"/>
          <a:srcRect l="17500" t="45306" r="40000" b="26285"/>
          <a:stretch/>
        </p:blipFill>
        <p:spPr>
          <a:xfrm>
            <a:off x="209032" y="1257183"/>
            <a:ext cx="5898802" cy="2216871"/>
          </a:xfrm>
          <a:prstGeom prst="rect">
            <a:avLst/>
          </a:prstGeom>
        </p:spPr>
      </p:pic>
      <p:pic>
        <p:nvPicPr>
          <p:cNvPr id="5" name="Рисунок 4">
            <a:extLst>
              <a:ext uri="{FF2B5EF4-FFF2-40B4-BE49-F238E27FC236}">
                <a16:creationId xmlns:a16="http://schemas.microsoft.com/office/drawing/2014/main" id="{340B2955-A626-408F-9302-ADBC651E589A}"/>
              </a:ext>
            </a:extLst>
          </p:cNvPr>
          <p:cNvPicPr>
            <a:picLocks noChangeAspect="1"/>
          </p:cNvPicPr>
          <p:nvPr/>
        </p:nvPicPr>
        <p:blipFill rotWithShape="1">
          <a:blip r:embed="rId3"/>
          <a:srcRect l="17500" t="48446" r="39861" b="23567"/>
          <a:stretch/>
        </p:blipFill>
        <p:spPr>
          <a:xfrm>
            <a:off x="2819399" y="3608774"/>
            <a:ext cx="6101791" cy="2251700"/>
          </a:xfrm>
          <a:prstGeom prst="rect">
            <a:avLst/>
          </a:prstGeom>
        </p:spPr>
      </p:pic>
    </p:spTree>
    <p:extLst>
      <p:ext uri="{BB962C8B-B14F-4D97-AF65-F5344CB8AC3E}">
        <p14:creationId xmlns:p14="http://schemas.microsoft.com/office/powerpoint/2010/main" val="15631239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одзаголовок 8">
            <a:extLst>
              <a:ext uri="{FF2B5EF4-FFF2-40B4-BE49-F238E27FC236}">
                <a16:creationId xmlns:a16="http://schemas.microsoft.com/office/drawing/2014/main" id="{C29B7F39-2615-4D97-9F7C-50DA806AFAFF}"/>
              </a:ext>
            </a:extLst>
          </p:cNvPr>
          <p:cNvSpPr>
            <a:spLocks noGrp="1"/>
          </p:cNvSpPr>
          <p:nvPr>
            <p:ph type="subTitle" idx="1"/>
          </p:nvPr>
        </p:nvSpPr>
        <p:spPr/>
        <p:txBody>
          <a:bodyPr/>
          <a:lstStyle/>
          <a:p>
            <a:r>
              <a:rPr lang="en-US" dirty="0"/>
              <a:t>BPMN 2.0</a:t>
            </a:r>
            <a:r>
              <a:rPr lang="ru-RU" dirty="0"/>
              <a:t>. ШЛЮЗЫ</a:t>
            </a:r>
          </a:p>
          <a:p>
            <a:endParaRPr lang="ru-RU" dirty="0"/>
          </a:p>
        </p:txBody>
      </p:sp>
      <p:sp>
        <p:nvSpPr>
          <p:cNvPr id="13" name="Прямоугольник 12">
            <a:extLst>
              <a:ext uri="{FF2B5EF4-FFF2-40B4-BE49-F238E27FC236}">
                <a16:creationId xmlns:a16="http://schemas.microsoft.com/office/drawing/2014/main" id="{C2E79034-45FF-4C66-8BA0-3EF55C1DEE98}"/>
              </a:ext>
            </a:extLst>
          </p:cNvPr>
          <p:cNvSpPr/>
          <p:nvPr/>
        </p:nvSpPr>
        <p:spPr>
          <a:xfrm>
            <a:off x="545691" y="1042254"/>
            <a:ext cx="7757652" cy="1384995"/>
          </a:xfrm>
          <a:prstGeom prst="rect">
            <a:avLst/>
          </a:prstGeom>
        </p:spPr>
        <p:txBody>
          <a:bodyPr wrap="square">
            <a:spAutoFit/>
          </a:bodyPr>
          <a:lstStyle/>
          <a:p>
            <a:pPr algn="just"/>
            <a:r>
              <a:rPr lang="ru-RU" sz="1400" dirty="0">
                <a:solidFill>
                  <a:srgbClr val="0070C0"/>
                </a:solidFill>
                <a:latin typeface="Franklin Gothic Book" panose="020B0503020102020204" pitchFamily="34" charset="0"/>
              </a:rPr>
              <a:t>Эксклюзивный событийный шлюз BPMN (Логический оператор исключающего ИЛИ, управляемый событиями) </a:t>
            </a:r>
          </a:p>
          <a:p>
            <a:pPr algn="just"/>
            <a:r>
              <a:rPr lang="ru-RU" sz="1400" dirty="0">
                <a:solidFill>
                  <a:srgbClr val="000000"/>
                </a:solidFill>
                <a:latin typeface="Franklin Gothic Book" panose="020B0503020102020204" pitchFamily="34" charset="0"/>
              </a:rPr>
              <a:t>используется для выбора альтернативного маршрута процесса. Исходящие потоки управления данного шлюза должны быть связаны только с событиями или задачами – обработчиками сообщений. Поток управления направляется по той ветви, событие по которой наступит раньше других. Остальные события будут проигнорированы.</a:t>
            </a:r>
            <a:endParaRPr lang="ru-RU" sz="1400" dirty="0">
              <a:latin typeface="Franklin Gothic Book" panose="020B0503020102020204" pitchFamily="34" charset="0"/>
            </a:endParaRPr>
          </a:p>
        </p:txBody>
      </p:sp>
      <p:pic>
        <p:nvPicPr>
          <p:cNvPr id="14" name="Рисунок 13">
            <a:extLst>
              <a:ext uri="{FF2B5EF4-FFF2-40B4-BE49-F238E27FC236}">
                <a16:creationId xmlns:a16="http://schemas.microsoft.com/office/drawing/2014/main" id="{B22C8ECC-D833-450B-9174-FC67501F3FC7}"/>
              </a:ext>
            </a:extLst>
          </p:cNvPr>
          <p:cNvPicPr>
            <a:picLocks noChangeAspect="1"/>
          </p:cNvPicPr>
          <p:nvPr/>
        </p:nvPicPr>
        <p:blipFill rotWithShape="1">
          <a:blip r:embed="rId2"/>
          <a:srcRect l="32419" t="44979" r="21129" b="20882"/>
          <a:stretch/>
        </p:blipFill>
        <p:spPr>
          <a:xfrm>
            <a:off x="1135362" y="2710697"/>
            <a:ext cx="6873275" cy="2839999"/>
          </a:xfrm>
          <a:prstGeom prst="rect">
            <a:avLst/>
          </a:prstGeom>
        </p:spPr>
      </p:pic>
    </p:spTree>
    <p:extLst>
      <p:ext uri="{BB962C8B-B14F-4D97-AF65-F5344CB8AC3E}">
        <p14:creationId xmlns:p14="http://schemas.microsoft.com/office/powerpoint/2010/main" val="10510163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одзаголовок 8">
            <a:extLst>
              <a:ext uri="{FF2B5EF4-FFF2-40B4-BE49-F238E27FC236}">
                <a16:creationId xmlns:a16="http://schemas.microsoft.com/office/drawing/2014/main" id="{C29B7F39-2615-4D97-9F7C-50DA806AFAFF}"/>
              </a:ext>
            </a:extLst>
          </p:cNvPr>
          <p:cNvSpPr>
            <a:spLocks noGrp="1"/>
          </p:cNvSpPr>
          <p:nvPr>
            <p:ph type="subTitle" idx="1"/>
          </p:nvPr>
        </p:nvSpPr>
        <p:spPr/>
        <p:txBody>
          <a:bodyPr/>
          <a:lstStyle/>
          <a:p>
            <a:r>
              <a:rPr lang="en-US" dirty="0"/>
              <a:t>BPMN 2.0</a:t>
            </a:r>
            <a:r>
              <a:rPr lang="ru-RU" dirty="0"/>
              <a:t>. ШЛЮЗЫ</a:t>
            </a:r>
          </a:p>
          <a:p>
            <a:endParaRPr lang="ru-RU" dirty="0"/>
          </a:p>
        </p:txBody>
      </p:sp>
      <p:sp>
        <p:nvSpPr>
          <p:cNvPr id="2" name="Прямоугольник 1">
            <a:extLst>
              <a:ext uri="{FF2B5EF4-FFF2-40B4-BE49-F238E27FC236}">
                <a16:creationId xmlns:a16="http://schemas.microsoft.com/office/drawing/2014/main" id="{8B0D0661-C820-462D-B964-7FA958E8BCA9}"/>
              </a:ext>
            </a:extLst>
          </p:cNvPr>
          <p:cNvSpPr/>
          <p:nvPr/>
        </p:nvSpPr>
        <p:spPr>
          <a:xfrm>
            <a:off x="166915" y="890227"/>
            <a:ext cx="6691085" cy="1569660"/>
          </a:xfrm>
          <a:prstGeom prst="rect">
            <a:avLst/>
          </a:prstGeom>
        </p:spPr>
        <p:txBody>
          <a:bodyPr wrap="square">
            <a:spAutoFit/>
          </a:bodyPr>
          <a:lstStyle/>
          <a:p>
            <a:pPr algn="just"/>
            <a:r>
              <a:rPr lang="ru-RU" sz="1200" dirty="0">
                <a:latin typeface="Franklin Gothic Book" panose="020B0503020102020204" pitchFamily="34" charset="0"/>
              </a:rPr>
              <a:t>В качестве примера рассмотрим бизнес-процесс ежемесячного выставления счетов за выполненные консультации, изображенный на диаграмме ниже. Счет за проведенные консультации выставляется, когда выполнены все следующие условия:</a:t>
            </a:r>
          </a:p>
          <a:p>
            <a:pPr marL="171450" indent="-171450" algn="just">
              <a:buFont typeface="Arial" panose="020B0604020202020204" pitchFamily="34" charset="0"/>
              <a:buChar char="•"/>
            </a:pPr>
            <a:r>
              <a:rPr lang="ru-RU" sz="1200" dirty="0">
                <a:latin typeface="Franklin Gothic Book" panose="020B0503020102020204" pitchFamily="34" charset="0"/>
              </a:rPr>
              <a:t>когда количество часов консультаций больше нуля (то есть, проводились хоть какие-то консультации),</a:t>
            </a:r>
          </a:p>
          <a:p>
            <a:pPr marL="171450" indent="-171450" algn="just">
              <a:buFont typeface="Arial" panose="020B0604020202020204" pitchFamily="34" charset="0"/>
              <a:buChar char="•"/>
            </a:pPr>
            <a:r>
              <a:rPr lang="ru-RU" sz="1200" dirty="0">
                <a:latin typeface="Franklin Gothic Book" panose="020B0503020102020204" pitchFamily="34" charset="0"/>
              </a:rPr>
              <a:t>когда по этим часам консультаций получен лист учета рабочего времени (то есть, клиент согласовал эти часы и готов их оплачивать), когда наступило 1 число очередного месяца, так как счета выставляются помесячно.</a:t>
            </a:r>
          </a:p>
        </p:txBody>
      </p:sp>
      <p:sp>
        <p:nvSpPr>
          <p:cNvPr id="3" name="Прямоугольник 2">
            <a:extLst>
              <a:ext uri="{FF2B5EF4-FFF2-40B4-BE49-F238E27FC236}">
                <a16:creationId xmlns:a16="http://schemas.microsoft.com/office/drawing/2014/main" id="{4A5B4971-2F89-46BA-B991-65D5B71E6A5C}"/>
              </a:ext>
            </a:extLst>
          </p:cNvPr>
          <p:cNvSpPr/>
          <p:nvPr/>
        </p:nvSpPr>
        <p:spPr>
          <a:xfrm>
            <a:off x="2793999" y="4767444"/>
            <a:ext cx="6183086" cy="1200329"/>
          </a:xfrm>
          <a:prstGeom prst="rect">
            <a:avLst/>
          </a:prstGeom>
        </p:spPr>
        <p:txBody>
          <a:bodyPr wrap="square">
            <a:spAutoFit/>
          </a:bodyPr>
          <a:lstStyle/>
          <a:p>
            <a:pPr algn="just"/>
            <a:r>
              <a:rPr lang="ru-RU" sz="1200" dirty="0">
                <a:latin typeface="Franklin Gothic Book" panose="020B0503020102020204" pitchFamily="34" charset="0"/>
              </a:rPr>
              <a:t>Каждому из перечисленных условий на диаграмме соответствует событие-обработчик с определенным типом: «Сообщение» (Получен согласованный лист учета рабочего времени), «Условие» (Количество часов консультаций больше нуля) и, наконец, «Таймер», который отслеживает наступление 1 числа каждого месяца. Событийный оператор И позволяет отследить наступление этих трех и запустить очередной новый экземпляр бизнес-процесса выставления счетов. </a:t>
            </a:r>
          </a:p>
        </p:txBody>
      </p:sp>
      <p:pic>
        <p:nvPicPr>
          <p:cNvPr id="4" name="Рисунок 3">
            <a:extLst>
              <a:ext uri="{FF2B5EF4-FFF2-40B4-BE49-F238E27FC236}">
                <a16:creationId xmlns:a16="http://schemas.microsoft.com/office/drawing/2014/main" id="{6C914156-6488-42D2-919D-F51A3485CC15}"/>
              </a:ext>
            </a:extLst>
          </p:cNvPr>
          <p:cNvPicPr>
            <a:picLocks noChangeAspect="1"/>
          </p:cNvPicPr>
          <p:nvPr/>
        </p:nvPicPr>
        <p:blipFill rotWithShape="1">
          <a:blip r:embed="rId2">
            <a:clrChange>
              <a:clrFrom>
                <a:srgbClr val="FFFFFF"/>
              </a:clrFrom>
              <a:clrTo>
                <a:srgbClr val="FFFFFF">
                  <a:alpha val="0"/>
                </a:srgbClr>
              </a:clrTo>
            </a:clrChange>
          </a:blip>
          <a:srcRect l="23333" t="33678" r="23597" b="30590"/>
          <a:stretch/>
        </p:blipFill>
        <p:spPr>
          <a:xfrm>
            <a:off x="166915" y="2609791"/>
            <a:ext cx="7185577" cy="2720072"/>
          </a:xfrm>
          <a:prstGeom prst="rect">
            <a:avLst/>
          </a:prstGeom>
        </p:spPr>
      </p:pic>
      <p:pic>
        <p:nvPicPr>
          <p:cNvPr id="8" name="Рисунок 7">
            <a:extLst>
              <a:ext uri="{FF2B5EF4-FFF2-40B4-BE49-F238E27FC236}">
                <a16:creationId xmlns:a16="http://schemas.microsoft.com/office/drawing/2014/main" id="{1A98A019-3811-4C24-9015-FAF123109AB0}"/>
              </a:ext>
            </a:extLst>
          </p:cNvPr>
          <p:cNvPicPr>
            <a:picLocks noChangeAspect="1"/>
          </p:cNvPicPr>
          <p:nvPr/>
        </p:nvPicPr>
        <p:blipFill rotWithShape="1">
          <a:blip r:embed="rId2">
            <a:clrChange>
              <a:clrFrom>
                <a:srgbClr val="FFFFFF"/>
              </a:clrFrom>
              <a:clrTo>
                <a:srgbClr val="FFFFFF">
                  <a:alpha val="0"/>
                </a:srgbClr>
              </a:clrTo>
            </a:clrChange>
          </a:blip>
          <a:srcRect l="23333" t="45829" r="70879" b="46287"/>
          <a:stretch/>
        </p:blipFill>
        <p:spPr>
          <a:xfrm>
            <a:off x="7543800" y="1022572"/>
            <a:ext cx="783772" cy="600179"/>
          </a:xfrm>
          <a:prstGeom prst="rect">
            <a:avLst/>
          </a:prstGeom>
        </p:spPr>
      </p:pic>
      <p:sp>
        <p:nvSpPr>
          <p:cNvPr id="5" name="Прямоугольник 4">
            <a:extLst>
              <a:ext uri="{FF2B5EF4-FFF2-40B4-BE49-F238E27FC236}">
                <a16:creationId xmlns:a16="http://schemas.microsoft.com/office/drawing/2014/main" id="{55A03A47-1E59-401A-B63B-0B86AA989398}"/>
              </a:ext>
            </a:extLst>
          </p:cNvPr>
          <p:cNvSpPr/>
          <p:nvPr/>
        </p:nvSpPr>
        <p:spPr>
          <a:xfrm>
            <a:off x="7064829" y="1700772"/>
            <a:ext cx="1741714" cy="830997"/>
          </a:xfrm>
          <a:prstGeom prst="rect">
            <a:avLst/>
          </a:prstGeom>
        </p:spPr>
        <p:txBody>
          <a:bodyPr wrap="square">
            <a:spAutoFit/>
          </a:bodyPr>
          <a:lstStyle/>
          <a:p>
            <a:pPr algn="ctr"/>
            <a:r>
              <a:rPr lang="ru-RU" sz="1200" dirty="0">
                <a:solidFill>
                  <a:srgbClr val="0070C0"/>
                </a:solidFill>
                <a:latin typeface="Franklin Gothic Book" panose="020B0503020102020204" pitchFamily="34" charset="0"/>
              </a:rPr>
              <a:t>параллельный событийный шлюз BPMN с созданием нового экземпляра </a:t>
            </a:r>
          </a:p>
        </p:txBody>
      </p:sp>
    </p:spTree>
    <p:extLst>
      <p:ext uri="{BB962C8B-B14F-4D97-AF65-F5344CB8AC3E}">
        <p14:creationId xmlns:p14="http://schemas.microsoft.com/office/powerpoint/2010/main" val="71209905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одзаголовок 8">
            <a:extLst>
              <a:ext uri="{FF2B5EF4-FFF2-40B4-BE49-F238E27FC236}">
                <a16:creationId xmlns:a16="http://schemas.microsoft.com/office/drawing/2014/main" id="{C29B7F39-2615-4D97-9F7C-50DA806AFAFF}"/>
              </a:ext>
            </a:extLst>
          </p:cNvPr>
          <p:cNvSpPr>
            <a:spLocks noGrp="1"/>
          </p:cNvSpPr>
          <p:nvPr>
            <p:ph type="subTitle" idx="1"/>
          </p:nvPr>
        </p:nvSpPr>
        <p:spPr/>
        <p:txBody>
          <a:bodyPr/>
          <a:lstStyle/>
          <a:p>
            <a:r>
              <a:rPr lang="en-US" dirty="0"/>
              <a:t>BPMN 2.0</a:t>
            </a:r>
            <a:r>
              <a:rPr lang="ru-RU" dirty="0"/>
              <a:t>. ШЛЮЗЫ</a:t>
            </a:r>
          </a:p>
          <a:p>
            <a:endParaRPr lang="ru-RU" dirty="0"/>
          </a:p>
        </p:txBody>
      </p:sp>
      <p:sp>
        <p:nvSpPr>
          <p:cNvPr id="13" name="Прямоугольник 12">
            <a:extLst>
              <a:ext uri="{FF2B5EF4-FFF2-40B4-BE49-F238E27FC236}">
                <a16:creationId xmlns:a16="http://schemas.microsoft.com/office/drawing/2014/main" id="{C2E79034-45FF-4C66-8BA0-3EF55C1DEE98}"/>
              </a:ext>
            </a:extLst>
          </p:cNvPr>
          <p:cNvSpPr/>
          <p:nvPr/>
        </p:nvSpPr>
        <p:spPr>
          <a:xfrm>
            <a:off x="571091" y="1022572"/>
            <a:ext cx="7757652" cy="954107"/>
          </a:xfrm>
          <a:prstGeom prst="rect">
            <a:avLst/>
          </a:prstGeom>
        </p:spPr>
        <p:txBody>
          <a:bodyPr wrap="square">
            <a:spAutoFit/>
          </a:bodyPr>
          <a:lstStyle/>
          <a:p>
            <a:pPr algn="just"/>
            <a:r>
              <a:rPr lang="ru-RU" sz="1400" b="1" dirty="0">
                <a:latin typeface="Franklin Gothic Book" panose="020B0503020102020204" pitchFamily="34" charset="0"/>
              </a:rPr>
              <a:t>Сложный шлюз (</a:t>
            </a:r>
            <a:r>
              <a:rPr lang="en-US" sz="1400" b="1" dirty="0">
                <a:latin typeface="Franklin Gothic Book" panose="020B0503020102020204" pitchFamily="34" charset="0"/>
              </a:rPr>
              <a:t>Complex Gateway)</a:t>
            </a:r>
            <a:endParaRPr lang="en-US" sz="1400" dirty="0">
              <a:latin typeface="Franklin Gothic Book" panose="020B0503020102020204" pitchFamily="34" charset="0"/>
            </a:endParaRPr>
          </a:p>
          <a:p>
            <a:pPr algn="just"/>
            <a:r>
              <a:rPr lang="ru-RU" sz="1400" dirty="0">
                <a:latin typeface="Franklin Gothic Book" panose="020B0503020102020204" pitchFamily="34" charset="0"/>
              </a:rPr>
              <a:t>Этот шлюз используется в тех ситуациях, когда все остальные шлюзы не могут отобразить логику переходов. Его крайне не рекомендуется использовать, так как к нему либо нужны будут пояснения автор схемы. </a:t>
            </a:r>
            <a:endParaRPr lang="ru-RU" sz="1100" dirty="0">
              <a:latin typeface="Franklin Gothic Book" panose="020B0503020102020204" pitchFamily="34" charset="0"/>
            </a:endParaRPr>
          </a:p>
        </p:txBody>
      </p:sp>
      <p:pic>
        <p:nvPicPr>
          <p:cNvPr id="3" name="Рисунок 2">
            <a:extLst>
              <a:ext uri="{FF2B5EF4-FFF2-40B4-BE49-F238E27FC236}">
                <a16:creationId xmlns:a16="http://schemas.microsoft.com/office/drawing/2014/main" id="{FEC9B0D1-3BA0-472C-95D4-4D4DC7693CC1}"/>
              </a:ext>
            </a:extLst>
          </p:cNvPr>
          <p:cNvPicPr>
            <a:picLocks noChangeAspect="1"/>
          </p:cNvPicPr>
          <p:nvPr/>
        </p:nvPicPr>
        <p:blipFill rotWithShape="1">
          <a:blip r:embed="rId2"/>
          <a:srcRect l="7638" t="30484" r="33334" b="19121"/>
          <a:stretch/>
        </p:blipFill>
        <p:spPr>
          <a:xfrm>
            <a:off x="698500" y="2166732"/>
            <a:ext cx="8445500" cy="4053842"/>
          </a:xfrm>
          <a:prstGeom prst="rect">
            <a:avLst/>
          </a:prstGeom>
        </p:spPr>
      </p:pic>
    </p:spTree>
    <p:extLst>
      <p:ext uri="{BB962C8B-B14F-4D97-AF65-F5344CB8AC3E}">
        <p14:creationId xmlns:p14="http://schemas.microsoft.com/office/powerpoint/2010/main" val="31920280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Подзаголовок 8">
            <a:extLst>
              <a:ext uri="{FF2B5EF4-FFF2-40B4-BE49-F238E27FC236}">
                <a16:creationId xmlns:a16="http://schemas.microsoft.com/office/drawing/2014/main" id="{C29B7F39-2615-4D97-9F7C-50DA806AFAFF}"/>
              </a:ext>
            </a:extLst>
          </p:cNvPr>
          <p:cNvSpPr>
            <a:spLocks noGrp="1"/>
          </p:cNvSpPr>
          <p:nvPr>
            <p:ph type="subTitle" idx="1"/>
          </p:nvPr>
        </p:nvSpPr>
        <p:spPr/>
        <p:txBody>
          <a:bodyPr/>
          <a:lstStyle/>
          <a:p>
            <a:r>
              <a:rPr lang="en-US" dirty="0"/>
              <a:t>BPMN 2.0</a:t>
            </a:r>
            <a:r>
              <a:rPr lang="ru-RU" dirty="0"/>
              <a:t>. ШЛЮЗЫ</a:t>
            </a:r>
          </a:p>
          <a:p>
            <a:endParaRPr lang="ru-RU" dirty="0"/>
          </a:p>
        </p:txBody>
      </p:sp>
      <p:sp>
        <p:nvSpPr>
          <p:cNvPr id="13" name="Прямоугольник 12">
            <a:extLst>
              <a:ext uri="{FF2B5EF4-FFF2-40B4-BE49-F238E27FC236}">
                <a16:creationId xmlns:a16="http://schemas.microsoft.com/office/drawing/2014/main" id="{C2E79034-45FF-4C66-8BA0-3EF55C1DEE98}"/>
              </a:ext>
            </a:extLst>
          </p:cNvPr>
          <p:cNvSpPr/>
          <p:nvPr/>
        </p:nvSpPr>
        <p:spPr>
          <a:xfrm>
            <a:off x="571091" y="1022572"/>
            <a:ext cx="7757652" cy="954107"/>
          </a:xfrm>
          <a:prstGeom prst="rect">
            <a:avLst/>
          </a:prstGeom>
        </p:spPr>
        <p:txBody>
          <a:bodyPr wrap="square">
            <a:spAutoFit/>
          </a:bodyPr>
          <a:lstStyle/>
          <a:p>
            <a:pPr algn="just"/>
            <a:r>
              <a:rPr lang="ru-RU" sz="1400" b="1" dirty="0">
                <a:latin typeface="Franklin Gothic Book" panose="020B0503020102020204" pitchFamily="34" charset="0"/>
              </a:rPr>
              <a:t>Сложный шлюз (</a:t>
            </a:r>
            <a:r>
              <a:rPr lang="en-US" sz="1400" b="1" dirty="0">
                <a:latin typeface="Franklin Gothic Book" panose="020B0503020102020204" pitchFamily="34" charset="0"/>
              </a:rPr>
              <a:t>Complex Gateway)</a:t>
            </a:r>
            <a:endParaRPr lang="en-US" sz="1400" dirty="0">
              <a:latin typeface="Franklin Gothic Book" panose="020B0503020102020204" pitchFamily="34" charset="0"/>
            </a:endParaRPr>
          </a:p>
          <a:p>
            <a:pPr algn="just"/>
            <a:r>
              <a:rPr lang="ru-RU" sz="1400" dirty="0">
                <a:latin typeface="Franklin Gothic Book" panose="020B0503020102020204" pitchFamily="34" charset="0"/>
              </a:rPr>
              <a:t>Этот шлюз используется в тех ситуациях, когда все остальные шлюзы не могут отобразить логику переходов. Его крайне не рекомендуется использовать, так как к нему нужны будут пояснения автора схемы. </a:t>
            </a:r>
            <a:endParaRPr lang="ru-RU" sz="1100" dirty="0">
              <a:latin typeface="Franklin Gothic Book" panose="020B0503020102020204" pitchFamily="34" charset="0"/>
            </a:endParaRPr>
          </a:p>
        </p:txBody>
      </p:sp>
      <p:pic>
        <p:nvPicPr>
          <p:cNvPr id="2" name="Рисунок 1">
            <a:extLst>
              <a:ext uri="{FF2B5EF4-FFF2-40B4-BE49-F238E27FC236}">
                <a16:creationId xmlns:a16="http://schemas.microsoft.com/office/drawing/2014/main" id="{3DB9E7A1-5672-4E29-B60D-74F846E5A08E}"/>
              </a:ext>
            </a:extLst>
          </p:cNvPr>
          <p:cNvPicPr>
            <a:picLocks noChangeAspect="1"/>
          </p:cNvPicPr>
          <p:nvPr/>
        </p:nvPicPr>
        <p:blipFill rotWithShape="1">
          <a:blip r:embed="rId2"/>
          <a:srcRect l="27241" t="28073" r="16897" b="9060"/>
          <a:stretch/>
        </p:blipFill>
        <p:spPr>
          <a:xfrm>
            <a:off x="1973482" y="2291988"/>
            <a:ext cx="6778632" cy="42889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6021893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12682</TotalTime>
  <Words>2366</Words>
  <Application>Microsoft Office PowerPoint</Application>
  <PresentationFormat>Экран (4:3)</PresentationFormat>
  <Paragraphs>186</Paragraphs>
  <Slides>37</Slides>
  <Notes>5</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37</vt:i4>
      </vt:variant>
    </vt:vector>
  </HeadingPairs>
  <TitlesOfParts>
    <vt:vector size="44" baseType="lpstr">
      <vt:lpstr>Arial</vt:lpstr>
      <vt:lpstr>Calibri</vt:lpstr>
      <vt:lpstr>Franklin Gothic Book</vt:lpstr>
      <vt:lpstr>Roboto</vt:lpstr>
      <vt:lpstr>Wingdings</vt:lpstr>
      <vt:lpstr>YS Text</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ОСНОВНЫЕ ЭЛЕМЕНТЫ</vt:lpstr>
      <vt:lpstr>ОСНОВНЫЕ ЭЛЕМЕНТЫ</vt:lpstr>
      <vt:lpstr>ОСНОВНЫЕ ЭЛЕМЕНТЫ</vt:lpstr>
      <vt:lpstr>Презентация PowerPoint</vt:lpstr>
      <vt:lpstr>ОСНОВНЫЕ ЭЛЕМЕНТЫ</vt:lpstr>
      <vt:lpstr>ОСНОВНЫЕ ЭЛЕМЕНТЫ</vt:lpstr>
      <vt:lpstr>ОСНОВНЫЕ ЭЛЕМЕНТЫ</vt:lpstr>
      <vt:lpstr>ОСНОВНЫЕ ЭЛЕМЕНТЫ</vt:lpstr>
      <vt:lpstr>ОСНОВНЫЕ ЭЛЕМЕНТЫ</vt:lpstr>
      <vt:lpstr>Отправка и получение сообщений</vt:lpstr>
      <vt:lpstr>Презентация PowerPoint</vt:lpstr>
      <vt:lpstr>Завершающее событие</vt:lpstr>
      <vt:lpstr>Шлюзы</vt:lpstr>
      <vt:lpstr>Сообщения</vt:lpstr>
      <vt:lpstr>Граничные события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GXgroup</dc:creator>
  <cp:lastModifiedBy>User</cp:lastModifiedBy>
  <cp:revision>746</cp:revision>
  <dcterms:created xsi:type="dcterms:W3CDTF">2018-09-11T06:35:09Z</dcterms:created>
  <dcterms:modified xsi:type="dcterms:W3CDTF">2026-09-18T10:07:49Z</dcterms:modified>
</cp:coreProperties>
</file>
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4"/>
  </p:notesMasterIdLst>
  <p:sldIdLst>
    <p:sldId id="257" r:id="rId2"/>
    <p:sldId id="864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96DA1C"/>
    <a:srgbClr val="5F9127"/>
    <a:srgbClr val="EF47DB"/>
    <a:srgbClr val="C44CB6"/>
    <a:srgbClr val="53D2FF"/>
    <a:srgbClr val="BDD7EE"/>
    <a:srgbClr val="B8E08C"/>
    <a:srgbClr val="000000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94291" autoAdjust="0"/>
  </p:normalViewPr>
  <p:slideViewPr>
    <p:cSldViewPr snapToGrid="0">
      <p:cViewPr varScale="1">
        <p:scale>
          <a:sx n="65" d="100"/>
          <a:sy n="65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84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97E4-BF7D-49F3-BBA7-DD312E613FE2}" type="datetimeFigureOut">
              <a:rPr lang="ru-RU" smtClean="0"/>
              <a:pPr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81657-C423-44DD-B57D-12B88463DA5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74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81657-C423-44DD-B57D-12B88463DA5E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188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2014" y="969957"/>
            <a:ext cx="8432800" cy="477837"/>
          </a:xfr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53349"/>
            <a:ext cx="7151914" cy="46922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0" y="6134100"/>
            <a:ext cx="6105525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/>
          <p:nvPr userDrawn="1"/>
        </p:nvCxnSpPr>
        <p:spPr>
          <a:xfrm>
            <a:off x="5276680" y="464346"/>
            <a:ext cx="3881607" cy="2006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C0803E8-8A28-42A3-8D0D-C2FFF6F367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22" b="52457"/>
          <a:stretch/>
        </p:blipFill>
        <p:spPr>
          <a:xfrm>
            <a:off x="-23586" y="6192972"/>
            <a:ext cx="9144000" cy="105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8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7E4138-E4D0-4D6D-B392-3A7C56D793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22" b="52067"/>
          <a:stretch/>
        </p:blipFill>
        <p:spPr>
          <a:xfrm>
            <a:off x="-24437" y="5901513"/>
            <a:ext cx="9144000" cy="1070783"/>
          </a:xfrm>
          <a:prstGeom prst="rect">
            <a:avLst/>
          </a:prstGeom>
        </p:spPr>
      </p:pic>
      <p:sp>
        <p:nvSpPr>
          <p:cNvPr id="18" name="Прямоугольник 17"/>
          <p:cNvSpPr/>
          <p:nvPr userDrawn="1"/>
        </p:nvSpPr>
        <p:spPr>
          <a:xfrm>
            <a:off x="0" y="484410"/>
            <a:ext cx="9130337" cy="57258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332014" y="969957"/>
            <a:ext cx="8432800" cy="477837"/>
          </a:xfr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1600200" y="553349"/>
            <a:ext cx="7151914" cy="469223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FDB4EEC9-CA36-48D5-B614-3B43D70FAC5C}"/>
              </a:ext>
            </a:extLst>
          </p:cNvPr>
          <p:cNvCxnSpPr/>
          <p:nvPr userDrawn="1"/>
        </p:nvCxnSpPr>
        <p:spPr>
          <a:xfrm>
            <a:off x="0" y="6134100"/>
            <a:ext cx="6105525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DC8F3B29-C2F5-421B-8EE4-39674BE5948E}"/>
              </a:ext>
            </a:extLst>
          </p:cNvPr>
          <p:cNvCxnSpPr/>
          <p:nvPr userDrawn="1"/>
        </p:nvCxnSpPr>
        <p:spPr>
          <a:xfrm>
            <a:off x="3024812" y="553349"/>
            <a:ext cx="6105525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12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05524" y="1022572"/>
            <a:ext cx="3032775" cy="583542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2014" y="969957"/>
            <a:ext cx="8432800" cy="477837"/>
          </a:xfr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600200" y="553349"/>
            <a:ext cx="7151914" cy="469223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cxnSp>
        <p:nvCxnSpPr>
          <p:cNvPr id="10" name="Прямая соединительная линия 9"/>
          <p:cNvCxnSpPr/>
          <p:nvPr userDrawn="1"/>
        </p:nvCxnSpPr>
        <p:spPr>
          <a:xfrm>
            <a:off x="5276680" y="464346"/>
            <a:ext cx="3881607" cy="2006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45A66FCC-0CBB-4AA5-9EE6-BCB27702E4B4}"/>
              </a:ext>
            </a:extLst>
          </p:cNvPr>
          <p:cNvCxnSpPr>
            <a:cxnSpLocks/>
          </p:cNvCxnSpPr>
          <p:nvPr userDrawn="1"/>
        </p:nvCxnSpPr>
        <p:spPr>
          <a:xfrm>
            <a:off x="3045430" y="6815913"/>
            <a:ext cx="6120187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40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9153890-F3C0-4007-83C9-A28CBED194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66" t="27122" r="22805" b="54289"/>
          <a:stretch/>
        </p:blipFill>
        <p:spPr>
          <a:xfrm>
            <a:off x="1" y="5901517"/>
            <a:ext cx="4291240" cy="95648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553348"/>
            <a:ext cx="4291240" cy="5656952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332014" y="969957"/>
            <a:ext cx="8432800" cy="477837"/>
          </a:xfrm>
        </p:spPr>
        <p:txBody>
          <a:bodyPr anchor="b">
            <a:normAutofit/>
          </a:bodyPr>
          <a:lstStyle>
            <a:lvl1pPr algn="r"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1600200" y="553349"/>
            <a:ext cx="7151914" cy="469223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cxnSp>
        <p:nvCxnSpPr>
          <p:cNvPr id="14" name="Прямая соединительная линия 13"/>
          <p:cNvCxnSpPr/>
          <p:nvPr userDrawn="1"/>
        </p:nvCxnSpPr>
        <p:spPr>
          <a:xfrm>
            <a:off x="5276680" y="464346"/>
            <a:ext cx="3881607" cy="2006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072F6FF-B862-4F7E-A42E-7B959858356B}"/>
              </a:ext>
            </a:extLst>
          </p:cNvPr>
          <p:cNvCxnSpPr/>
          <p:nvPr userDrawn="1"/>
        </p:nvCxnSpPr>
        <p:spPr>
          <a:xfrm>
            <a:off x="0" y="6134100"/>
            <a:ext cx="6105525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44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91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0" y="0"/>
            <a:ext cx="913033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408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93700"/>
            <a:ext cx="7886700" cy="129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6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4361541" y="1606760"/>
            <a:ext cx="4630053" cy="1375914"/>
          </a:xfrm>
        </p:spPr>
        <p:txBody>
          <a:bodyPr>
            <a:noAutofit/>
          </a:bodyPr>
          <a:lstStyle/>
          <a:p>
            <a:pPr algn="l"/>
            <a:r>
              <a:rPr lang="ru-RU" sz="3200" kern="0" spc="150" dirty="0">
                <a:latin typeface="Franklin Gothic Heavy" panose="020B0903020102020204" pitchFamily="34" charset="0"/>
              </a:rPr>
              <a:t>КОРПОРАТИВНЫЕ ИНФОРМАЦИОННЫЕ СИСТЕМЫ</a:t>
            </a:r>
            <a:br>
              <a:rPr lang="ru-RU" sz="3200" kern="0" spc="150" dirty="0">
                <a:latin typeface="Franklin Gothic Heavy" panose="020B0903020102020204" pitchFamily="34" charset="0"/>
              </a:rPr>
            </a:br>
            <a:endParaRPr lang="ru-RU" sz="3200" kern="0" spc="150" dirty="0">
              <a:latin typeface="Franklin Gothic Heavy" panose="020B0903020102020204" pitchFamily="34" charset="0"/>
            </a:endParaRPr>
          </a:p>
        </p:txBody>
      </p:sp>
      <p:sp>
        <p:nvSpPr>
          <p:cNvPr id="8" name="Заголовок 4"/>
          <p:cNvSpPr txBox="1">
            <a:spLocks/>
          </p:cNvSpPr>
          <p:nvPr/>
        </p:nvSpPr>
        <p:spPr>
          <a:xfrm>
            <a:off x="108854" y="2820469"/>
            <a:ext cx="3964215" cy="13759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ru-RU" sz="1600" b="0" kern="0" spc="150" dirty="0">
                <a:solidFill>
                  <a:schemeClr val="bg1"/>
                </a:solidFill>
              </a:rPr>
              <a:t>Кафедра Управления и информатики в технических системах ФГБОУ ВО МГТУ СТАНКИН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03198" y="2387607"/>
            <a:ext cx="38626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4"/>
          <p:cNvSpPr txBox="1">
            <a:spLocks/>
          </p:cNvSpPr>
          <p:nvPr/>
        </p:nvSpPr>
        <p:spPr>
          <a:xfrm>
            <a:off x="4933037" y="5994400"/>
            <a:ext cx="3964215" cy="6676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sz="2000" b="0" kern="0" spc="150" dirty="0"/>
              <a:t>семинары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7176509-AF3E-4B5B-9030-3B98592E46C6}"/>
              </a:ext>
            </a:extLst>
          </p:cNvPr>
          <p:cNvSpPr/>
          <p:nvPr/>
        </p:nvSpPr>
        <p:spPr>
          <a:xfrm>
            <a:off x="108854" y="1577097"/>
            <a:ext cx="24577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kern="0" spc="150" dirty="0">
                <a:solidFill>
                  <a:schemeClr val="bg1"/>
                </a:solidFill>
                <a:latin typeface="Franklin Gothic Book" panose="020B0503020102020204" pitchFamily="34" charset="0"/>
              </a:rPr>
              <a:t>Елисеева </a:t>
            </a:r>
            <a:r>
              <a:rPr lang="ru-RU" sz="1400" b="0" kern="0" spc="150" dirty="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</a:p>
          <a:p>
            <a:r>
              <a:rPr lang="ru-RU" sz="1400" b="0" kern="0" spc="150" dirty="0">
                <a:solidFill>
                  <a:schemeClr val="bg1"/>
                </a:solidFill>
                <a:latin typeface="Franklin Gothic Book" panose="020B0503020102020204" pitchFamily="34" charset="0"/>
              </a:rPr>
              <a:t>Наталья Владимировна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BC6A40-9D88-44E0-8A2D-D8F2D63AADB4}"/>
              </a:ext>
            </a:extLst>
          </p:cNvPr>
          <p:cNvSpPr txBox="1"/>
          <p:nvPr/>
        </p:nvSpPr>
        <p:spPr>
          <a:xfrm>
            <a:off x="210456" y="1991263"/>
            <a:ext cx="40640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ru-RU" sz="1200" b="0" kern="0" spc="150" dirty="0">
                <a:solidFill>
                  <a:schemeClr val="bg1"/>
                </a:solidFill>
              </a:rPr>
              <a:t>к.т.н., доцент</a:t>
            </a:r>
          </a:p>
        </p:txBody>
      </p:sp>
    </p:spTree>
    <p:extLst>
      <p:ext uri="{BB962C8B-B14F-4D97-AF65-F5344CB8AC3E}">
        <p14:creationId xmlns:p14="http://schemas.microsoft.com/office/powerpoint/2010/main" val="390313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8A8DC61E-9266-49AC-80E6-E5F64D6A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586499"/>
            <a:ext cx="8432800" cy="477837"/>
          </a:xfrm>
        </p:spPr>
        <p:txBody>
          <a:bodyPr/>
          <a:lstStyle/>
          <a:p>
            <a:r>
              <a:rPr lang="ru-RU" dirty="0"/>
              <a:t>ЗАДАНИЕ НА СЕМИНАРЫ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56A53A-E9DB-4395-989B-7DDE7AC64A29}"/>
              </a:ext>
            </a:extLst>
          </p:cNvPr>
          <p:cNvSpPr txBox="1"/>
          <p:nvPr/>
        </p:nvSpPr>
        <p:spPr>
          <a:xfrm>
            <a:off x="604683" y="1470187"/>
            <a:ext cx="52946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arenR"/>
            </a:pPr>
            <a:r>
              <a:rPr lang="ru-RU" dirty="0"/>
              <a:t>На основе кейсов по вариантам предложить концепцию автоматизации деятельности организации на основе экосистемы продуктов 1С. </a:t>
            </a:r>
          </a:p>
          <a:p>
            <a:pPr marL="342900" indent="-342900" algn="just">
              <a:buAutoNum type="arabicParenR"/>
            </a:pPr>
            <a:r>
              <a:rPr lang="ru-RU" dirty="0"/>
              <a:t>Отразить концепцию автоматизации в </a:t>
            </a:r>
            <a:r>
              <a:rPr lang="en-US" dirty="0"/>
              <a:t>BPMN-</a:t>
            </a:r>
            <a:r>
              <a:rPr lang="ru-RU" dirty="0"/>
              <a:t>модели бизнес-процессов организации «Как должно быть». При моделировании бизнес-процессов использовать Диаграмму взаимодействия, где Пулы – структурные подразделения организации, Дорожки – ролевые функции внутри структурного подразделения. </a:t>
            </a:r>
          </a:p>
          <a:p>
            <a:pPr marL="342900" indent="-342900" algn="just">
              <a:buAutoNum type="arabicParenR"/>
            </a:pPr>
            <a:r>
              <a:rPr lang="ru-RU" b="1" dirty="0"/>
              <a:t>ВАЖНО</a:t>
            </a:r>
            <a:r>
              <a:rPr lang="ru-RU" dirty="0"/>
              <a:t>! Предложенная концепция и бизнес-процесс должны быть направлены в том числе на решение проблем организации, обозначенных к кейсах. </a:t>
            </a:r>
          </a:p>
          <a:p>
            <a:pPr marL="342900" indent="-342900" algn="just">
              <a:buAutoNum type="arabicParenR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899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11485</TotalTime>
  <Words>101</Words>
  <Application>Microsoft Office PowerPoint</Application>
  <PresentationFormat>Экран (4:3)</PresentationFormat>
  <Paragraphs>11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Franklin Gothic Book</vt:lpstr>
      <vt:lpstr>Franklin Gothic Heavy</vt:lpstr>
      <vt:lpstr>Office Theme</vt:lpstr>
      <vt:lpstr>КОРПОРАТИВНЫЕ ИНФОРМАЦИОННЫЕ СИСТЕМЫ </vt:lpstr>
      <vt:lpstr>ЗАДАНИЕ НА СЕМИНАРЫ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GXgroup</dc:creator>
  <cp:lastModifiedBy>User</cp:lastModifiedBy>
  <cp:revision>686</cp:revision>
  <dcterms:created xsi:type="dcterms:W3CDTF">2018-09-11T06:35:09Z</dcterms:created>
  <dcterms:modified xsi:type="dcterms:W3CDTF">2026-09-14T06:31:26Z</dcterms:modified>
</cp:coreProperties>
</file>